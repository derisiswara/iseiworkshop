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535"/>
              </a:lnSpc>
            </a:pPr>
            <a:r>
              <a:rPr dirty="0" spc="-10"/>
              <a:t>dept.ieipb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0000CC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535"/>
              </a:lnSpc>
            </a:pPr>
            <a:r>
              <a:rPr dirty="0" spc="-10"/>
              <a:t>dept.ieipb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0000CC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535"/>
              </a:lnSpc>
            </a:pPr>
            <a:r>
              <a:rPr dirty="0" spc="-10"/>
              <a:t>dept.ieipb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0000CC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535"/>
              </a:lnSpc>
            </a:pPr>
            <a:r>
              <a:rPr dirty="0" spc="-10"/>
              <a:t>dept.ieipb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535"/>
              </a:lnSpc>
            </a:pPr>
            <a:r>
              <a:rPr dirty="0" spc="-10"/>
              <a:t>dept.ieipb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930382" cy="44195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976104" y="137160"/>
            <a:ext cx="2081783" cy="542544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1523" y="6198108"/>
            <a:ext cx="9228455" cy="0"/>
          </a:xfrm>
          <a:custGeom>
            <a:avLst/>
            <a:gdLst/>
            <a:ahLst/>
            <a:cxnLst/>
            <a:rect l="l" t="t" r="r" b="b"/>
            <a:pathLst>
              <a:path w="9228455" h="0">
                <a:moveTo>
                  <a:pt x="0" y="0"/>
                </a:moveTo>
                <a:lnTo>
                  <a:pt x="9228201" y="0"/>
                </a:lnTo>
              </a:path>
            </a:pathLst>
          </a:custGeom>
          <a:ln w="39624">
            <a:solidFill>
              <a:srgbClr val="5B9BD4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9" name="bg 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876288" y="6489190"/>
            <a:ext cx="274320" cy="27432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0141" y="427431"/>
            <a:ext cx="3872865" cy="6953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0000CC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69341" y="1060947"/>
            <a:ext cx="11054715" cy="47510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7115926" y="6536994"/>
            <a:ext cx="815340" cy="2178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535"/>
              </a:lnSpc>
            </a:pPr>
            <a:r>
              <a:rPr dirty="0" spc="-10"/>
              <a:t>dept.ieipb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7.jpg"/><Relationship Id="rId6" Type="http://schemas.openxmlformats.org/officeDocument/2006/relationships/image" Target="../media/image8.jpg"/><Relationship Id="rId7" Type="http://schemas.openxmlformats.org/officeDocument/2006/relationships/image" Target="../media/image9.jpg"/><Relationship Id="rId8" Type="http://schemas.openxmlformats.org/officeDocument/2006/relationships/image" Target="../media/image10.jpg"/><Relationship Id="rId9" Type="http://schemas.openxmlformats.org/officeDocument/2006/relationships/image" Target="../media/image11.jpg"/><Relationship Id="rId10" Type="http://schemas.openxmlformats.org/officeDocument/2006/relationships/image" Target="../media/image12.jpg"/><Relationship Id="rId11" Type="http://schemas.openxmlformats.org/officeDocument/2006/relationships/image" Target="../media/image13.jpg"/><Relationship Id="rId12" Type="http://schemas.openxmlformats.org/officeDocument/2006/relationships/image" Target="../media/image14.jpg"/><Relationship Id="rId13" Type="http://schemas.openxmlformats.org/officeDocument/2006/relationships/image" Target="../media/image15.jpg"/><Relationship Id="rId14" Type="http://schemas.openxmlformats.org/officeDocument/2006/relationships/image" Target="../media/image16.jpg"/><Relationship Id="rId15" Type="http://schemas.openxmlformats.org/officeDocument/2006/relationships/image" Target="../media/image17.jpg"/><Relationship Id="rId16" Type="http://schemas.openxmlformats.org/officeDocument/2006/relationships/image" Target="../media/image18.jpg"/><Relationship Id="rId17" Type="http://schemas.openxmlformats.org/officeDocument/2006/relationships/image" Target="../media/image19.jpg"/><Relationship Id="rId18" Type="http://schemas.openxmlformats.org/officeDocument/2006/relationships/image" Target="../media/image20.jpg"/><Relationship Id="rId19" Type="http://schemas.openxmlformats.org/officeDocument/2006/relationships/image" Target="../media/image21.jpg"/><Relationship Id="rId20" Type="http://schemas.openxmlformats.org/officeDocument/2006/relationships/image" Target="../media/image22.png"/><Relationship Id="rId21" Type="http://schemas.openxmlformats.org/officeDocument/2006/relationships/image" Target="../media/image23.png"/><Relationship Id="rId22" Type="http://schemas.openxmlformats.org/officeDocument/2006/relationships/image" Target="../media/image24.png"/><Relationship Id="rId23" Type="http://schemas.openxmlformats.org/officeDocument/2006/relationships/image" Target="../media/image25.png"/><Relationship Id="rId24" Type="http://schemas.openxmlformats.org/officeDocument/2006/relationships/image" Target="../media/image26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ilmu_ekonomi@ipb.ac.id" TargetMode="External"/><Relationship Id="rId3" Type="http://schemas.openxmlformats.org/officeDocument/2006/relationships/hyperlink" Target="http://ekonomi.fem.ipb.ac.id/" TargetMode="Externa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ilmu_ekonomi@ipb.ac.id" TargetMode="External"/><Relationship Id="rId3" Type="http://schemas.openxmlformats.org/officeDocument/2006/relationships/hyperlink" Target="http://ekonomi.fem.ipb.ac.id/" TargetMode="Externa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ilmu_ekonomi@ipb.ac.id" TargetMode="External"/><Relationship Id="rId3" Type="http://schemas.openxmlformats.org/officeDocument/2006/relationships/hyperlink" Target="http://ekonomi.fem.ipb.ac.id/" TargetMode="Externa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ilmu_ekonomi@ipb.ac.id" TargetMode="External"/><Relationship Id="rId3" Type="http://schemas.openxmlformats.org/officeDocument/2006/relationships/hyperlink" Target="http://ekonomi.fem.ipb.ac.id/" TargetMode="Externa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3" Type="http://schemas.openxmlformats.org/officeDocument/2006/relationships/hyperlink" Target="mailto:ilmu_ekonomi@ipb.ac.id" TargetMode="External"/><Relationship Id="rId4" Type="http://schemas.openxmlformats.org/officeDocument/2006/relationships/hyperlink" Target="http://ekonomi.fem.ipb.ac.id/" TargetMode="Externa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ilmu_ekonomi@ipb.ac.id" TargetMode="External"/><Relationship Id="rId3" Type="http://schemas.openxmlformats.org/officeDocument/2006/relationships/hyperlink" Target="http://ekonomi.fem.ipb.ac.id/" TargetMode="Externa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ilmu_ekonomi@ipb.ac.id" TargetMode="External"/><Relationship Id="rId3" Type="http://schemas.openxmlformats.org/officeDocument/2006/relationships/hyperlink" Target="http://ekonomi.fem.ipb.ac.id/" TargetMode="Externa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ilmu_ekonomi@ipb.ac.id" TargetMode="External"/><Relationship Id="rId3" Type="http://schemas.openxmlformats.org/officeDocument/2006/relationships/hyperlink" Target="http://ekonomi.fem.ipb.ac.id/" TargetMode="Externa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jpg"/><Relationship Id="rId3" Type="http://schemas.openxmlformats.org/officeDocument/2006/relationships/hyperlink" Target="mailto:ilmu_ekonomi@ipb.ac.id" TargetMode="External"/><Relationship Id="rId4" Type="http://schemas.openxmlformats.org/officeDocument/2006/relationships/hyperlink" Target="http://ekonomi.fem.ipb.ac.id/" TargetMode="Externa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ilmu_ekonomi@ipb.ac.id" TargetMode="External"/><Relationship Id="rId3" Type="http://schemas.openxmlformats.org/officeDocument/2006/relationships/hyperlink" Target="http://ekonomi.fem.ipb.ac.id/" TargetMode="Externa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ilmu_ekonomi@ipb.ac.id" TargetMode="External"/><Relationship Id="rId3" Type="http://schemas.openxmlformats.org/officeDocument/2006/relationships/hyperlink" Target="http://ekonomi.fem.ipb.ac.id/" TargetMode="Externa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ilmu_ekonomi@ipb.ac.id" TargetMode="External"/><Relationship Id="rId3" Type="http://schemas.openxmlformats.org/officeDocument/2006/relationships/hyperlink" Target="http://ekonomi.fem.ipb.ac.id/" TargetMode="Externa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ilmu_ekonomi@ipb.ac.id" TargetMode="External"/><Relationship Id="rId3" Type="http://schemas.openxmlformats.org/officeDocument/2006/relationships/hyperlink" Target="http://ekonomi.fem.ipb.ac.id/" TargetMode="Externa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3" Type="http://schemas.openxmlformats.org/officeDocument/2006/relationships/hyperlink" Target="mailto:ilmu_ekonomi@ipb.ac.id" TargetMode="External"/><Relationship Id="rId4" Type="http://schemas.openxmlformats.org/officeDocument/2006/relationships/hyperlink" Target="http://ekonomi.fem.ipb.ac.id/" TargetMode="Externa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ilmu_ekonomi@ipb.ac.id" TargetMode="External"/><Relationship Id="rId3" Type="http://schemas.openxmlformats.org/officeDocument/2006/relationships/hyperlink" Target="http://ekonomi.fem.ipb.ac.id/" TargetMode="Externa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ilmu_ekonomi@ipb.ac.id" TargetMode="External"/><Relationship Id="rId3" Type="http://schemas.openxmlformats.org/officeDocument/2006/relationships/hyperlink" Target="http://ekonomi.fem.ipb.ac.id/" TargetMode="Externa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ilmu_ekonomi@ipb.ac.id" TargetMode="External"/><Relationship Id="rId3" Type="http://schemas.openxmlformats.org/officeDocument/2006/relationships/hyperlink" Target="http://ekonomi.fem.ipb.ac.id/" TargetMode="Externa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ilmu_ekonomi@ipb.ac.id" TargetMode="External"/><Relationship Id="rId3" Type="http://schemas.openxmlformats.org/officeDocument/2006/relationships/hyperlink" Target="http://ekonomi.fem.ipb.ac.id/" TargetMode="Externa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ilmu_ekonomi@ipb.ac.id" TargetMode="External"/><Relationship Id="rId3" Type="http://schemas.openxmlformats.org/officeDocument/2006/relationships/hyperlink" Target="http://ekonomi.fem.ipb.ac.id/" TargetMode="Externa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ilmu_ekonomi@ipb.ac.id" TargetMode="External"/><Relationship Id="rId3" Type="http://schemas.openxmlformats.org/officeDocument/2006/relationships/hyperlink" Target="http://ekonomi.fem.ipb.ac.id/" TargetMode="Externa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mailto:ilmu_ekonomi@ipb.ac.id" TargetMode="External"/><Relationship Id="rId5" Type="http://schemas.openxmlformats.org/officeDocument/2006/relationships/hyperlink" Target="http://ekonomi.fem.ipb.ac.id/" TargetMode="External"/><Relationship Id="rId6" Type="http://schemas.openxmlformats.org/officeDocument/2006/relationships/image" Target="../media/image30.png"/><Relationship Id="rId7" Type="http://schemas.openxmlformats.org/officeDocument/2006/relationships/image" Target="../media/image31.jpg"/><Relationship Id="rId8" Type="http://schemas.openxmlformats.org/officeDocument/2006/relationships/hyperlink" Target="http://ilmuekonomi.fem.pb.ac.id/" TargetMode="External"/><Relationship Id="rId9" Type="http://schemas.openxmlformats.org/officeDocument/2006/relationships/image" Target="../media/image32.png"/><Relationship Id="rId10" Type="http://schemas.openxmlformats.org/officeDocument/2006/relationships/image" Target="../media/image33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60080" y="39623"/>
            <a:ext cx="3584448" cy="938784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0" y="6464808"/>
            <a:ext cx="12192000" cy="393700"/>
          </a:xfrm>
          <a:custGeom>
            <a:avLst/>
            <a:gdLst/>
            <a:ahLst/>
            <a:cxnLst/>
            <a:rect l="l" t="t" r="r" b="b"/>
            <a:pathLst>
              <a:path w="12192000" h="393700">
                <a:moveTo>
                  <a:pt x="12192000" y="0"/>
                </a:moveTo>
                <a:lnTo>
                  <a:pt x="0" y="0"/>
                </a:lnTo>
                <a:lnTo>
                  <a:pt x="0" y="393191"/>
                </a:lnTo>
                <a:lnTo>
                  <a:pt x="12192000" y="393191"/>
                </a:lnTo>
                <a:lnTo>
                  <a:pt x="12192000" y="0"/>
                </a:lnTo>
                <a:close/>
              </a:path>
            </a:pathLst>
          </a:custGeom>
          <a:solidFill>
            <a:srgbClr val="233A9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83079" y="1176527"/>
            <a:ext cx="551688" cy="557784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15567" y="1563624"/>
            <a:ext cx="609600" cy="557784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83079" y="1758695"/>
            <a:ext cx="1210056" cy="1298448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048000" y="1959864"/>
            <a:ext cx="871727" cy="1085088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68095" y="2148839"/>
            <a:ext cx="957072" cy="896112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04800" y="3093720"/>
            <a:ext cx="1429512" cy="701039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783079" y="3105911"/>
            <a:ext cx="2136647" cy="701039"/>
          </a:xfrm>
          <a:prstGeom prst="rect">
            <a:avLst/>
          </a:prstGeom>
        </p:spPr>
      </p:pic>
      <p:grpSp>
        <p:nvGrpSpPr>
          <p:cNvPr id="11" name="object 11" descr=""/>
          <p:cNvGrpSpPr/>
          <p:nvPr/>
        </p:nvGrpSpPr>
        <p:grpSpPr>
          <a:xfrm>
            <a:off x="304800" y="3837432"/>
            <a:ext cx="1146175" cy="573405"/>
            <a:chOff x="304800" y="3837432"/>
            <a:chExt cx="1146175" cy="573405"/>
          </a:xfrm>
        </p:grpSpPr>
        <p:pic>
          <p:nvPicPr>
            <p:cNvPr id="12" name="object 12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04800" y="3837432"/>
              <a:ext cx="463295" cy="420624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98576" y="3837432"/>
              <a:ext cx="652272" cy="573024"/>
            </a:xfrm>
            <a:prstGeom prst="rect">
              <a:avLst/>
            </a:prstGeom>
          </p:spPr>
        </p:pic>
      </p:grpSp>
      <p:pic>
        <p:nvPicPr>
          <p:cNvPr id="14" name="object 14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499616" y="3846576"/>
            <a:ext cx="527304" cy="1243584"/>
          </a:xfrm>
          <a:prstGeom prst="rect">
            <a:avLst/>
          </a:prstGeom>
        </p:spPr>
      </p:pic>
      <p:grpSp>
        <p:nvGrpSpPr>
          <p:cNvPr id="15" name="object 15" descr=""/>
          <p:cNvGrpSpPr/>
          <p:nvPr/>
        </p:nvGrpSpPr>
        <p:grpSpPr>
          <a:xfrm>
            <a:off x="2075688" y="3846576"/>
            <a:ext cx="1603375" cy="1524000"/>
            <a:chOff x="2075688" y="3846576"/>
            <a:chExt cx="1603375" cy="1524000"/>
          </a:xfrm>
        </p:grpSpPr>
        <p:pic>
          <p:nvPicPr>
            <p:cNvPr id="16" name="object 16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075688" y="3846576"/>
              <a:ext cx="1286256" cy="536448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404616" y="3861816"/>
              <a:ext cx="274320" cy="234695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526792" y="4401312"/>
              <a:ext cx="1042416" cy="420624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075688" y="4410456"/>
              <a:ext cx="423672" cy="960119"/>
            </a:xfrm>
            <a:prstGeom prst="rect">
              <a:avLst/>
            </a:prstGeom>
          </p:spPr>
        </p:pic>
      </p:grpSp>
      <p:pic>
        <p:nvPicPr>
          <p:cNvPr id="20" name="object 20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984503" y="4453128"/>
            <a:ext cx="466344" cy="420624"/>
          </a:xfrm>
          <a:prstGeom prst="rect">
            <a:avLst/>
          </a:prstGeom>
        </p:spPr>
      </p:pic>
      <p:pic>
        <p:nvPicPr>
          <p:cNvPr id="21" name="object 21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2529839" y="4855464"/>
            <a:ext cx="271272" cy="234695"/>
          </a:xfrm>
          <a:prstGeom prst="rect">
            <a:avLst/>
          </a:prstGeom>
        </p:spPr>
      </p:pic>
      <p:pic>
        <p:nvPicPr>
          <p:cNvPr id="22" name="object 22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606296" y="5132832"/>
            <a:ext cx="420623" cy="661416"/>
          </a:xfrm>
          <a:prstGeom prst="rect">
            <a:avLst/>
          </a:prstGeom>
        </p:spPr>
      </p:pic>
      <p:grpSp>
        <p:nvGrpSpPr>
          <p:cNvPr id="23" name="object 23" descr=""/>
          <p:cNvGrpSpPr/>
          <p:nvPr/>
        </p:nvGrpSpPr>
        <p:grpSpPr>
          <a:xfrm>
            <a:off x="3712464" y="1331975"/>
            <a:ext cx="8479790" cy="2802255"/>
            <a:chOff x="3712464" y="1331975"/>
            <a:chExt cx="8479790" cy="2802255"/>
          </a:xfrm>
        </p:grpSpPr>
        <p:pic>
          <p:nvPicPr>
            <p:cNvPr id="24" name="object 24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712464" y="1331975"/>
              <a:ext cx="3746753" cy="1811274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574536" y="1331975"/>
              <a:ext cx="3484626" cy="1811274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8991600" y="1331975"/>
              <a:ext cx="3200400" cy="1811274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712464" y="2322575"/>
              <a:ext cx="2359914" cy="1811274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193792" y="2322575"/>
              <a:ext cx="6334506" cy="1811274"/>
            </a:xfrm>
            <a:prstGeom prst="rect">
              <a:avLst/>
            </a:prstGeom>
          </p:spPr>
        </p:pic>
      </p:grpSp>
      <p:sp>
        <p:nvSpPr>
          <p:cNvPr id="29" name="object 29"/>
          <p:cNvSpPr txBox="1">
            <a:spLocks noGrp="1"/>
          </p:cNvSpPr>
          <p:nvPr>
            <p:ph type="title"/>
          </p:nvPr>
        </p:nvSpPr>
        <p:spPr>
          <a:xfrm>
            <a:off x="4213097" y="1529918"/>
            <a:ext cx="7797165" cy="20078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6500">
                <a:solidFill>
                  <a:srgbClr val="1F4E79"/>
                </a:solidFill>
                <a:latin typeface="Calibri"/>
                <a:cs typeface="Calibri"/>
              </a:rPr>
              <a:t>Aplikasi</a:t>
            </a:r>
            <a:r>
              <a:rPr dirty="0" sz="6500" spc="-7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dirty="0" sz="6500">
                <a:solidFill>
                  <a:srgbClr val="1F4E79"/>
                </a:solidFill>
                <a:latin typeface="Calibri"/>
                <a:cs typeface="Calibri"/>
              </a:rPr>
              <a:t>Model</a:t>
            </a:r>
            <a:r>
              <a:rPr dirty="0" sz="6500" spc="-3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dirty="0" sz="6500" spc="-25">
                <a:solidFill>
                  <a:srgbClr val="1F4E79"/>
                </a:solidFill>
                <a:latin typeface="Calibri"/>
                <a:cs typeface="Calibri"/>
              </a:rPr>
              <a:t>Regresi </a:t>
            </a:r>
            <a:r>
              <a:rPr dirty="0" sz="6500">
                <a:solidFill>
                  <a:srgbClr val="1F4E79"/>
                </a:solidFill>
                <a:latin typeface="Calibri"/>
                <a:cs typeface="Calibri"/>
              </a:rPr>
              <a:t>dan</a:t>
            </a:r>
            <a:r>
              <a:rPr dirty="0" sz="6500" spc="-5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dirty="0" sz="6500" spc="-10">
                <a:solidFill>
                  <a:srgbClr val="1F4E79"/>
                </a:solidFill>
                <a:latin typeface="Calibri"/>
                <a:cs typeface="Calibri"/>
              </a:rPr>
              <a:t>Pengembangan</a:t>
            </a:r>
            <a:endParaRPr sz="6500">
              <a:latin typeface="Calibri"/>
              <a:cs typeface="Calibri"/>
            </a:endParaRPr>
          </a:p>
        </p:txBody>
      </p:sp>
      <p:sp>
        <p:nvSpPr>
          <p:cNvPr id="30" name="object 30" descr=""/>
          <p:cNvSpPr/>
          <p:nvPr/>
        </p:nvSpPr>
        <p:spPr>
          <a:xfrm>
            <a:off x="4308347" y="3976115"/>
            <a:ext cx="7595234" cy="0"/>
          </a:xfrm>
          <a:custGeom>
            <a:avLst/>
            <a:gdLst/>
            <a:ahLst/>
            <a:cxnLst/>
            <a:rect l="l" t="t" r="r" b="b"/>
            <a:pathLst>
              <a:path w="7595234" h="0">
                <a:moveTo>
                  <a:pt x="0" y="0"/>
                </a:moveTo>
                <a:lnTo>
                  <a:pt x="7595108" y="0"/>
                </a:lnTo>
              </a:path>
            </a:pathLst>
          </a:custGeom>
          <a:ln w="274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 txBox="1"/>
          <p:nvPr/>
        </p:nvSpPr>
        <p:spPr>
          <a:xfrm>
            <a:off x="4285234" y="4169486"/>
            <a:ext cx="5175250" cy="22225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200" spc="-30" b="1">
                <a:latin typeface="Calibri"/>
                <a:cs typeface="Calibri"/>
              </a:rPr>
              <a:t>Prof.</a:t>
            </a:r>
            <a:r>
              <a:rPr dirty="0" sz="3200" spc="-145" b="1">
                <a:latin typeface="Calibri"/>
                <a:cs typeface="Calibri"/>
              </a:rPr>
              <a:t> </a:t>
            </a:r>
            <a:r>
              <a:rPr dirty="0" sz="3200" spc="-10" b="1">
                <a:latin typeface="Calibri"/>
                <a:cs typeface="Calibri"/>
              </a:rPr>
              <a:t>Muhammad</a:t>
            </a:r>
            <a:r>
              <a:rPr dirty="0" sz="3200" spc="-120" b="1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Firdaus,</a:t>
            </a:r>
            <a:r>
              <a:rPr dirty="0" sz="3200" spc="-130" b="1">
                <a:latin typeface="Calibri"/>
                <a:cs typeface="Calibri"/>
              </a:rPr>
              <a:t> </a:t>
            </a:r>
            <a:r>
              <a:rPr dirty="0" sz="3200" spc="-25" b="1">
                <a:latin typeface="Calibri"/>
                <a:cs typeface="Calibri"/>
              </a:rPr>
              <a:t>PhD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750">
              <a:latin typeface="Calibri"/>
              <a:cs typeface="Calibri"/>
            </a:endParaRPr>
          </a:p>
          <a:p>
            <a:pPr marL="12700" marR="70485">
              <a:lnSpc>
                <a:spcPct val="100000"/>
              </a:lnSpc>
            </a:pPr>
            <a:r>
              <a:rPr dirty="0" sz="2800" b="1">
                <a:latin typeface="Calibri"/>
                <a:cs typeface="Calibri"/>
              </a:rPr>
              <a:t>Departemen</a:t>
            </a:r>
            <a:r>
              <a:rPr dirty="0" sz="2800" spc="-40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Ilmu</a:t>
            </a:r>
            <a:r>
              <a:rPr dirty="0" sz="2800" spc="-70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Ekonomi Fakultas</a:t>
            </a:r>
            <a:r>
              <a:rPr dirty="0" sz="2800" spc="-120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Ekonomi</a:t>
            </a:r>
            <a:r>
              <a:rPr dirty="0" sz="2800" spc="-65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dan</a:t>
            </a:r>
            <a:r>
              <a:rPr dirty="0" sz="2800" spc="-60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Manajemen </a:t>
            </a:r>
            <a:r>
              <a:rPr dirty="0" sz="2800" b="1">
                <a:latin typeface="Calibri"/>
                <a:cs typeface="Calibri"/>
              </a:rPr>
              <a:t>Institut</a:t>
            </a:r>
            <a:r>
              <a:rPr dirty="0" sz="2800" spc="-90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Pertanian</a:t>
            </a:r>
            <a:r>
              <a:rPr dirty="0" sz="2800" spc="-75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Bogor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4266" y="265639"/>
            <a:ext cx="11233150" cy="2190115"/>
          </a:xfrm>
          <a:prstGeom prst="rect"/>
        </p:spPr>
        <p:txBody>
          <a:bodyPr wrap="square" lIns="0" tIns="2051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14"/>
              </a:spcBef>
            </a:pPr>
            <a:r>
              <a:rPr dirty="0"/>
              <a:t>GARIS</a:t>
            </a:r>
            <a:r>
              <a:rPr dirty="0" spc="-155"/>
              <a:t> </a:t>
            </a:r>
            <a:r>
              <a:rPr dirty="0" spc="-10"/>
              <a:t>REGRESI</a:t>
            </a:r>
          </a:p>
          <a:p>
            <a:pPr marL="12700" marR="5080">
              <a:lnSpc>
                <a:spcPct val="100000"/>
              </a:lnSpc>
              <a:spcBef>
                <a:spcPts val="885"/>
              </a:spcBef>
            </a:pPr>
            <a:r>
              <a:rPr dirty="0" sz="2600" b="0">
                <a:solidFill>
                  <a:srgbClr val="000000"/>
                </a:solidFill>
                <a:latin typeface="Arial"/>
                <a:cs typeface="Arial"/>
              </a:rPr>
              <a:t>Garis</a:t>
            </a:r>
            <a:r>
              <a:rPr dirty="0" sz="2600" spc="-80" b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600" b="0">
                <a:solidFill>
                  <a:srgbClr val="000000"/>
                </a:solidFill>
                <a:latin typeface="Arial"/>
                <a:cs typeface="Arial"/>
              </a:rPr>
              <a:t>regresi</a:t>
            </a:r>
            <a:r>
              <a:rPr dirty="0" sz="2600" spc="-60" b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600" b="0">
                <a:solidFill>
                  <a:srgbClr val="000000"/>
                </a:solidFill>
                <a:latin typeface="Arial"/>
                <a:cs typeface="Arial"/>
              </a:rPr>
              <a:t>Gauss</a:t>
            </a:r>
            <a:r>
              <a:rPr dirty="0" sz="2600" spc="-80" b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600" b="0">
                <a:solidFill>
                  <a:srgbClr val="000000"/>
                </a:solidFill>
                <a:latin typeface="Arial"/>
                <a:cs typeface="Arial"/>
              </a:rPr>
              <a:t>(1809):</a:t>
            </a:r>
            <a:r>
              <a:rPr dirty="0" sz="2600" spc="-55" b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600" b="0">
                <a:solidFill>
                  <a:srgbClr val="000000"/>
                </a:solidFill>
                <a:latin typeface="Arial"/>
                <a:cs typeface="Arial"/>
              </a:rPr>
              <a:t>garis</a:t>
            </a:r>
            <a:r>
              <a:rPr dirty="0" sz="2600" spc="-80" b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600" b="0">
                <a:solidFill>
                  <a:srgbClr val="000000"/>
                </a:solidFill>
                <a:latin typeface="Arial"/>
                <a:cs typeface="Arial"/>
              </a:rPr>
              <a:t>yang</a:t>
            </a:r>
            <a:r>
              <a:rPr dirty="0" sz="2600" spc="-40" b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600" b="0">
                <a:solidFill>
                  <a:srgbClr val="000000"/>
                </a:solidFill>
                <a:latin typeface="Arial"/>
                <a:cs typeface="Arial"/>
              </a:rPr>
              <a:t>memplotkan</a:t>
            </a:r>
            <a:r>
              <a:rPr dirty="0" sz="2600" spc="-35" b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600" b="0">
                <a:solidFill>
                  <a:srgbClr val="000000"/>
                </a:solidFill>
                <a:latin typeface="Arial"/>
                <a:cs typeface="Arial"/>
              </a:rPr>
              <a:t>hubungan</a:t>
            </a:r>
            <a:r>
              <a:rPr dirty="0" sz="2600" spc="-35" b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600" b="0">
                <a:solidFill>
                  <a:srgbClr val="000000"/>
                </a:solidFill>
                <a:latin typeface="Arial"/>
                <a:cs typeface="Arial"/>
              </a:rPr>
              <a:t>variabel</a:t>
            </a:r>
            <a:r>
              <a:rPr dirty="0" sz="2600" spc="-45" b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600" spc="-20" b="0">
                <a:solidFill>
                  <a:srgbClr val="000000"/>
                </a:solidFill>
                <a:latin typeface="Arial"/>
                <a:cs typeface="Arial"/>
              </a:rPr>
              <a:t>yang </a:t>
            </a:r>
            <a:r>
              <a:rPr dirty="0" sz="2600" b="0">
                <a:solidFill>
                  <a:srgbClr val="000000"/>
                </a:solidFill>
                <a:latin typeface="Arial"/>
                <a:cs typeface="Arial"/>
              </a:rPr>
              <a:t>dipengaruhi</a:t>
            </a:r>
            <a:r>
              <a:rPr dirty="0" sz="2600" spc="-65" b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600" b="0">
                <a:solidFill>
                  <a:srgbClr val="000000"/>
                </a:solidFill>
                <a:latin typeface="Arial"/>
                <a:cs typeface="Arial"/>
              </a:rPr>
              <a:t>(variabel</a:t>
            </a:r>
            <a:r>
              <a:rPr dirty="0" sz="2600" spc="-70" b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600" b="0">
                <a:solidFill>
                  <a:srgbClr val="000000"/>
                </a:solidFill>
                <a:latin typeface="Arial"/>
                <a:cs typeface="Arial"/>
              </a:rPr>
              <a:t>dependen,</a:t>
            </a:r>
            <a:r>
              <a:rPr dirty="0" sz="2600" spc="-50" b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600" i="1">
                <a:solidFill>
                  <a:srgbClr val="000000"/>
                </a:solidFill>
                <a:latin typeface="Arial"/>
                <a:cs typeface="Arial"/>
              </a:rPr>
              <a:t>regressand</a:t>
            </a:r>
            <a:r>
              <a:rPr dirty="0" sz="2600" b="0">
                <a:solidFill>
                  <a:srgbClr val="000000"/>
                </a:solidFill>
                <a:latin typeface="Arial"/>
                <a:cs typeface="Arial"/>
              </a:rPr>
              <a:t>,</a:t>
            </a:r>
            <a:r>
              <a:rPr dirty="0" sz="2600" spc="-70" b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600" b="0">
                <a:solidFill>
                  <a:srgbClr val="000000"/>
                </a:solidFill>
                <a:latin typeface="Arial"/>
                <a:cs typeface="Arial"/>
              </a:rPr>
              <a:t>respon,</a:t>
            </a:r>
            <a:r>
              <a:rPr dirty="0" sz="2600" spc="-90" b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600" b="0">
                <a:solidFill>
                  <a:srgbClr val="000000"/>
                </a:solidFill>
                <a:latin typeface="Arial"/>
                <a:cs typeface="Arial"/>
              </a:rPr>
              <a:t>tidak</a:t>
            </a:r>
            <a:r>
              <a:rPr dirty="0" sz="2600" spc="-95" b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600" b="0">
                <a:solidFill>
                  <a:srgbClr val="000000"/>
                </a:solidFill>
                <a:latin typeface="Arial"/>
                <a:cs typeface="Arial"/>
              </a:rPr>
              <a:t>bebas)</a:t>
            </a:r>
            <a:r>
              <a:rPr dirty="0" sz="2600" spc="-90" b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600" spc="-10" b="0">
                <a:solidFill>
                  <a:srgbClr val="000000"/>
                </a:solidFill>
                <a:latin typeface="Arial"/>
                <a:cs typeface="Arial"/>
              </a:rPr>
              <a:t>dengan </a:t>
            </a:r>
            <a:r>
              <a:rPr dirty="0" sz="2600" b="0">
                <a:solidFill>
                  <a:srgbClr val="000000"/>
                </a:solidFill>
                <a:latin typeface="Arial"/>
                <a:cs typeface="Arial"/>
              </a:rPr>
              <a:t>yang</a:t>
            </a:r>
            <a:r>
              <a:rPr dirty="0" sz="2600" spc="-100" b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600" b="0">
                <a:solidFill>
                  <a:srgbClr val="000000"/>
                </a:solidFill>
                <a:latin typeface="Arial"/>
                <a:cs typeface="Arial"/>
              </a:rPr>
              <a:t>mempengeruhi</a:t>
            </a:r>
            <a:r>
              <a:rPr dirty="0" sz="2600" spc="-100" b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600" b="0">
                <a:solidFill>
                  <a:srgbClr val="000000"/>
                </a:solidFill>
                <a:latin typeface="Arial"/>
                <a:cs typeface="Arial"/>
              </a:rPr>
              <a:t>(variabel</a:t>
            </a:r>
            <a:r>
              <a:rPr dirty="0" sz="2600" spc="-100" b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600" b="0">
                <a:solidFill>
                  <a:srgbClr val="000000"/>
                </a:solidFill>
                <a:latin typeface="Arial"/>
                <a:cs typeface="Arial"/>
              </a:rPr>
              <a:t>independen,</a:t>
            </a:r>
            <a:r>
              <a:rPr dirty="0" sz="2600" spc="-80" b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600" i="1">
                <a:solidFill>
                  <a:srgbClr val="000000"/>
                </a:solidFill>
                <a:latin typeface="Arial"/>
                <a:cs typeface="Arial"/>
              </a:rPr>
              <a:t>regressor</a:t>
            </a:r>
            <a:r>
              <a:rPr dirty="0" sz="2600" b="0">
                <a:solidFill>
                  <a:srgbClr val="000000"/>
                </a:solidFill>
                <a:latin typeface="Arial"/>
                <a:cs typeface="Arial"/>
              </a:rPr>
              <a:t>,</a:t>
            </a:r>
            <a:r>
              <a:rPr dirty="0" sz="2600" spc="-90" b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600" spc="-10" b="0">
                <a:solidFill>
                  <a:srgbClr val="000000"/>
                </a:solidFill>
                <a:latin typeface="Arial"/>
                <a:cs typeface="Arial"/>
              </a:rPr>
              <a:t>prediktor,</a:t>
            </a:r>
            <a:r>
              <a:rPr dirty="0" sz="2600" spc="-114" b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600" spc="-10" b="0">
                <a:solidFill>
                  <a:srgbClr val="000000"/>
                </a:solidFill>
                <a:latin typeface="Arial"/>
                <a:cs typeface="Arial"/>
              </a:rPr>
              <a:t>bebas)</a:t>
            </a:r>
            <a:endParaRPr sz="26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957916" y="6549694"/>
            <a:ext cx="172085" cy="1924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435"/>
              </a:lnSpc>
            </a:pPr>
            <a:r>
              <a:rPr dirty="0" sz="1500" spc="10">
                <a:latin typeface="Calibri"/>
                <a:cs typeface="Calibri"/>
              </a:rPr>
              <a:t>@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15290" y="6308394"/>
            <a:ext cx="6417945" cy="4464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 sz="1500" spc="-10" b="1">
                <a:latin typeface="Calibri"/>
                <a:cs typeface="Calibri"/>
              </a:rPr>
              <a:t>Department</a:t>
            </a:r>
            <a:r>
              <a:rPr dirty="0" sz="1500" spc="-85" b="1">
                <a:latin typeface="Calibri"/>
                <a:cs typeface="Calibri"/>
              </a:rPr>
              <a:t> </a:t>
            </a:r>
            <a:r>
              <a:rPr dirty="0" sz="1500" b="1">
                <a:latin typeface="Calibri"/>
                <a:cs typeface="Calibri"/>
              </a:rPr>
              <a:t>of</a:t>
            </a:r>
            <a:r>
              <a:rPr dirty="0" sz="1500" spc="5" b="1">
                <a:latin typeface="Calibri"/>
                <a:cs typeface="Calibri"/>
              </a:rPr>
              <a:t> </a:t>
            </a:r>
            <a:r>
              <a:rPr dirty="0" sz="1500" b="1">
                <a:latin typeface="Calibri"/>
                <a:cs typeface="Calibri"/>
              </a:rPr>
              <a:t>Economics</a:t>
            </a:r>
            <a:r>
              <a:rPr dirty="0" sz="1500" spc="-25" b="1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| </a:t>
            </a:r>
            <a:r>
              <a:rPr dirty="0" sz="1500" spc="-10">
                <a:latin typeface="Calibri"/>
                <a:cs typeface="Calibri"/>
              </a:rPr>
              <a:t>Faculty</a:t>
            </a:r>
            <a:r>
              <a:rPr dirty="0" sz="1500" spc="-4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of</a:t>
            </a:r>
            <a:r>
              <a:rPr dirty="0" sz="1500" spc="-5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Economics</a:t>
            </a:r>
            <a:r>
              <a:rPr dirty="0" sz="1500" spc="-2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and</a:t>
            </a:r>
            <a:r>
              <a:rPr dirty="0" sz="1500" spc="-5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Management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500">
                <a:latin typeface="Segoe UI Symbol"/>
                <a:cs typeface="Segoe UI Symbol"/>
              </a:rPr>
              <a:t>☎</a:t>
            </a:r>
            <a:r>
              <a:rPr dirty="0" sz="1500" spc="-114">
                <a:latin typeface="Segoe UI Symbol"/>
                <a:cs typeface="Segoe UI Symbol"/>
              </a:rPr>
              <a:t> </a:t>
            </a:r>
            <a:r>
              <a:rPr dirty="0" sz="1500">
                <a:latin typeface="Calibri"/>
                <a:cs typeface="Calibri"/>
              </a:rPr>
              <a:t>+62</a:t>
            </a:r>
            <a:r>
              <a:rPr dirty="0" sz="1500" spc="-4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251</a:t>
            </a:r>
            <a:r>
              <a:rPr dirty="0" sz="1500" spc="-2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8626602</a:t>
            </a:r>
            <a:r>
              <a:rPr dirty="0" sz="1500" spc="245">
                <a:latin typeface="Calibri"/>
                <a:cs typeface="Calibri"/>
              </a:rPr>
              <a:t> </a:t>
            </a:r>
            <a:r>
              <a:rPr dirty="0" sz="1500">
                <a:latin typeface="Segoe UI Symbol"/>
                <a:cs typeface="Segoe UI Symbol"/>
              </a:rPr>
              <a:t>✉</a:t>
            </a:r>
            <a:r>
              <a:rPr dirty="0" sz="1500" spc="-105">
                <a:latin typeface="Segoe UI Symbol"/>
                <a:cs typeface="Segoe UI Symbol"/>
              </a:rPr>
              <a:t> </a:t>
            </a:r>
            <a:r>
              <a:rPr dirty="0" sz="1500">
                <a:latin typeface="Calibri"/>
                <a:cs typeface="Calibri"/>
                <a:hlinkClick r:id="rId2"/>
              </a:rPr>
              <a:t>ilmu_ekonomi@ipb.ac.id</a:t>
            </a:r>
            <a:r>
              <a:rPr dirty="0" sz="1500" spc="250">
                <a:latin typeface="Calibri"/>
                <a:cs typeface="Calibri"/>
              </a:rPr>
              <a:t> </a:t>
            </a:r>
            <a:r>
              <a:rPr dirty="0" sz="1500" b="1">
                <a:latin typeface="Segoe UI Symbol"/>
                <a:cs typeface="Segoe UI Symbol"/>
              </a:rPr>
              <a:t>🌐</a:t>
            </a:r>
            <a:r>
              <a:rPr dirty="0" sz="1500" spc="-100" b="1">
                <a:latin typeface="Segoe UI Symbol"/>
                <a:cs typeface="Segoe UI Symbol"/>
              </a:rPr>
              <a:t> </a:t>
            </a:r>
            <a:r>
              <a:rPr dirty="0" sz="1500" spc="-10">
                <a:latin typeface="Calibri"/>
                <a:cs typeface="Calibri"/>
                <a:hlinkClick r:id="rId3"/>
              </a:rPr>
              <a:t>http://ekonomi.fem.ipb.ac.id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 spc="-10"/>
              <a:t>dept.ieipb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04266" y="2828036"/>
            <a:ext cx="10699750" cy="311658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600">
                <a:latin typeface="Arial"/>
                <a:cs typeface="Arial"/>
              </a:rPr>
              <a:t>Contoh:</a:t>
            </a:r>
            <a:r>
              <a:rPr dirty="0" sz="2600" spc="-6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hubungan</a:t>
            </a:r>
            <a:r>
              <a:rPr dirty="0" sz="2600" spc="-15">
                <a:latin typeface="Arial"/>
                <a:cs typeface="Arial"/>
              </a:rPr>
              <a:t> </a:t>
            </a:r>
            <a:r>
              <a:rPr dirty="0" sz="2600">
                <a:solidFill>
                  <a:srgbClr val="FF0000"/>
                </a:solidFill>
                <a:latin typeface="Arial"/>
                <a:cs typeface="Arial"/>
              </a:rPr>
              <a:t>konsumsi</a:t>
            </a:r>
            <a:r>
              <a:rPr dirty="0" sz="2600" spc="-6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(tidak</a:t>
            </a:r>
            <a:r>
              <a:rPr dirty="0" sz="2600" spc="-8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bebas)</a:t>
            </a:r>
            <a:r>
              <a:rPr dirty="0" sz="2600" spc="-6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dan</a:t>
            </a:r>
            <a:r>
              <a:rPr dirty="0" sz="2600" spc="-60">
                <a:latin typeface="Arial"/>
                <a:cs typeface="Arial"/>
              </a:rPr>
              <a:t> </a:t>
            </a:r>
            <a:r>
              <a:rPr dirty="0" sz="2600">
                <a:solidFill>
                  <a:srgbClr val="FF0000"/>
                </a:solidFill>
                <a:latin typeface="Arial"/>
                <a:cs typeface="Arial"/>
              </a:rPr>
              <a:t>pendapatan</a:t>
            </a:r>
            <a:r>
              <a:rPr dirty="0" sz="2600" spc="-2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600" spc="-10">
                <a:latin typeface="Arial"/>
                <a:cs typeface="Arial"/>
              </a:rPr>
              <a:t>(bebas)</a:t>
            </a:r>
            <a:endParaRPr sz="2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600" spc="-10">
                <a:solidFill>
                  <a:srgbClr val="FF0000"/>
                </a:solidFill>
                <a:latin typeface="Arial"/>
                <a:cs typeface="Arial"/>
              </a:rPr>
              <a:t>Kegunaan:</a:t>
            </a:r>
            <a:endParaRPr sz="2600">
              <a:latin typeface="Arial"/>
              <a:cs typeface="Arial"/>
            </a:endParaRPr>
          </a:p>
          <a:p>
            <a:pPr marL="241300" marR="5080" indent="-229235">
              <a:lnSpc>
                <a:spcPct val="100000"/>
              </a:lnSpc>
              <a:spcBef>
                <a:spcPts val="625"/>
              </a:spcBef>
              <a:buChar char="•"/>
              <a:tabLst>
                <a:tab pos="241935" algn="l"/>
                <a:tab pos="9991090" algn="l"/>
              </a:tabLst>
            </a:pPr>
            <a:r>
              <a:rPr dirty="0" sz="2600">
                <a:latin typeface="Arial"/>
                <a:cs typeface="Arial"/>
              </a:rPr>
              <a:t>Menghitung</a:t>
            </a:r>
            <a:r>
              <a:rPr dirty="0" sz="2600" spc="-6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dampak</a:t>
            </a:r>
            <a:r>
              <a:rPr dirty="0" sz="2600" spc="-7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perubahan</a:t>
            </a:r>
            <a:r>
              <a:rPr dirty="0" sz="2600" spc="-7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variabel</a:t>
            </a:r>
            <a:r>
              <a:rPr dirty="0" sz="2600" spc="-7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bebas</a:t>
            </a:r>
            <a:r>
              <a:rPr dirty="0" sz="2600" spc="-9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terhadap</a:t>
            </a:r>
            <a:r>
              <a:rPr dirty="0" sz="2600" spc="-75">
                <a:latin typeface="Arial"/>
                <a:cs typeface="Arial"/>
              </a:rPr>
              <a:t> </a:t>
            </a:r>
            <a:r>
              <a:rPr dirty="0" sz="2600" spc="-10">
                <a:latin typeface="Arial"/>
                <a:cs typeface="Arial"/>
              </a:rPr>
              <a:t>variabel</a:t>
            </a:r>
            <a:r>
              <a:rPr dirty="0" sz="2600">
                <a:latin typeface="Arial"/>
                <a:cs typeface="Arial"/>
              </a:rPr>
              <a:t>	</a:t>
            </a:r>
            <a:r>
              <a:rPr dirty="0" sz="2600" spc="-20">
                <a:latin typeface="Arial"/>
                <a:cs typeface="Arial"/>
              </a:rPr>
              <a:t>tidak </a:t>
            </a:r>
            <a:r>
              <a:rPr dirty="0" sz="2600">
                <a:latin typeface="Arial"/>
                <a:cs typeface="Arial"/>
              </a:rPr>
              <a:t>bebas</a:t>
            </a:r>
            <a:r>
              <a:rPr dirty="0" sz="2600" spc="-55">
                <a:latin typeface="Arial"/>
                <a:cs typeface="Arial"/>
              </a:rPr>
              <a:t> </a:t>
            </a:r>
            <a:r>
              <a:rPr dirty="0" sz="2600" spc="-10">
                <a:latin typeface="Arial"/>
                <a:cs typeface="Arial"/>
              </a:rPr>
              <a:t>(elastisitas)</a:t>
            </a:r>
            <a:endParaRPr sz="2600">
              <a:latin typeface="Arial"/>
              <a:cs typeface="Arial"/>
            </a:endParaRPr>
          </a:p>
          <a:p>
            <a:pPr marL="241300" indent="-229235">
              <a:lnSpc>
                <a:spcPct val="100000"/>
              </a:lnSpc>
              <a:spcBef>
                <a:spcPts val="625"/>
              </a:spcBef>
              <a:buChar char="•"/>
              <a:tabLst>
                <a:tab pos="241935" algn="l"/>
              </a:tabLst>
            </a:pPr>
            <a:r>
              <a:rPr dirty="0" sz="2600">
                <a:latin typeface="Arial"/>
                <a:cs typeface="Arial"/>
              </a:rPr>
              <a:t>Memprediksi</a:t>
            </a:r>
            <a:r>
              <a:rPr dirty="0" sz="2600" spc="-5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nilai</a:t>
            </a:r>
            <a:r>
              <a:rPr dirty="0" sz="2600" spc="-9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variabel</a:t>
            </a:r>
            <a:r>
              <a:rPr dirty="0" sz="2600" spc="-5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tidak</a:t>
            </a:r>
            <a:r>
              <a:rPr dirty="0" sz="2600" spc="-9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bebas</a:t>
            </a:r>
            <a:r>
              <a:rPr dirty="0" sz="2600" spc="-50">
                <a:latin typeface="Arial"/>
                <a:cs typeface="Arial"/>
              </a:rPr>
              <a:t> </a:t>
            </a:r>
            <a:r>
              <a:rPr dirty="0" sz="2600" spc="-10">
                <a:latin typeface="Arial"/>
                <a:cs typeface="Arial"/>
              </a:rPr>
              <a:t>(peramalan)</a:t>
            </a:r>
            <a:endParaRPr sz="2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dirty="0" sz="2600">
                <a:latin typeface="Arial"/>
                <a:cs typeface="Arial"/>
              </a:rPr>
              <a:t>Dari</a:t>
            </a:r>
            <a:r>
              <a:rPr dirty="0" sz="2600" spc="-6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sampel,</a:t>
            </a:r>
            <a:r>
              <a:rPr dirty="0" sz="2600" spc="-4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pengaruh</a:t>
            </a:r>
            <a:r>
              <a:rPr dirty="0" sz="2600" spc="-3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tsb</a:t>
            </a:r>
            <a:r>
              <a:rPr dirty="0" sz="2600" spc="-6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ditarik</a:t>
            </a:r>
            <a:r>
              <a:rPr dirty="0" sz="2600" spc="-6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untuk</a:t>
            </a:r>
            <a:r>
              <a:rPr dirty="0" sz="2600" spc="-4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populasi</a:t>
            </a:r>
            <a:r>
              <a:rPr dirty="0" sz="2600" spc="-4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melalui</a:t>
            </a:r>
            <a:r>
              <a:rPr dirty="0" sz="2600" spc="-50">
                <a:latin typeface="Arial"/>
                <a:cs typeface="Arial"/>
              </a:rPr>
              <a:t> </a:t>
            </a:r>
            <a:r>
              <a:rPr dirty="0" sz="2600" b="1">
                <a:latin typeface="Arial"/>
                <a:cs typeface="Arial"/>
              </a:rPr>
              <a:t>uji</a:t>
            </a:r>
            <a:r>
              <a:rPr dirty="0" sz="2600" spc="-85" b="1">
                <a:latin typeface="Arial"/>
                <a:cs typeface="Arial"/>
              </a:rPr>
              <a:t> </a:t>
            </a:r>
            <a:r>
              <a:rPr dirty="0" sz="2600" spc="-10" b="1">
                <a:latin typeface="Arial"/>
                <a:cs typeface="Arial"/>
              </a:rPr>
              <a:t>hipotesis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4856" y="479882"/>
            <a:ext cx="5762625" cy="69532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Garis</a:t>
            </a:r>
            <a:r>
              <a:rPr dirty="0" spc="-155"/>
              <a:t> </a:t>
            </a:r>
            <a:r>
              <a:rPr dirty="0" spc="-10"/>
              <a:t>Regresi</a:t>
            </a:r>
            <a:r>
              <a:rPr dirty="0" spc="-130"/>
              <a:t> </a:t>
            </a:r>
            <a:r>
              <a:rPr dirty="0" spc="-10"/>
              <a:t>Populasi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321046" y="3837558"/>
            <a:ext cx="2052320" cy="3295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000" i="1">
                <a:latin typeface="Arial"/>
                <a:cs typeface="Arial"/>
              </a:rPr>
              <a:t>Linear</a:t>
            </a:r>
            <a:r>
              <a:rPr dirty="0" sz="2000" spc="-40" i="1">
                <a:latin typeface="Arial"/>
                <a:cs typeface="Arial"/>
              </a:rPr>
              <a:t> </a:t>
            </a:r>
            <a:r>
              <a:rPr dirty="0" sz="2000" spc="-10" i="1">
                <a:latin typeface="Arial"/>
                <a:cs typeface="Arial"/>
              </a:rPr>
              <a:t>component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979290" y="1588769"/>
            <a:ext cx="2719070" cy="3295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666239" algn="l"/>
              </a:tabLst>
            </a:pPr>
            <a:r>
              <a:rPr dirty="0" sz="2000" spc="-10">
                <a:latin typeface="Arial"/>
                <a:cs typeface="Arial"/>
              </a:rPr>
              <a:t>konstanta</a:t>
            </a:r>
            <a:r>
              <a:rPr dirty="0" sz="2000">
                <a:latin typeface="Arial"/>
                <a:cs typeface="Arial"/>
              </a:rPr>
              <a:t>	</a:t>
            </a:r>
            <a:r>
              <a:rPr dirty="0" sz="2000" spc="-10">
                <a:latin typeface="Arial"/>
                <a:cs typeface="Arial"/>
              </a:rPr>
              <a:t>Koefisien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719566" y="1904492"/>
            <a:ext cx="1861185" cy="3295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000" spc="-10">
                <a:latin typeface="Arial"/>
                <a:cs typeface="Arial"/>
              </a:rPr>
              <a:t>Error-term/</a:t>
            </a:r>
            <a:r>
              <a:rPr dirty="0" sz="2000" spc="-10">
                <a:solidFill>
                  <a:srgbClr val="FF0000"/>
                </a:solidFill>
                <a:latin typeface="Arial"/>
                <a:cs typeface="Arial"/>
              </a:rPr>
              <a:t>Galat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4472685" y="1903857"/>
            <a:ext cx="797560" cy="903605"/>
          </a:xfrm>
          <a:custGeom>
            <a:avLst/>
            <a:gdLst/>
            <a:ahLst/>
            <a:cxnLst/>
            <a:rect l="l" t="t" r="r" b="b"/>
            <a:pathLst>
              <a:path w="797560" h="903605">
                <a:moveTo>
                  <a:pt x="742152" y="850367"/>
                </a:moveTo>
                <a:lnTo>
                  <a:pt x="718312" y="871346"/>
                </a:lnTo>
                <a:lnTo>
                  <a:pt x="797305" y="903351"/>
                </a:lnTo>
                <a:lnTo>
                  <a:pt x="785777" y="859916"/>
                </a:lnTo>
                <a:lnTo>
                  <a:pt x="750569" y="859916"/>
                </a:lnTo>
                <a:lnTo>
                  <a:pt x="742152" y="850367"/>
                </a:lnTo>
                <a:close/>
              </a:path>
              <a:path w="797560" h="903605">
                <a:moveTo>
                  <a:pt x="751678" y="841984"/>
                </a:moveTo>
                <a:lnTo>
                  <a:pt x="742152" y="850367"/>
                </a:lnTo>
                <a:lnTo>
                  <a:pt x="750569" y="859916"/>
                </a:lnTo>
                <a:lnTo>
                  <a:pt x="760094" y="851534"/>
                </a:lnTo>
                <a:lnTo>
                  <a:pt x="751678" y="841984"/>
                </a:lnTo>
                <a:close/>
              </a:path>
              <a:path w="797560" h="903605">
                <a:moveTo>
                  <a:pt x="775462" y="821054"/>
                </a:moveTo>
                <a:lnTo>
                  <a:pt x="751678" y="841984"/>
                </a:lnTo>
                <a:lnTo>
                  <a:pt x="760094" y="851534"/>
                </a:lnTo>
                <a:lnTo>
                  <a:pt x="750569" y="859916"/>
                </a:lnTo>
                <a:lnTo>
                  <a:pt x="785777" y="859916"/>
                </a:lnTo>
                <a:lnTo>
                  <a:pt x="775462" y="821054"/>
                </a:lnTo>
                <a:close/>
              </a:path>
              <a:path w="797560" h="903605">
                <a:moveTo>
                  <a:pt x="9651" y="0"/>
                </a:moveTo>
                <a:lnTo>
                  <a:pt x="0" y="8381"/>
                </a:lnTo>
                <a:lnTo>
                  <a:pt x="742152" y="850367"/>
                </a:lnTo>
                <a:lnTo>
                  <a:pt x="751678" y="841984"/>
                </a:lnTo>
                <a:lnTo>
                  <a:pt x="96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2968879" y="2579116"/>
            <a:ext cx="497205" cy="264795"/>
          </a:xfrm>
          <a:custGeom>
            <a:avLst/>
            <a:gdLst/>
            <a:ahLst/>
            <a:cxnLst/>
            <a:rect l="l" t="t" r="r" b="b"/>
            <a:pathLst>
              <a:path w="497204" h="264794">
                <a:moveTo>
                  <a:pt x="426260" y="234885"/>
                </a:moveTo>
                <a:lnTo>
                  <a:pt x="411480" y="263017"/>
                </a:lnTo>
                <a:lnTo>
                  <a:pt x="496696" y="264668"/>
                </a:lnTo>
                <a:lnTo>
                  <a:pt x="479492" y="240792"/>
                </a:lnTo>
                <a:lnTo>
                  <a:pt x="437515" y="240792"/>
                </a:lnTo>
                <a:lnTo>
                  <a:pt x="426260" y="234885"/>
                </a:lnTo>
                <a:close/>
              </a:path>
              <a:path w="497204" h="264794">
                <a:moveTo>
                  <a:pt x="432177" y="223625"/>
                </a:moveTo>
                <a:lnTo>
                  <a:pt x="426260" y="234885"/>
                </a:lnTo>
                <a:lnTo>
                  <a:pt x="437515" y="240792"/>
                </a:lnTo>
                <a:lnTo>
                  <a:pt x="443356" y="229488"/>
                </a:lnTo>
                <a:lnTo>
                  <a:pt x="432177" y="223625"/>
                </a:lnTo>
                <a:close/>
              </a:path>
              <a:path w="497204" h="264794">
                <a:moveTo>
                  <a:pt x="446912" y="195580"/>
                </a:moveTo>
                <a:lnTo>
                  <a:pt x="432177" y="223625"/>
                </a:lnTo>
                <a:lnTo>
                  <a:pt x="443356" y="229488"/>
                </a:lnTo>
                <a:lnTo>
                  <a:pt x="437515" y="240792"/>
                </a:lnTo>
                <a:lnTo>
                  <a:pt x="479492" y="240792"/>
                </a:lnTo>
                <a:lnTo>
                  <a:pt x="446912" y="195580"/>
                </a:lnTo>
                <a:close/>
              </a:path>
              <a:path w="497204" h="264794">
                <a:moveTo>
                  <a:pt x="5841" y="0"/>
                </a:moveTo>
                <a:lnTo>
                  <a:pt x="0" y="11175"/>
                </a:lnTo>
                <a:lnTo>
                  <a:pt x="426260" y="234885"/>
                </a:lnTo>
                <a:lnTo>
                  <a:pt x="432177" y="223625"/>
                </a:lnTo>
                <a:lnTo>
                  <a:pt x="584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7313930" y="1974850"/>
            <a:ext cx="76200" cy="768350"/>
          </a:xfrm>
          <a:custGeom>
            <a:avLst/>
            <a:gdLst/>
            <a:ahLst/>
            <a:cxnLst/>
            <a:rect l="l" t="t" r="r" b="b"/>
            <a:pathLst>
              <a:path w="76200" h="768350">
                <a:moveTo>
                  <a:pt x="0" y="690499"/>
                </a:moveTo>
                <a:lnTo>
                  <a:pt x="34798" y="768350"/>
                </a:lnTo>
                <a:lnTo>
                  <a:pt x="69911" y="705230"/>
                </a:lnTo>
                <a:lnTo>
                  <a:pt x="43942" y="705230"/>
                </a:lnTo>
                <a:lnTo>
                  <a:pt x="31242" y="704596"/>
                </a:lnTo>
                <a:lnTo>
                  <a:pt x="31794" y="691929"/>
                </a:lnTo>
                <a:lnTo>
                  <a:pt x="0" y="690499"/>
                </a:lnTo>
                <a:close/>
              </a:path>
              <a:path w="76200" h="768350">
                <a:moveTo>
                  <a:pt x="31794" y="691929"/>
                </a:moveTo>
                <a:lnTo>
                  <a:pt x="31242" y="704596"/>
                </a:lnTo>
                <a:lnTo>
                  <a:pt x="43942" y="705230"/>
                </a:lnTo>
                <a:lnTo>
                  <a:pt x="44497" y="692501"/>
                </a:lnTo>
                <a:lnTo>
                  <a:pt x="31794" y="691929"/>
                </a:lnTo>
                <a:close/>
              </a:path>
              <a:path w="76200" h="768350">
                <a:moveTo>
                  <a:pt x="44497" y="692501"/>
                </a:moveTo>
                <a:lnTo>
                  <a:pt x="43942" y="705230"/>
                </a:lnTo>
                <a:lnTo>
                  <a:pt x="69911" y="705230"/>
                </a:lnTo>
                <a:lnTo>
                  <a:pt x="76200" y="693927"/>
                </a:lnTo>
                <a:lnTo>
                  <a:pt x="44497" y="692501"/>
                </a:lnTo>
                <a:close/>
              </a:path>
              <a:path w="76200" h="768350">
                <a:moveTo>
                  <a:pt x="61975" y="0"/>
                </a:moveTo>
                <a:lnTo>
                  <a:pt x="31794" y="691929"/>
                </a:lnTo>
                <a:lnTo>
                  <a:pt x="44497" y="692501"/>
                </a:lnTo>
                <a:lnTo>
                  <a:pt x="74675" y="508"/>
                </a:lnTo>
                <a:lnTo>
                  <a:pt x="619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8915145" y="2283841"/>
            <a:ext cx="130175" cy="648970"/>
          </a:xfrm>
          <a:custGeom>
            <a:avLst/>
            <a:gdLst/>
            <a:ahLst/>
            <a:cxnLst/>
            <a:rect l="l" t="t" r="r" b="b"/>
            <a:pathLst>
              <a:path w="130175" h="648969">
                <a:moveTo>
                  <a:pt x="0" y="567817"/>
                </a:moveTo>
                <a:lnTo>
                  <a:pt x="26288" y="648843"/>
                </a:lnTo>
                <a:lnTo>
                  <a:pt x="69774" y="586994"/>
                </a:lnTo>
                <a:lnTo>
                  <a:pt x="42036" y="586994"/>
                </a:lnTo>
                <a:lnTo>
                  <a:pt x="29463" y="585088"/>
                </a:lnTo>
                <a:lnTo>
                  <a:pt x="31354" y="572522"/>
                </a:lnTo>
                <a:lnTo>
                  <a:pt x="0" y="567817"/>
                </a:lnTo>
                <a:close/>
              </a:path>
              <a:path w="130175" h="648969">
                <a:moveTo>
                  <a:pt x="31354" y="572522"/>
                </a:moveTo>
                <a:lnTo>
                  <a:pt x="29463" y="585088"/>
                </a:lnTo>
                <a:lnTo>
                  <a:pt x="42036" y="586994"/>
                </a:lnTo>
                <a:lnTo>
                  <a:pt x="43929" y="574410"/>
                </a:lnTo>
                <a:lnTo>
                  <a:pt x="31354" y="572522"/>
                </a:lnTo>
                <a:close/>
              </a:path>
              <a:path w="130175" h="648969">
                <a:moveTo>
                  <a:pt x="43929" y="574410"/>
                </a:moveTo>
                <a:lnTo>
                  <a:pt x="42036" y="586994"/>
                </a:lnTo>
                <a:lnTo>
                  <a:pt x="69774" y="586994"/>
                </a:lnTo>
                <a:lnTo>
                  <a:pt x="75310" y="579120"/>
                </a:lnTo>
                <a:lnTo>
                  <a:pt x="43929" y="574410"/>
                </a:lnTo>
                <a:close/>
              </a:path>
              <a:path w="130175" h="648969">
                <a:moveTo>
                  <a:pt x="117475" y="0"/>
                </a:moveTo>
                <a:lnTo>
                  <a:pt x="31354" y="572522"/>
                </a:lnTo>
                <a:lnTo>
                  <a:pt x="43929" y="574410"/>
                </a:lnTo>
                <a:lnTo>
                  <a:pt x="130048" y="1905"/>
                </a:lnTo>
                <a:lnTo>
                  <a:pt x="1174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6931279" y="1004773"/>
            <a:ext cx="1527810" cy="939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 indent="3810">
              <a:lnSpc>
                <a:spcPct val="100000"/>
              </a:lnSpc>
              <a:spcBef>
                <a:spcPts val="95"/>
              </a:spcBef>
            </a:pPr>
            <a:r>
              <a:rPr dirty="0" sz="2000" spc="-10">
                <a:latin typeface="Arial"/>
                <a:cs typeface="Arial"/>
              </a:rPr>
              <a:t>Variabel independen (pendapatan)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5079491" y="3659123"/>
            <a:ext cx="2661285" cy="228600"/>
          </a:xfrm>
          <a:custGeom>
            <a:avLst/>
            <a:gdLst/>
            <a:ahLst/>
            <a:cxnLst/>
            <a:rect l="l" t="t" r="r" b="b"/>
            <a:pathLst>
              <a:path w="2661284" h="228600">
                <a:moveTo>
                  <a:pt x="0" y="0"/>
                </a:moveTo>
                <a:lnTo>
                  <a:pt x="30287" y="57686"/>
                </a:lnTo>
                <a:lnTo>
                  <a:pt x="64976" y="80819"/>
                </a:lnTo>
                <a:lnTo>
                  <a:pt x="109878" y="98693"/>
                </a:lnTo>
                <a:lnTo>
                  <a:pt x="162880" y="110216"/>
                </a:lnTo>
                <a:lnTo>
                  <a:pt x="221869" y="114300"/>
                </a:lnTo>
                <a:lnTo>
                  <a:pt x="1108583" y="114300"/>
                </a:lnTo>
                <a:lnTo>
                  <a:pt x="1167571" y="118383"/>
                </a:lnTo>
                <a:lnTo>
                  <a:pt x="1220573" y="129906"/>
                </a:lnTo>
                <a:lnTo>
                  <a:pt x="1265475" y="147780"/>
                </a:lnTo>
                <a:lnTo>
                  <a:pt x="1300164" y="170913"/>
                </a:lnTo>
                <a:lnTo>
                  <a:pt x="1330452" y="228600"/>
                </a:lnTo>
                <a:lnTo>
                  <a:pt x="1338375" y="198217"/>
                </a:lnTo>
                <a:lnTo>
                  <a:pt x="1395428" y="147780"/>
                </a:lnTo>
                <a:lnTo>
                  <a:pt x="1440330" y="129906"/>
                </a:lnTo>
                <a:lnTo>
                  <a:pt x="1493332" y="118383"/>
                </a:lnTo>
                <a:lnTo>
                  <a:pt x="1552321" y="114300"/>
                </a:lnTo>
                <a:lnTo>
                  <a:pt x="2439035" y="114300"/>
                </a:lnTo>
                <a:lnTo>
                  <a:pt x="2498023" y="110216"/>
                </a:lnTo>
                <a:lnTo>
                  <a:pt x="2551025" y="98693"/>
                </a:lnTo>
                <a:lnTo>
                  <a:pt x="2595927" y="80819"/>
                </a:lnTo>
                <a:lnTo>
                  <a:pt x="2630616" y="57686"/>
                </a:lnTo>
                <a:lnTo>
                  <a:pt x="2652980" y="30382"/>
                </a:lnTo>
                <a:lnTo>
                  <a:pt x="2660904" y="0"/>
                </a:lnTo>
              </a:path>
            </a:pathLst>
          </a:custGeom>
          <a:ln w="39624">
            <a:solidFill>
              <a:srgbClr val="944F7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8279892" y="3640835"/>
            <a:ext cx="914400" cy="228600"/>
          </a:xfrm>
          <a:custGeom>
            <a:avLst/>
            <a:gdLst/>
            <a:ahLst/>
            <a:cxnLst/>
            <a:rect l="l" t="t" r="r" b="b"/>
            <a:pathLst>
              <a:path w="914400" h="228600">
                <a:moveTo>
                  <a:pt x="0" y="0"/>
                </a:moveTo>
                <a:lnTo>
                  <a:pt x="5994" y="44487"/>
                </a:lnTo>
                <a:lnTo>
                  <a:pt x="22336" y="80819"/>
                </a:lnTo>
                <a:lnTo>
                  <a:pt x="46559" y="105316"/>
                </a:lnTo>
                <a:lnTo>
                  <a:pt x="76200" y="114300"/>
                </a:lnTo>
                <a:lnTo>
                  <a:pt x="381000" y="114300"/>
                </a:lnTo>
                <a:lnTo>
                  <a:pt x="410640" y="123283"/>
                </a:lnTo>
                <a:lnTo>
                  <a:pt x="434863" y="147780"/>
                </a:lnTo>
                <a:lnTo>
                  <a:pt x="451205" y="184112"/>
                </a:lnTo>
                <a:lnTo>
                  <a:pt x="457200" y="228600"/>
                </a:lnTo>
                <a:lnTo>
                  <a:pt x="463194" y="184112"/>
                </a:lnTo>
                <a:lnTo>
                  <a:pt x="479536" y="147780"/>
                </a:lnTo>
                <a:lnTo>
                  <a:pt x="503759" y="123283"/>
                </a:lnTo>
                <a:lnTo>
                  <a:pt x="533400" y="114300"/>
                </a:lnTo>
                <a:lnTo>
                  <a:pt x="838200" y="114300"/>
                </a:lnTo>
                <a:lnTo>
                  <a:pt x="867840" y="105316"/>
                </a:lnTo>
                <a:lnTo>
                  <a:pt x="892063" y="80819"/>
                </a:lnTo>
                <a:lnTo>
                  <a:pt x="908405" y="44487"/>
                </a:lnTo>
                <a:lnTo>
                  <a:pt x="914400" y="0"/>
                </a:lnTo>
              </a:path>
            </a:pathLst>
          </a:custGeom>
          <a:ln w="39624">
            <a:solidFill>
              <a:srgbClr val="944F7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7897368" y="2601290"/>
            <a:ext cx="1780539" cy="19310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3990">
              <a:lnSpc>
                <a:spcPct val="100000"/>
              </a:lnSpc>
              <a:spcBef>
                <a:spcPts val="100"/>
              </a:spcBef>
            </a:pPr>
            <a:r>
              <a:rPr dirty="0" sz="5400">
                <a:latin typeface="Arial"/>
                <a:cs typeface="Arial"/>
              </a:rPr>
              <a:t>+ </a:t>
            </a:r>
            <a:r>
              <a:rPr dirty="0" sz="5400" spc="-25">
                <a:latin typeface="Symbol"/>
                <a:cs typeface="Symbol"/>
              </a:rPr>
              <a:t></a:t>
            </a:r>
            <a:r>
              <a:rPr dirty="0" baseline="-20061" sz="5400" spc="-37">
                <a:latin typeface="Arial"/>
                <a:cs typeface="Arial"/>
              </a:rPr>
              <a:t>i</a:t>
            </a:r>
            <a:endParaRPr baseline="-20061" sz="54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3720"/>
              </a:spcBef>
            </a:pPr>
            <a:r>
              <a:rPr dirty="0" sz="2000" b="1" i="1">
                <a:latin typeface="Arial"/>
                <a:cs typeface="Arial"/>
              </a:rPr>
              <a:t>Random</a:t>
            </a:r>
            <a:r>
              <a:rPr dirty="0" sz="2000" spc="-50" b="1" i="1">
                <a:latin typeface="Arial"/>
                <a:cs typeface="Arial"/>
              </a:rPr>
              <a:t> </a:t>
            </a:r>
            <a:r>
              <a:rPr dirty="0" sz="2000" spc="-10" b="1" i="1">
                <a:latin typeface="Arial"/>
                <a:cs typeface="Arial"/>
              </a:rPr>
              <a:t>Error</a:t>
            </a:r>
            <a:endParaRPr sz="2000">
              <a:latin typeface="Arial"/>
              <a:cs typeface="Arial"/>
            </a:endParaRPr>
          </a:p>
          <a:p>
            <a:pPr marL="241935">
              <a:lnSpc>
                <a:spcPct val="100000"/>
              </a:lnSpc>
            </a:pPr>
            <a:r>
              <a:rPr dirty="0" sz="2000" spc="-10" b="1" i="1">
                <a:latin typeface="Arial"/>
                <a:cs typeface="Arial"/>
              </a:rPr>
              <a:t>component</a:t>
            </a:r>
            <a:endParaRPr sz="2000">
              <a:latin typeface="Arial"/>
              <a:cs typeface="Arial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6283071" y="1977263"/>
            <a:ext cx="605790" cy="766445"/>
          </a:xfrm>
          <a:custGeom>
            <a:avLst/>
            <a:gdLst/>
            <a:ahLst/>
            <a:cxnLst/>
            <a:rect l="l" t="t" r="r" b="b"/>
            <a:pathLst>
              <a:path w="605790" h="766444">
                <a:moveTo>
                  <a:pt x="553230" y="709993"/>
                </a:moveTo>
                <a:lnTo>
                  <a:pt x="528320" y="729614"/>
                </a:lnTo>
                <a:lnTo>
                  <a:pt x="605408" y="765937"/>
                </a:lnTo>
                <a:lnTo>
                  <a:pt x="595892" y="719963"/>
                </a:lnTo>
                <a:lnTo>
                  <a:pt x="561085" y="719963"/>
                </a:lnTo>
                <a:lnTo>
                  <a:pt x="553230" y="709993"/>
                </a:lnTo>
                <a:close/>
              </a:path>
              <a:path w="605790" h="766444">
                <a:moveTo>
                  <a:pt x="563248" y="702102"/>
                </a:moveTo>
                <a:lnTo>
                  <a:pt x="553230" y="709993"/>
                </a:lnTo>
                <a:lnTo>
                  <a:pt x="561085" y="719963"/>
                </a:lnTo>
                <a:lnTo>
                  <a:pt x="571119" y="712088"/>
                </a:lnTo>
                <a:lnTo>
                  <a:pt x="563248" y="702102"/>
                </a:lnTo>
                <a:close/>
              </a:path>
              <a:path w="605790" h="766444">
                <a:moveTo>
                  <a:pt x="588136" y="682498"/>
                </a:moveTo>
                <a:lnTo>
                  <a:pt x="563248" y="702102"/>
                </a:lnTo>
                <a:lnTo>
                  <a:pt x="571119" y="712088"/>
                </a:lnTo>
                <a:lnTo>
                  <a:pt x="561085" y="719963"/>
                </a:lnTo>
                <a:lnTo>
                  <a:pt x="595892" y="719963"/>
                </a:lnTo>
                <a:lnTo>
                  <a:pt x="588136" y="682498"/>
                </a:lnTo>
                <a:close/>
              </a:path>
              <a:path w="605790" h="766444">
                <a:moveTo>
                  <a:pt x="9905" y="0"/>
                </a:moveTo>
                <a:lnTo>
                  <a:pt x="0" y="7874"/>
                </a:lnTo>
                <a:lnTo>
                  <a:pt x="553230" y="709993"/>
                </a:lnTo>
                <a:lnTo>
                  <a:pt x="563248" y="702102"/>
                </a:lnTo>
                <a:lnTo>
                  <a:pt x="990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1590802" y="1804797"/>
            <a:ext cx="1274445" cy="9391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12065" marR="5080" indent="4445">
              <a:lnSpc>
                <a:spcPct val="100000"/>
              </a:lnSpc>
              <a:spcBef>
                <a:spcPts val="90"/>
              </a:spcBef>
            </a:pPr>
            <a:r>
              <a:rPr dirty="0" sz="2000" spc="-10">
                <a:latin typeface="Arial"/>
                <a:cs typeface="Arial"/>
              </a:rPr>
              <a:t>Variabel dependen (konsumsi)</a:t>
            </a:r>
            <a:endParaRPr sz="2000">
              <a:latin typeface="Arial"/>
              <a:cs typeface="Arial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6957916" y="6549694"/>
            <a:ext cx="172085" cy="1924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435"/>
              </a:lnSpc>
            </a:pPr>
            <a:r>
              <a:rPr dirty="0" sz="1500" spc="10">
                <a:latin typeface="Calibri"/>
                <a:cs typeface="Calibri"/>
              </a:rPr>
              <a:t>@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215290" y="6308394"/>
            <a:ext cx="6417945" cy="4464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 sz="1500" spc="-10" b="1">
                <a:latin typeface="Calibri"/>
                <a:cs typeface="Calibri"/>
              </a:rPr>
              <a:t>Department</a:t>
            </a:r>
            <a:r>
              <a:rPr dirty="0" sz="1500" spc="-85" b="1">
                <a:latin typeface="Calibri"/>
                <a:cs typeface="Calibri"/>
              </a:rPr>
              <a:t> </a:t>
            </a:r>
            <a:r>
              <a:rPr dirty="0" sz="1500" b="1">
                <a:latin typeface="Calibri"/>
                <a:cs typeface="Calibri"/>
              </a:rPr>
              <a:t>of</a:t>
            </a:r>
            <a:r>
              <a:rPr dirty="0" sz="1500" spc="5" b="1">
                <a:latin typeface="Calibri"/>
                <a:cs typeface="Calibri"/>
              </a:rPr>
              <a:t> </a:t>
            </a:r>
            <a:r>
              <a:rPr dirty="0" sz="1500" b="1">
                <a:latin typeface="Calibri"/>
                <a:cs typeface="Calibri"/>
              </a:rPr>
              <a:t>Economics</a:t>
            </a:r>
            <a:r>
              <a:rPr dirty="0" sz="1500" spc="-25" b="1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| </a:t>
            </a:r>
            <a:r>
              <a:rPr dirty="0" sz="1500" spc="-10">
                <a:latin typeface="Calibri"/>
                <a:cs typeface="Calibri"/>
              </a:rPr>
              <a:t>Faculty</a:t>
            </a:r>
            <a:r>
              <a:rPr dirty="0" sz="1500" spc="-4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of</a:t>
            </a:r>
            <a:r>
              <a:rPr dirty="0" sz="1500" spc="-5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Economics</a:t>
            </a:r>
            <a:r>
              <a:rPr dirty="0" sz="1500" spc="-2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and</a:t>
            </a:r>
            <a:r>
              <a:rPr dirty="0" sz="1500" spc="-5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Management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500">
                <a:latin typeface="Segoe UI Symbol"/>
                <a:cs typeface="Segoe UI Symbol"/>
              </a:rPr>
              <a:t>☎</a:t>
            </a:r>
            <a:r>
              <a:rPr dirty="0" sz="1500" spc="-114">
                <a:latin typeface="Segoe UI Symbol"/>
                <a:cs typeface="Segoe UI Symbol"/>
              </a:rPr>
              <a:t> </a:t>
            </a:r>
            <a:r>
              <a:rPr dirty="0" sz="1500">
                <a:latin typeface="Calibri"/>
                <a:cs typeface="Calibri"/>
              </a:rPr>
              <a:t>+62</a:t>
            </a:r>
            <a:r>
              <a:rPr dirty="0" sz="1500" spc="-4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251</a:t>
            </a:r>
            <a:r>
              <a:rPr dirty="0" sz="1500" spc="-2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8626602</a:t>
            </a:r>
            <a:r>
              <a:rPr dirty="0" sz="1500" spc="245">
                <a:latin typeface="Calibri"/>
                <a:cs typeface="Calibri"/>
              </a:rPr>
              <a:t> </a:t>
            </a:r>
            <a:r>
              <a:rPr dirty="0" sz="1500">
                <a:latin typeface="Segoe UI Symbol"/>
                <a:cs typeface="Segoe UI Symbol"/>
              </a:rPr>
              <a:t>✉</a:t>
            </a:r>
            <a:r>
              <a:rPr dirty="0" sz="1500" spc="-105">
                <a:latin typeface="Segoe UI Symbol"/>
                <a:cs typeface="Segoe UI Symbol"/>
              </a:rPr>
              <a:t> </a:t>
            </a:r>
            <a:r>
              <a:rPr dirty="0" sz="1500">
                <a:latin typeface="Calibri"/>
                <a:cs typeface="Calibri"/>
                <a:hlinkClick r:id="rId2"/>
              </a:rPr>
              <a:t>ilmu_ekonomi@ipb.ac.id</a:t>
            </a:r>
            <a:r>
              <a:rPr dirty="0" sz="1500" spc="250">
                <a:latin typeface="Calibri"/>
                <a:cs typeface="Calibri"/>
              </a:rPr>
              <a:t> </a:t>
            </a:r>
            <a:r>
              <a:rPr dirty="0" sz="1500" b="1">
                <a:latin typeface="Segoe UI Symbol"/>
                <a:cs typeface="Segoe UI Symbol"/>
              </a:rPr>
              <a:t>🌐</a:t>
            </a:r>
            <a:r>
              <a:rPr dirty="0" sz="1500" spc="-100" b="1">
                <a:latin typeface="Segoe UI Symbol"/>
                <a:cs typeface="Segoe UI Symbol"/>
              </a:rPr>
              <a:t> </a:t>
            </a:r>
            <a:r>
              <a:rPr dirty="0" sz="1500" spc="-10">
                <a:latin typeface="Calibri"/>
                <a:cs typeface="Calibri"/>
                <a:hlinkClick r:id="rId3"/>
              </a:rPr>
              <a:t>http://ekonomi.fem.ipb.ac.id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1" name="object 2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 spc="-10"/>
              <a:t>dept.ieipb</a:t>
            </a:r>
          </a:p>
        </p:txBody>
      </p:sp>
      <p:sp>
        <p:nvSpPr>
          <p:cNvPr id="16" name="object 16" descr=""/>
          <p:cNvSpPr txBox="1"/>
          <p:nvPr/>
        </p:nvSpPr>
        <p:spPr>
          <a:xfrm>
            <a:off x="404266" y="4728209"/>
            <a:ext cx="24485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Arial"/>
                <a:cs typeface="Arial"/>
              </a:rPr>
              <a:t>Sumber</a:t>
            </a:r>
            <a:r>
              <a:rPr dirty="0" sz="2400" spc="-7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galat</a:t>
            </a:r>
            <a:r>
              <a:rPr dirty="0" sz="2400" spc="-80" b="1">
                <a:latin typeface="Arial"/>
                <a:cs typeface="Arial"/>
              </a:rPr>
              <a:t> </a:t>
            </a:r>
            <a:r>
              <a:rPr dirty="0" sz="2400" spc="-20">
                <a:latin typeface="Arial"/>
                <a:cs typeface="Arial"/>
              </a:rPr>
              <a:t>a.l:</a:t>
            </a:r>
            <a:endParaRPr sz="2400">
              <a:latin typeface="Arial"/>
              <a:cs typeface="Arial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3074923" y="4728209"/>
            <a:ext cx="7735570" cy="1123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47980" indent="-33337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48615" algn="l"/>
              </a:tabLst>
            </a:pPr>
            <a:r>
              <a:rPr dirty="0" sz="2400">
                <a:latin typeface="Arial"/>
                <a:cs typeface="Arial"/>
              </a:rPr>
              <a:t>Tidak</a:t>
            </a:r>
            <a:r>
              <a:rPr dirty="0" sz="2400" spc="-3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semua</a:t>
            </a:r>
            <a:r>
              <a:rPr dirty="0" sz="2400" spc="-2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faktor</a:t>
            </a:r>
            <a:r>
              <a:rPr dirty="0" sz="2400" spc="-4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dimasukkan</a:t>
            </a:r>
            <a:r>
              <a:rPr dirty="0" sz="2400" spc="-2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ke</a:t>
            </a:r>
            <a:r>
              <a:rPr dirty="0" sz="2400" spc="-1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dalam</a:t>
            </a:r>
            <a:r>
              <a:rPr dirty="0" sz="2400" spc="-10">
                <a:latin typeface="Arial"/>
                <a:cs typeface="Arial"/>
              </a:rPr>
              <a:t> model</a:t>
            </a:r>
            <a:endParaRPr sz="2400">
              <a:latin typeface="Arial"/>
              <a:cs typeface="Arial"/>
            </a:endParaRPr>
          </a:p>
          <a:p>
            <a:pPr marL="351155" indent="-339090">
              <a:lnSpc>
                <a:spcPct val="100000"/>
              </a:lnSpc>
              <a:buAutoNum type="arabicPeriod"/>
              <a:tabLst>
                <a:tab pos="351790" algn="l"/>
              </a:tabLst>
            </a:pPr>
            <a:r>
              <a:rPr dirty="0" sz="2400">
                <a:latin typeface="Arial"/>
                <a:cs typeface="Arial"/>
              </a:rPr>
              <a:t>Kesalahan</a:t>
            </a:r>
            <a:r>
              <a:rPr dirty="0" sz="2400" spc="-2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dalam</a:t>
            </a:r>
            <a:r>
              <a:rPr dirty="0" sz="2400" spc="1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spesifikasi</a:t>
            </a:r>
            <a:r>
              <a:rPr dirty="0" sz="2400" spc="-3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model</a:t>
            </a:r>
            <a:endParaRPr sz="2400">
              <a:latin typeface="Arial"/>
              <a:cs typeface="Arial"/>
            </a:endParaRPr>
          </a:p>
          <a:p>
            <a:pPr marL="356870" indent="-323850">
              <a:lnSpc>
                <a:spcPct val="100000"/>
              </a:lnSpc>
              <a:buAutoNum type="arabicPeriod"/>
              <a:tabLst>
                <a:tab pos="357505" algn="l"/>
              </a:tabLst>
            </a:pPr>
            <a:r>
              <a:rPr dirty="0" sz="2400">
                <a:latin typeface="Arial"/>
                <a:cs typeface="Arial"/>
              </a:rPr>
              <a:t>Adanya</a:t>
            </a:r>
            <a:r>
              <a:rPr dirty="0" sz="2400" spc="-1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kesalahan</a:t>
            </a:r>
            <a:r>
              <a:rPr dirty="0" sz="2400" spc="-2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dan</a:t>
            </a:r>
            <a:r>
              <a:rPr dirty="0" sz="2400" spc="-1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disagregasi</a:t>
            </a:r>
            <a:r>
              <a:rPr dirty="0" sz="2400" spc="3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dalam </a:t>
            </a:r>
            <a:r>
              <a:rPr dirty="0" sz="2400" spc="-10">
                <a:latin typeface="Arial"/>
                <a:cs typeface="Arial"/>
              </a:rPr>
              <a:t>pengukuran</a:t>
            </a:r>
            <a:endParaRPr sz="2400">
              <a:latin typeface="Arial"/>
              <a:cs typeface="Arial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3374897" y="2601290"/>
            <a:ext cx="4368165" cy="84899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029335" algn="l"/>
                <a:tab pos="1809114" algn="l"/>
                <a:tab pos="2623185" algn="l"/>
                <a:tab pos="3406775" algn="l"/>
              </a:tabLst>
            </a:pPr>
            <a:r>
              <a:rPr dirty="0" sz="5400" spc="-25">
                <a:latin typeface="Arial"/>
                <a:cs typeface="Arial"/>
              </a:rPr>
              <a:t>C</a:t>
            </a:r>
            <a:r>
              <a:rPr dirty="0" baseline="-20061" sz="5400" spc="-37">
                <a:latin typeface="Arial"/>
                <a:cs typeface="Arial"/>
              </a:rPr>
              <a:t>i</a:t>
            </a:r>
            <a:r>
              <a:rPr dirty="0" baseline="-20061" sz="5400">
                <a:latin typeface="Arial"/>
                <a:cs typeface="Arial"/>
              </a:rPr>
              <a:t>	</a:t>
            </a:r>
            <a:r>
              <a:rPr dirty="0" sz="5400" spc="-50">
                <a:latin typeface="Arial"/>
                <a:cs typeface="Arial"/>
              </a:rPr>
              <a:t>=</a:t>
            </a:r>
            <a:r>
              <a:rPr dirty="0" sz="5400">
                <a:latin typeface="Arial"/>
                <a:cs typeface="Arial"/>
              </a:rPr>
              <a:t>	</a:t>
            </a:r>
            <a:r>
              <a:rPr dirty="0" sz="5400" spc="-50">
                <a:latin typeface="Symbol"/>
                <a:cs typeface="Symbol"/>
              </a:rPr>
              <a:t></a:t>
            </a:r>
            <a:r>
              <a:rPr dirty="0" sz="5400">
                <a:latin typeface="Times New Roman"/>
                <a:cs typeface="Times New Roman"/>
              </a:rPr>
              <a:t>	</a:t>
            </a:r>
            <a:r>
              <a:rPr dirty="0" sz="5400" spc="-50">
                <a:latin typeface="Arial"/>
                <a:cs typeface="Arial"/>
              </a:rPr>
              <a:t>+</a:t>
            </a:r>
            <a:r>
              <a:rPr dirty="0" sz="5400">
                <a:latin typeface="Arial"/>
                <a:cs typeface="Arial"/>
              </a:rPr>
              <a:t>	</a:t>
            </a:r>
            <a:r>
              <a:rPr dirty="0" sz="5400" spc="-25">
                <a:latin typeface="Symbol"/>
                <a:cs typeface="Symbol"/>
              </a:rPr>
              <a:t></a:t>
            </a:r>
            <a:r>
              <a:rPr dirty="0" sz="5400" spc="-25">
                <a:latin typeface="Arial"/>
                <a:cs typeface="Arial"/>
              </a:rPr>
              <a:t>Y</a:t>
            </a:r>
            <a:r>
              <a:rPr dirty="0" baseline="-20061" sz="5400" spc="-37">
                <a:latin typeface="Arial"/>
                <a:cs typeface="Arial"/>
              </a:rPr>
              <a:t>i</a:t>
            </a:r>
            <a:endParaRPr baseline="-20061" sz="5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1762" y="543001"/>
            <a:ext cx="6080125" cy="69532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Estimasi</a:t>
            </a:r>
            <a:r>
              <a:rPr dirty="0" spc="-140"/>
              <a:t> </a:t>
            </a:r>
            <a:r>
              <a:rPr dirty="0"/>
              <a:t>dalam</a:t>
            </a:r>
            <a:r>
              <a:rPr dirty="0" spc="-150"/>
              <a:t> </a:t>
            </a:r>
            <a:r>
              <a:rPr dirty="0" spc="-10"/>
              <a:t>matriks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387967" y="3835730"/>
            <a:ext cx="2063114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latin typeface="Arial"/>
                <a:cs typeface="Arial"/>
              </a:rPr>
              <a:t>untuk</a:t>
            </a:r>
            <a:r>
              <a:rPr dirty="0" sz="2400" spc="-5" i="1">
                <a:latin typeface="Arial"/>
                <a:cs typeface="Arial"/>
              </a:rPr>
              <a:t> </a:t>
            </a:r>
            <a:r>
              <a:rPr dirty="0" sz="2400" spc="-10" i="1">
                <a:latin typeface="Arial"/>
                <a:cs typeface="Arial"/>
              </a:rPr>
              <a:t>koefisien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46379" y="1499742"/>
            <a:ext cx="75177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"/>
                <a:cs typeface="Arial"/>
              </a:rPr>
              <a:t>Misal</a:t>
            </a:r>
            <a:r>
              <a:rPr dirty="0" sz="2400" spc="-3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ada</a:t>
            </a:r>
            <a:r>
              <a:rPr dirty="0" sz="2400" spc="-9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data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konsumsi</a:t>
            </a:r>
            <a:r>
              <a:rPr dirty="0" sz="2400" spc="-9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(c)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dan</a:t>
            </a:r>
            <a:r>
              <a:rPr dirty="0" sz="2400" spc="-9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pendapatan</a:t>
            </a:r>
            <a:r>
              <a:rPr dirty="0" sz="2400" spc="-11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(y)</a:t>
            </a:r>
            <a:r>
              <a:rPr dirty="0" sz="2400" spc="-4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60</a:t>
            </a:r>
            <a:r>
              <a:rPr dirty="0" sz="2400" spc="-45">
                <a:latin typeface="Arial"/>
                <a:cs typeface="Arial"/>
              </a:rPr>
              <a:t> </a:t>
            </a:r>
            <a:r>
              <a:rPr dirty="0" sz="2400" spc="-25">
                <a:latin typeface="Arial"/>
                <a:cs typeface="Arial"/>
              </a:rPr>
              <a:t>RT: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266697" y="2025386"/>
            <a:ext cx="554990" cy="3255010"/>
          </a:xfrm>
          <a:prstGeom prst="rect">
            <a:avLst/>
          </a:prstGeom>
        </p:spPr>
        <p:txBody>
          <a:bodyPr wrap="square" lIns="0" tIns="218440" rIns="0" bIns="0" rtlCol="0" vert="horz">
            <a:spAutoFit/>
          </a:bodyPr>
          <a:lstStyle/>
          <a:p>
            <a:pPr marL="74295">
              <a:lnSpc>
                <a:spcPct val="100000"/>
              </a:lnSpc>
              <a:spcBef>
                <a:spcPts val="1720"/>
              </a:spcBef>
            </a:pPr>
            <a:r>
              <a:rPr dirty="0" sz="2400" spc="-25">
                <a:latin typeface="Arial"/>
                <a:cs typeface="Arial"/>
              </a:rPr>
              <a:t>c</a:t>
            </a:r>
            <a:r>
              <a:rPr dirty="0" baseline="-20833" sz="2400" spc="-37">
                <a:latin typeface="Arial"/>
                <a:cs typeface="Arial"/>
              </a:rPr>
              <a:t>1</a:t>
            </a:r>
            <a:endParaRPr baseline="-20833" sz="2400">
              <a:latin typeface="Arial"/>
              <a:cs typeface="Arial"/>
            </a:endParaRPr>
          </a:p>
          <a:p>
            <a:pPr algn="ctr" marL="27940">
              <a:lnSpc>
                <a:spcPct val="100000"/>
              </a:lnSpc>
              <a:spcBef>
                <a:spcPts val="1910"/>
              </a:spcBef>
            </a:pPr>
            <a:r>
              <a:rPr dirty="0" sz="2800" spc="-25">
                <a:latin typeface="Arial"/>
                <a:cs typeface="Arial"/>
              </a:rPr>
              <a:t>c</a:t>
            </a:r>
            <a:r>
              <a:rPr dirty="0" baseline="-19519" sz="2775" spc="-37">
                <a:latin typeface="Arial"/>
                <a:cs typeface="Arial"/>
              </a:rPr>
              <a:t>2</a:t>
            </a:r>
            <a:endParaRPr baseline="-19519" sz="2775">
              <a:latin typeface="Arial"/>
              <a:cs typeface="Arial"/>
            </a:endParaRPr>
          </a:p>
          <a:p>
            <a:pPr algn="ctr" marL="48260">
              <a:lnSpc>
                <a:spcPct val="100000"/>
              </a:lnSpc>
              <a:spcBef>
                <a:spcPts val="10"/>
              </a:spcBef>
            </a:pPr>
            <a:r>
              <a:rPr dirty="0" sz="3200" spc="-5">
                <a:latin typeface="Arial"/>
                <a:cs typeface="Arial"/>
              </a:rPr>
              <a:t>.</a:t>
            </a:r>
            <a:endParaRPr sz="3200">
              <a:latin typeface="Arial"/>
              <a:cs typeface="Arial"/>
            </a:endParaRPr>
          </a:p>
          <a:p>
            <a:pPr algn="ctr" marR="53975">
              <a:lnSpc>
                <a:spcPct val="100000"/>
              </a:lnSpc>
            </a:pPr>
            <a:r>
              <a:rPr dirty="0" sz="3200" spc="-5">
                <a:latin typeface="Arial"/>
                <a:cs typeface="Arial"/>
              </a:rPr>
              <a:t>.</a:t>
            </a:r>
            <a:endParaRPr sz="3200">
              <a:latin typeface="Arial"/>
              <a:cs typeface="Arial"/>
            </a:endParaRPr>
          </a:p>
          <a:p>
            <a:pPr algn="ctr" marR="59055">
              <a:lnSpc>
                <a:spcPct val="100000"/>
              </a:lnSpc>
            </a:pPr>
            <a:r>
              <a:rPr dirty="0" sz="3200" spc="-5">
                <a:latin typeface="Arial"/>
                <a:cs typeface="Arial"/>
              </a:rPr>
              <a:t>.</a:t>
            </a:r>
            <a:endParaRPr sz="3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765"/>
              </a:spcBef>
            </a:pPr>
            <a:r>
              <a:rPr dirty="0" baseline="14880" sz="4200" spc="-37">
                <a:latin typeface="Arial"/>
                <a:cs typeface="Arial"/>
              </a:rPr>
              <a:t>c</a:t>
            </a:r>
            <a:r>
              <a:rPr dirty="0" sz="2100" spc="-25">
                <a:latin typeface="Arial"/>
                <a:cs typeface="Arial"/>
              </a:rPr>
              <a:t>60</a:t>
            </a:r>
            <a:endParaRPr sz="21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150742" y="2025386"/>
            <a:ext cx="549275" cy="3255010"/>
          </a:xfrm>
          <a:prstGeom prst="rect">
            <a:avLst/>
          </a:prstGeom>
        </p:spPr>
        <p:txBody>
          <a:bodyPr wrap="square" lIns="0" tIns="218440" rIns="0" bIns="0" rtlCol="0" vert="horz">
            <a:spAutoFit/>
          </a:bodyPr>
          <a:lstStyle/>
          <a:p>
            <a:pPr marL="117475">
              <a:lnSpc>
                <a:spcPct val="100000"/>
              </a:lnSpc>
              <a:spcBef>
                <a:spcPts val="1720"/>
              </a:spcBef>
            </a:pPr>
            <a:r>
              <a:rPr dirty="0" sz="2400" spc="-25">
                <a:latin typeface="Arial"/>
                <a:cs typeface="Arial"/>
              </a:rPr>
              <a:t>y</a:t>
            </a:r>
            <a:r>
              <a:rPr dirty="0" baseline="-20833" sz="2400" spc="-37">
                <a:latin typeface="Arial"/>
                <a:cs typeface="Arial"/>
              </a:rPr>
              <a:t>1</a:t>
            </a:r>
            <a:endParaRPr baseline="-20833" sz="2400">
              <a:latin typeface="Arial"/>
              <a:cs typeface="Arial"/>
            </a:endParaRPr>
          </a:p>
          <a:p>
            <a:pPr algn="ctr" marL="59055">
              <a:lnSpc>
                <a:spcPct val="100000"/>
              </a:lnSpc>
              <a:spcBef>
                <a:spcPts val="1910"/>
              </a:spcBef>
            </a:pPr>
            <a:r>
              <a:rPr dirty="0" sz="2800" spc="-25">
                <a:latin typeface="Arial"/>
                <a:cs typeface="Arial"/>
              </a:rPr>
              <a:t>y</a:t>
            </a:r>
            <a:r>
              <a:rPr dirty="0" baseline="-19519" sz="2775" spc="-37">
                <a:latin typeface="Arial"/>
                <a:cs typeface="Arial"/>
              </a:rPr>
              <a:t>2</a:t>
            </a:r>
            <a:endParaRPr baseline="-19519" sz="2775">
              <a:latin typeface="Arial"/>
              <a:cs typeface="Arial"/>
            </a:endParaRPr>
          </a:p>
          <a:p>
            <a:pPr algn="ctr" marL="36195">
              <a:lnSpc>
                <a:spcPct val="100000"/>
              </a:lnSpc>
              <a:spcBef>
                <a:spcPts val="10"/>
              </a:spcBef>
            </a:pPr>
            <a:r>
              <a:rPr dirty="0" sz="3200" spc="-5">
                <a:latin typeface="Arial"/>
                <a:cs typeface="Arial"/>
              </a:rPr>
              <a:t>.</a:t>
            </a:r>
            <a:endParaRPr sz="3200">
              <a:latin typeface="Arial"/>
              <a:cs typeface="Arial"/>
            </a:endParaRPr>
          </a:p>
          <a:p>
            <a:pPr algn="ctr" marL="36830">
              <a:lnSpc>
                <a:spcPct val="100000"/>
              </a:lnSpc>
            </a:pPr>
            <a:r>
              <a:rPr dirty="0" sz="3200" spc="-5">
                <a:latin typeface="Arial"/>
                <a:cs typeface="Arial"/>
              </a:rPr>
              <a:t>.</a:t>
            </a:r>
            <a:endParaRPr sz="3200">
              <a:latin typeface="Arial"/>
              <a:cs typeface="Arial"/>
            </a:endParaRPr>
          </a:p>
          <a:p>
            <a:pPr algn="ctr" marL="36195">
              <a:lnSpc>
                <a:spcPct val="100000"/>
              </a:lnSpc>
            </a:pPr>
            <a:r>
              <a:rPr dirty="0" sz="3200" spc="-5">
                <a:latin typeface="Arial"/>
                <a:cs typeface="Arial"/>
              </a:rPr>
              <a:t>.</a:t>
            </a:r>
            <a:endParaRPr sz="3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765"/>
              </a:spcBef>
            </a:pPr>
            <a:r>
              <a:rPr dirty="0" baseline="14880" sz="4200" spc="-37">
                <a:latin typeface="Arial"/>
                <a:cs typeface="Arial"/>
              </a:rPr>
              <a:t>y</a:t>
            </a:r>
            <a:r>
              <a:rPr dirty="0" sz="2100" spc="-25">
                <a:latin typeface="Arial"/>
                <a:cs typeface="Arial"/>
              </a:rPr>
              <a:t>60</a:t>
            </a:r>
            <a:endParaRPr sz="21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78739" y="5582818"/>
            <a:ext cx="1752600" cy="3511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00">
                <a:latin typeface="Arial"/>
                <a:cs typeface="Arial"/>
              </a:rPr>
              <a:t>matriks</a:t>
            </a:r>
            <a:r>
              <a:rPr dirty="0" sz="2100" spc="330">
                <a:latin typeface="Arial"/>
                <a:cs typeface="Arial"/>
              </a:rPr>
              <a:t> </a:t>
            </a:r>
            <a:r>
              <a:rPr dirty="0" sz="2100">
                <a:latin typeface="Arial"/>
                <a:cs typeface="Arial"/>
              </a:rPr>
              <a:t>60</a:t>
            </a:r>
            <a:r>
              <a:rPr dirty="0" sz="2100" spc="50">
                <a:latin typeface="Arial"/>
                <a:cs typeface="Arial"/>
              </a:rPr>
              <a:t> </a:t>
            </a:r>
            <a:r>
              <a:rPr dirty="0" sz="2100">
                <a:latin typeface="Arial"/>
                <a:cs typeface="Arial"/>
              </a:rPr>
              <a:t>x</a:t>
            </a:r>
            <a:r>
              <a:rPr dirty="0" sz="2100" spc="25">
                <a:latin typeface="Arial"/>
                <a:cs typeface="Arial"/>
              </a:rPr>
              <a:t> </a:t>
            </a:r>
            <a:r>
              <a:rPr dirty="0" sz="2100" spc="-50">
                <a:latin typeface="Arial"/>
                <a:cs typeface="Arial"/>
              </a:rPr>
              <a:t>1</a:t>
            </a:r>
            <a:endParaRPr sz="21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075558" y="5582818"/>
            <a:ext cx="758825" cy="3511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00">
                <a:latin typeface="Arial"/>
                <a:cs typeface="Arial"/>
              </a:rPr>
              <a:t>60</a:t>
            </a:r>
            <a:r>
              <a:rPr dirty="0" sz="2100" spc="10">
                <a:latin typeface="Arial"/>
                <a:cs typeface="Arial"/>
              </a:rPr>
              <a:t> </a:t>
            </a:r>
            <a:r>
              <a:rPr dirty="0" sz="2100">
                <a:latin typeface="Arial"/>
                <a:cs typeface="Arial"/>
              </a:rPr>
              <a:t>x</a:t>
            </a:r>
            <a:r>
              <a:rPr dirty="0" sz="2100" spc="-15">
                <a:latin typeface="Arial"/>
                <a:cs typeface="Arial"/>
              </a:rPr>
              <a:t> </a:t>
            </a:r>
            <a:r>
              <a:rPr dirty="0" sz="2100" spc="-50">
                <a:latin typeface="Arial"/>
                <a:cs typeface="Arial"/>
              </a:rPr>
              <a:t>1</a:t>
            </a:r>
            <a:endParaRPr sz="21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481064" y="5582818"/>
            <a:ext cx="1527175" cy="3511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00">
                <a:latin typeface="Arial"/>
                <a:cs typeface="Arial"/>
              </a:rPr>
              <a:t>matriks</a:t>
            </a:r>
            <a:r>
              <a:rPr dirty="0" sz="2100" spc="-265">
                <a:latin typeface="Arial"/>
                <a:cs typeface="Arial"/>
              </a:rPr>
              <a:t> </a:t>
            </a:r>
            <a:r>
              <a:rPr dirty="0" sz="2100">
                <a:latin typeface="Arial"/>
                <a:cs typeface="Arial"/>
              </a:rPr>
              <a:t>1</a:t>
            </a:r>
            <a:r>
              <a:rPr dirty="0" sz="2100" spc="30">
                <a:latin typeface="Arial"/>
                <a:cs typeface="Arial"/>
              </a:rPr>
              <a:t> </a:t>
            </a:r>
            <a:r>
              <a:rPr dirty="0" sz="2100">
                <a:latin typeface="Arial"/>
                <a:cs typeface="Arial"/>
              </a:rPr>
              <a:t>x</a:t>
            </a:r>
            <a:r>
              <a:rPr dirty="0" sz="2100" spc="40">
                <a:latin typeface="Arial"/>
                <a:cs typeface="Arial"/>
              </a:rPr>
              <a:t> </a:t>
            </a:r>
            <a:r>
              <a:rPr dirty="0" sz="2100" spc="-50">
                <a:latin typeface="Arial"/>
                <a:cs typeface="Arial"/>
              </a:rPr>
              <a:t>1</a:t>
            </a:r>
            <a:endParaRPr sz="2100">
              <a:latin typeface="Arial"/>
              <a:cs typeface="Arial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7299959" y="2471927"/>
            <a:ext cx="990600" cy="993775"/>
            <a:chOff x="7299959" y="2471927"/>
            <a:chExt cx="990600" cy="993775"/>
          </a:xfrm>
        </p:grpSpPr>
        <p:sp>
          <p:nvSpPr>
            <p:cNvPr id="11" name="object 11" descr=""/>
            <p:cNvSpPr/>
            <p:nvPr/>
          </p:nvSpPr>
          <p:spPr>
            <a:xfrm>
              <a:off x="7306055" y="2478023"/>
              <a:ext cx="978535" cy="981710"/>
            </a:xfrm>
            <a:custGeom>
              <a:avLst/>
              <a:gdLst/>
              <a:ahLst/>
              <a:cxnLst/>
              <a:rect l="l" t="t" r="r" b="b"/>
              <a:pathLst>
                <a:path w="978534" h="981710">
                  <a:moveTo>
                    <a:pt x="733805" y="0"/>
                  </a:moveTo>
                  <a:lnTo>
                    <a:pt x="244601" y="0"/>
                  </a:lnTo>
                  <a:lnTo>
                    <a:pt x="244601" y="492251"/>
                  </a:lnTo>
                  <a:lnTo>
                    <a:pt x="0" y="492251"/>
                  </a:lnTo>
                  <a:lnTo>
                    <a:pt x="489203" y="981455"/>
                  </a:lnTo>
                  <a:lnTo>
                    <a:pt x="978408" y="492251"/>
                  </a:lnTo>
                  <a:lnTo>
                    <a:pt x="733805" y="492251"/>
                  </a:lnTo>
                  <a:lnTo>
                    <a:pt x="733805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7306055" y="2478023"/>
              <a:ext cx="978535" cy="981710"/>
            </a:xfrm>
            <a:custGeom>
              <a:avLst/>
              <a:gdLst/>
              <a:ahLst/>
              <a:cxnLst/>
              <a:rect l="l" t="t" r="r" b="b"/>
              <a:pathLst>
                <a:path w="978534" h="981710">
                  <a:moveTo>
                    <a:pt x="978408" y="492251"/>
                  </a:moveTo>
                  <a:lnTo>
                    <a:pt x="733805" y="492251"/>
                  </a:lnTo>
                  <a:lnTo>
                    <a:pt x="733805" y="0"/>
                  </a:lnTo>
                  <a:lnTo>
                    <a:pt x="244601" y="0"/>
                  </a:lnTo>
                  <a:lnTo>
                    <a:pt x="244601" y="492251"/>
                  </a:lnTo>
                  <a:lnTo>
                    <a:pt x="0" y="492251"/>
                  </a:lnTo>
                  <a:lnTo>
                    <a:pt x="489203" y="981455"/>
                  </a:lnTo>
                  <a:lnTo>
                    <a:pt x="978408" y="492251"/>
                  </a:lnTo>
                  <a:close/>
                </a:path>
              </a:pathLst>
            </a:custGeom>
            <a:ln w="12192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/>
          <p:nvPr/>
        </p:nvSpPr>
        <p:spPr>
          <a:xfrm>
            <a:off x="5855208" y="3611879"/>
            <a:ext cx="628015" cy="85725"/>
          </a:xfrm>
          <a:custGeom>
            <a:avLst/>
            <a:gdLst/>
            <a:ahLst/>
            <a:cxnLst/>
            <a:rect l="l" t="t" r="r" b="b"/>
            <a:pathLst>
              <a:path w="628014" h="85725">
                <a:moveTo>
                  <a:pt x="0" y="75819"/>
                </a:moveTo>
                <a:lnTo>
                  <a:pt x="323468" y="0"/>
                </a:lnTo>
                <a:lnTo>
                  <a:pt x="627888" y="85344"/>
                </a:lnTo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5911341" y="3631514"/>
            <a:ext cx="3093085" cy="17322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sz="4000" i="1">
                <a:latin typeface="Arial"/>
                <a:cs typeface="Arial"/>
              </a:rPr>
              <a:t>b</a:t>
            </a:r>
            <a:r>
              <a:rPr dirty="0" baseline="-20964" sz="3975" i="1">
                <a:latin typeface="Arial"/>
                <a:cs typeface="Arial"/>
              </a:rPr>
              <a:t>1</a:t>
            </a:r>
            <a:r>
              <a:rPr dirty="0" baseline="-20964" sz="3975" spc="-15" i="1">
                <a:latin typeface="Arial"/>
                <a:cs typeface="Arial"/>
              </a:rPr>
              <a:t> </a:t>
            </a:r>
            <a:r>
              <a:rPr dirty="0" sz="4000" i="1">
                <a:latin typeface="Arial"/>
                <a:cs typeface="Arial"/>
              </a:rPr>
              <a:t>=</a:t>
            </a:r>
            <a:r>
              <a:rPr dirty="0" sz="4000" spc="10" i="1">
                <a:latin typeface="Arial"/>
                <a:cs typeface="Arial"/>
              </a:rPr>
              <a:t> </a:t>
            </a:r>
            <a:r>
              <a:rPr dirty="0" sz="4000" spc="-10" i="1">
                <a:latin typeface="Arial"/>
                <a:cs typeface="Arial"/>
              </a:rPr>
              <a:t>(y’y)</a:t>
            </a:r>
            <a:r>
              <a:rPr dirty="0" baseline="25157" sz="3975" spc="-15" i="1">
                <a:latin typeface="Arial"/>
                <a:cs typeface="Arial"/>
              </a:rPr>
              <a:t>-</a:t>
            </a:r>
            <a:r>
              <a:rPr dirty="0" baseline="25157" sz="3975" spc="-30" i="1">
                <a:latin typeface="Arial"/>
                <a:cs typeface="Arial"/>
              </a:rPr>
              <a:t>1</a:t>
            </a:r>
            <a:r>
              <a:rPr dirty="0" sz="4000" spc="-20" i="1">
                <a:latin typeface="Arial"/>
                <a:cs typeface="Arial"/>
              </a:rPr>
              <a:t>.y’c</a:t>
            </a:r>
            <a:endParaRPr sz="40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3820"/>
              </a:spcBef>
            </a:pPr>
            <a:r>
              <a:rPr dirty="0" sz="4000" i="1">
                <a:latin typeface="Arial"/>
                <a:cs typeface="Arial"/>
              </a:rPr>
              <a:t>b</a:t>
            </a:r>
            <a:r>
              <a:rPr dirty="0" baseline="-20964" sz="3975" i="1">
                <a:latin typeface="Arial"/>
                <a:cs typeface="Arial"/>
              </a:rPr>
              <a:t>0</a:t>
            </a:r>
            <a:r>
              <a:rPr dirty="0" baseline="-20964" sz="3975" spc="-22" i="1">
                <a:latin typeface="Arial"/>
                <a:cs typeface="Arial"/>
              </a:rPr>
              <a:t> </a:t>
            </a:r>
            <a:r>
              <a:rPr dirty="0" sz="4000" i="1">
                <a:latin typeface="Arial"/>
                <a:cs typeface="Arial"/>
              </a:rPr>
              <a:t>= c - b</a:t>
            </a:r>
            <a:r>
              <a:rPr dirty="0" baseline="-20964" sz="3975" i="1">
                <a:latin typeface="Arial"/>
                <a:cs typeface="Arial"/>
              </a:rPr>
              <a:t>1</a:t>
            </a:r>
            <a:r>
              <a:rPr dirty="0" baseline="-20964" sz="3975" spc="-22" i="1">
                <a:latin typeface="Arial"/>
                <a:cs typeface="Arial"/>
              </a:rPr>
              <a:t> </a:t>
            </a:r>
            <a:r>
              <a:rPr dirty="0" sz="4000" spc="-50" i="1">
                <a:latin typeface="Arial"/>
                <a:cs typeface="Arial"/>
              </a:rPr>
              <a:t>y</a:t>
            </a:r>
            <a:endParaRPr sz="400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9391015" y="4930851"/>
            <a:ext cx="218440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latin typeface="Arial"/>
                <a:cs typeface="Arial"/>
              </a:rPr>
              <a:t>untuk</a:t>
            </a:r>
            <a:r>
              <a:rPr dirty="0" sz="2400" spc="-5" i="1">
                <a:latin typeface="Arial"/>
                <a:cs typeface="Arial"/>
              </a:rPr>
              <a:t> </a:t>
            </a:r>
            <a:r>
              <a:rPr dirty="0" sz="2400" spc="-10" i="1">
                <a:latin typeface="Arial"/>
                <a:cs typeface="Arial"/>
              </a:rPr>
              <a:t>konstanta</a:t>
            </a:r>
            <a:endParaRPr sz="2400">
              <a:latin typeface="Arial"/>
              <a:cs typeface="Arial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5797296" y="4706111"/>
            <a:ext cx="628015" cy="85725"/>
          </a:xfrm>
          <a:custGeom>
            <a:avLst/>
            <a:gdLst/>
            <a:ahLst/>
            <a:cxnLst/>
            <a:rect l="l" t="t" r="r" b="b"/>
            <a:pathLst>
              <a:path w="628014" h="85725">
                <a:moveTo>
                  <a:pt x="0" y="75818"/>
                </a:moveTo>
                <a:lnTo>
                  <a:pt x="323468" y="0"/>
                </a:lnTo>
                <a:lnTo>
                  <a:pt x="627888" y="85343"/>
                </a:lnTo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7479792" y="4706111"/>
            <a:ext cx="628015" cy="85725"/>
          </a:xfrm>
          <a:custGeom>
            <a:avLst/>
            <a:gdLst/>
            <a:ahLst/>
            <a:cxnLst/>
            <a:rect l="l" t="t" r="r" b="b"/>
            <a:pathLst>
              <a:path w="628015" h="85725">
                <a:moveTo>
                  <a:pt x="0" y="75818"/>
                </a:moveTo>
                <a:lnTo>
                  <a:pt x="323468" y="0"/>
                </a:lnTo>
                <a:lnTo>
                  <a:pt x="627887" y="85343"/>
                </a:lnTo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6981443" y="4866132"/>
            <a:ext cx="315595" cy="0"/>
          </a:xfrm>
          <a:custGeom>
            <a:avLst/>
            <a:gdLst/>
            <a:ahLst/>
            <a:cxnLst/>
            <a:rect l="l" t="t" r="r" b="b"/>
            <a:pathLst>
              <a:path w="315595" h="0">
                <a:moveTo>
                  <a:pt x="0" y="0"/>
                </a:moveTo>
                <a:lnTo>
                  <a:pt x="315340" y="0"/>
                </a:lnTo>
              </a:path>
            </a:pathLst>
          </a:custGeom>
          <a:ln w="274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8215883" y="4872228"/>
            <a:ext cx="315595" cy="0"/>
          </a:xfrm>
          <a:custGeom>
            <a:avLst/>
            <a:gdLst/>
            <a:ahLst/>
            <a:cxnLst/>
            <a:rect l="l" t="t" r="r" b="b"/>
            <a:pathLst>
              <a:path w="315595" h="0">
                <a:moveTo>
                  <a:pt x="0" y="0"/>
                </a:moveTo>
                <a:lnTo>
                  <a:pt x="315341" y="0"/>
                </a:lnTo>
              </a:path>
            </a:pathLst>
          </a:custGeom>
          <a:ln w="274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/>
          <p:nvPr/>
        </p:nvSpPr>
        <p:spPr>
          <a:xfrm>
            <a:off x="1019555" y="2135123"/>
            <a:ext cx="295910" cy="3215640"/>
          </a:xfrm>
          <a:custGeom>
            <a:avLst/>
            <a:gdLst/>
            <a:ahLst/>
            <a:cxnLst/>
            <a:rect l="l" t="t" r="r" b="b"/>
            <a:pathLst>
              <a:path w="295909" h="3215640">
                <a:moveTo>
                  <a:pt x="295656" y="3215640"/>
                </a:moveTo>
                <a:lnTo>
                  <a:pt x="217059" y="3214758"/>
                </a:lnTo>
                <a:lnTo>
                  <a:pt x="146433" y="3212272"/>
                </a:lnTo>
                <a:lnTo>
                  <a:pt x="86596" y="3208416"/>
                </a:lnTo>
                <a:lnTo>
                  <a:pt x="40366" y="3203429"/>
                </a:lnTo>
                <a:lnTo>
                  <a:pt x="0" y="3191002"/>
                </a:lnTo>
                <a:lnTo>
                  <a:pt x="0" y="24637"/>
                </a:lnTo>
                <a:lnTo>
                  <a:pt x="40366" y="12210"/>
                </a:lnTo>
                <a:lnTo>
                  <a:pt x="86596" y="7223"/>
                </a:lnTo>
                <a:lnTo>
                  <a:pt x="146433" y="3367"/>
                </a:lnTo>
                <a:lnTo>
                  <a:pt x="217059" y="881"/>
                </a:lnTo>
                <a:lnTo>
                  <a:pt x="295656" y="0"/>
                </a:lnTo>
              </a:path>
            </a:pathLst>
          </a:custGeom>
          <a:ln w="39623">
            <a:solidFill>
              <a:srgbClr val="5B9B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/>
          <p:nvPr/>
        </p:nvSpPr>
        <p:spPr>
          <a:xfrm>
            <a:off x="2878835" y="2135123"/>
            <a:ext cx="295910" cy="3215640"/>
          </a:xfrm>
          <a:custGeom>
            <a:avLst/>
            <a:gdLst/>
            <a:ahLst/>
            <a:cxnLst/>
            <a:rect l="l" t="t" r="r" b="b"/>
            <a:pathLst>
              <a:path w="295910" h="3215640">
                <a:moveTo>
                  <a:pt x="295656" y="3215640"/>
                </a:moveTo>
                <a:lnTo>
                  <a:pt x="217046" y="3214758"/>
                </a:lnTo>
                <a:lnTo>
                  <a:pt x="146416" y="3212272"/>
                </a:lnTo>
                <a:lnTo>
                  <a:pt x="86582" y="3208416"/>
                </a:lnTo>
                <a:lnTo>
                  <a:pt x="40357" y="3203429"/>
                </a:lnTo>
                <a:lnTo>
                  <a:pt x="0" y="3191002"/>
                </a:lnTo>
                <a:lnTo>
                  <a:pt x="0" y="24637"/>
                </a:lnTo>
                <a:lnTo>
                  <a:pt x="40357" y="12210"/>
                </a:lnTo>
                <a:lnTo>
                  <a:pt x="86582" y="7223"/>
                </a:lnTo>
                <a:lnTo>
                  <a:pt x="146416" y="3367"/>
                </a:lnTo>
                <a:lnTo>
                  <a:pt x="217046" y="881"/>
                </a:lnTo>
                <a:lnTo>
                  <a:pt x="295656" y="0"/>
                </a:lnTo>
              </a:path>
            </a:pathLst>
          </a:custGeom>
          <a:ln w="39623">
            <a:solidFill>
              <a:srgbClr val="5B9B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/>
          <p:nvPr/>
        </p:nvSpPr>
        <p:spPr>
          <a:xfrm>
            <a:off x="1808988" y="2135123"/>
            <a:ext cx="283845" cy="3215640"/>
          </a:xfrm>
          <a:custGeom>
            <a:avLst/>
            <a:gdLst/>
            <a:ahLst/>
            <a:cxnLst/>
            <a:rect l="l" t="t" r="r" b="b"/>
            <a:pathLst>
              <a:path w="283844" h="3215640">
                <a:moveTo>
                  <a:pt x="0" y="0"/>
                </a:moveTo>
                <a:lnTo>
                  <a:pt x="75369" y="841"/>
                </a:lnTo>
                <a:lnTo>
                  <a:pt x="143086" y="3217"/>
                </a:lnTo>
                <a:lnTo>
                  <a:pt x="200453" y="6905"/>
                </a:lnTo>
                <a:lnTo>
                  <a:pt x="244771" y="11684"/>
                </a:lnTo>
                <a:lnTo>
                  <a:pt x="283463" y="23622"/>
                </a:lnTo>
                <a:lnTo>
                  <a:pt x="283463" y="3192017"/>
                </a:lnTo>
                <a:lnTo>
                  <a:pt x="244771" y="3203955"/>
                </a:lnTo>
                <a:lnTo>
                  <a:pt x="200453" y="3208734"/>
                </a:lnTo>
                <a:lnTo>
                  <a:pt x="143086" y="3212422"/>
                </a:lnTo>
                <a:lnTo>
                  <a:pt x="75369" y="3214798"/>
                </a:lnTo>
                <a:lnTo>
                  <a:pt x="0" y="3215640"/>
                </a:lnTo>
              </a:path>
            </a:pathLst>
          </a:custGeom>
          <a:ln w="39624">
            <a:solidFill>
              <a:srgbClr val="5B9B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/>
          <p:nvPr/>
        </p:nvSpPr>
        <p:spPr>
          <a:xfrm>
            <a:off x="3744467" y="2135123"/>
            <a:ext cx="287020" cy="3215640"/>
          </a:xfrm>
          <a:custGeom>
            <a:avLst/>
            <a:gdLst/>
            <a:ahLst/>
            <a:cxnLst/>
            <a:rect l="l" t="t" r="r" b="b"/>
            <a:pathLst>
              <a:path w="287020" h="3215640">
                <a:moveTo>
                  <a:pt x="0" y="0"/>
                </a:moveTo>
                <a:lnTo>
                  <a:pt x="76168" y="851"/>
                </a:lnTo>
                <a:lnTo>
                  <a:pt x="144610" y="3254"/>
                </a:lnTo>
                <a:lnTo>
                  <a:pt x="202596" y="6985"/>
                </a:lnTo>
                <a:lnTo>
                  <a:pt x="247395" y="11815"/>
                </a:lnTo>
                <a:lnTo>
                  <a:pt x="286512" y="23875"/>
                </a:lnTo>
                <a:lnTo>
                  <a:pt x="286512" y="3191764"/>
                </a:lnTo>
                <a:lnTo>
                  <a:pt x="247396" y="3203824"/>
                </a:lnTo>
                <a:lnTo>
                  <a:pt x="202596" y="3208655"/>
                </a:lnTo>
                <a:lnTo>
                  <a:pt x="144610" y="3212385"/>
                </a:lnTo>
                <a:lnTo>
                  <a:pt x="76168" y="3214788"/>
                </a:lnTo>
                <a:lnTo>
                  <a:pt x="0" y="3215640"/>
                </a:lnTo>
              </a:path>
            </a:pathLst>
          </a:custGeom>
          <a:ln w="39623">
            <a:solidFill>
              <a:srgbClr val="5B9B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 txBox="1"/>
          <p:nvPr/>
        </p:nvSpPr>
        <p:spPr>
          <a:xfrm>
            <a:off x="6957916" y="6549694"/>
            <a:ext cx="172085" cy="1924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435"/>
              </a:lnSpc>
            </a:pPr>
            <a:r>
              <a:rPr dirty="0" sz="1500" spc="10">
                <a:latin typeface="Calibri"/>
                <a:cs typeface="Calibri"/>
              </a:rPr>
              <a:t>@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215290" y="6308394"/>
            <a:ext cx="6417945" cy="4464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 sz="1500" spc="-10" b="1">
                <a:latin typeface="Calibri"/>
                <a:cs typeface="Calibri"/>
              </a:rPr>
              <a:t>Department</a:t>
            </a:r>
            <a:r>
              <a:rPr dirty="0" sz="1500" spc="-85" b="1">
                <a:latin typeface="Calibri"/>
                <a:cs typeface="Calibri"/>
              </a:rPr>
              <a:t> </a:t>
            </a:r>
            <a:r>
              <a:rPr dirty="0" sz="1500" b="1">
                <a:latin typeface="Calibri"/>
                <a:cs typeface="Calibri"/>
              </a:rPr>
              <a:t>of</a:t>
            </a:r>
            <a:r>
              <a:rPr dirty="0" sz="1500" spc="5" b="1">
                <a:latin typeface="Calibri"/>
                <a:cs typeface="Calibri"/>
              </a:rPr>
              <a:t> </a:t>
            </a:r>
            <a:r>
              <a:rPr dirty="0" sz="1500" b="1">
                <a:latin typeface="Calibri"/>
                <a:cs typeface="Calibri"/>
              </a:rPr>
              <a:t>Economics</a:t>
            </a:r>
            <a:r>
              <a:rPr dirty="0" sz="1500" spc="-25" b="1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| </a:t>
            </a:r>
            <a:r>
              <a:rPr dirty="0" sz="1500" spc="-10">
                <a:latin typeface="Calibri"/>
                <a:cs typeface="Calibri"/>
              </a:rPr>
              <a:t>Faculty</a:t>
            </a:r>
            <a:r>
              <a:rPr dirty="0" sz="1500" spc="-4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of</a:t>
            </a:r>
            <a:r>
              <a:rPr dirty="0" sz="1500" spc="-5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Economics</a:t>
            </a:r>
            <a:r>
              <a:rPr dirty="0" sz="1500" spc="-2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and</a:t>
            </a:r>
            <a:r>
              <a:rPr dirty="0" sz="1500" spc="-5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Management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500">
                <a:latin typeface="Segoe UI Symbol"/>
                <a:cs typeface="Segoe UI Symbol"/>
              </a:rPr>
              <a:t>☎</a:t>
            </a:r>
            <a:r>
              <a:rPr dirty="0" sz="1500" spc="-114">
                <a:latin typeface="Segoe UI Symbol"/>
                <a:cs typeface="Segoe UI Symbol"/>
              </a:rPr>
              <a:t> </a:t>
            </a:r>
            <a:r>
              <a:rPr dirty="0" sz="1500">
                <a:latin typeface="Calibri"/>
                <a:cs typeface="Calibri"/>
              </a:rPr>
              <a:t>+62</a:t>
            </a:r>
            <a:r>
              <a:rPr dirty="0" sz="1500" spc="-4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251</a:t>
            </a:r>
            <a:r>
              <a:rPr dirty="0" sz="1500" spc="-2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8626602</a:t>
            </a:r>
            <a:r>
              <a:rPr dirty="0" sz="1500" spc="245">
                <a:latin typeface="Calibri"/>
                <a:cs typeface="Calibri"/>
              </a:rPr>
              <a:t> </a:t>
            </a:r>
            <a:r>
              <a:rPr dirty="0" sz="1500">
                <a:latin typeface="Segoe UI Symbol"/>
                <a:cs typeface="Segoe UI Symbol"/>
              </a:rPr>
              <a:t>✉</a:t>
            </a:r>
            <a:r>
              <a:rPr dirty="0" sz="1500" spc="-105">
                <a:latin typeface="Segoe UI Symbol"/>
                <a:cs typeface="Segoe UI Symbol"/>
              </a:rPr>
              <a:t> </a:t>
            </a:r>
            <a:r>
              <a:rPr dirty="0" sz="1500">
                <a:latin typeface="Calibri"/>
                <a:cs typeface="Calibri"/>
                <a:hlinkClick r:id="rId2"/>
              </a:rPr>
              <a:t>ilmu_ekonomi@ipb.ac.id</a:t>
            </a:r>
            <a:r>
              <a:rPr dirty="0" sz="1500" spc="250">
                <a:latin typeface="Calibri"/>
                <a:cs typeface="Calibri"/>
              </a:rPr>
              <a:t> </a:t>
            </a:r>
            <a:r>
              <a:rPr dirty="0" sz="1500" b="1">
                <a:latin typeface="Segoe UI Symbol"/>
                <a:cs typeface="Segoe UI Symbol"/>
              </a:rPr>
              <a:t>🌐</a:t>
            </a:r>
            <a:r>
              <a:rPr dirty="0" sz="1500" spc="-100" b="1">
                <a:latin typeface="Segoe UI Symbol"/>
                <a:cs typeface="Segoe UI Symbol"/>
              </a:rPr>
              <a:t> </a:t>
            </a:r>
            <a:r>
              <a:rPr dirty="0" sz="1500" spc="-10">
                <a:latin typeface="Calibri"/>
                <a:cs typeface="Calibri"/>
                <a:hlinkClick r:id="rId3"/>
              </a:rPr>
              <a:t>http://ekonomi.fem.ipb.ac.id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6" name="object 2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 spc="-10"/>
              <a:t>dept.ieipb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0"/>
              <a:t>Evaluasi</a:t>
            </a:r>
            <a:r>
              <a:rPr dirty="0" spc="-195"/>
              <a:t> </a:t>
            </a:r>
            <a:r>
              <a:rPr dirty="0" spc="-10"/>
              <a:t>Model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6957916" y="6549694"/>
            <a:ext cx="172085" cy="1924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435"/>
              </a:lnSpc>
            </a:pPr>
            <a:r>
              <a:rPr dirty="0" sz="1500" spc="10">
                <a:latin typeface="Calibri"/>
                <a:cs typeface="Calibri"/>
              </a:rPr>
              <a:t>@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15290" y="6308394"/>
            <a:ext cx="6417945" cy="4464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 sz="1500" spc="-10" b="1">
                <a:latin typeface="Calibri"/>
                <a:cs typeface="Calibri"/>
              </a:rPr>
              <a:t>Department</a:t>
            </a:r>
            <a:r>
              <a:rPr dirty="0" sz="1500" spc="-85" b="1">
                <a:latin typeface="Calibri"/>
                <a:cs typeface="Calibri"/>
              </a:rPr>
              <a:t> </a:t>
            </a:r>
            <a:r>
              <a:rPr dirty="0" sz="1500" b="1">
                <a:latin typeface="Calibri"/>
                <a:cs typeface="Calibri"/>
              </a:rPr>
              <a:t>of</a:t>
            </a:r>
            <a:r>
              <a:rPr dirty="0" sz="1500" spc="5" b="1">
                <a:latin typeface="Calibri"/>
                <a:cs typeface="Calibri"/>
              </a:rPr>
              <a:t> </a:t>
            </a:r>
            <a:r>
              <a:rPr dirty="0" sz="1500" b="1">
                <a:latin typeface="Calibri"/>
                <a:cs typeface="Calibri"/>
              </a:rPr>
              <a:t>Economics</a:t>
            </a:r>
            <a:r>
              <a:rPr dirty="0" sz="1500" spc="-25" b="1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| </a:t>
            </a:r>
            <a:r>
              <a:rPr dirty="0" sz="1500" spc="-10">
                <a:latin typeface="Calibri"/>
                <a:cs typeface="Calibri"/>
              </a:rPr>
              <a:t>Faculty</a:t>
            </a:r>
            <a:r>
              <a:rPr dirty="0" sz="1500" spc="-4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of</a:t>
            </a:r>
            <a:r>
              <a:rPr dirty="0" sz="1500" spc="-5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Economics</a:t>
            </a:r>
            <a:r>
              <a:rPr dirty="0" sz="1500" spc="-2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and</a:t>
            </a:r>
            <a:r>
              <a:rPr dirty="0" sz="1500" spc="-5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Management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500">
                <a:latin typeface="Segoe UI Symbol"/>
                <a:cs typeface="Segoe UI Symbol"/>
              </a:rPr>
              <a:t>☎</a:t>
            </a:r>
            <a:r>
              <a:rPr dirty="0" sz="1500" spc="-114">
                <a:latin typeface="Segoe UI Symbol"/>
                <a:cs typeface="Segoe UI Symbol"/>
              </a:rPr>
              <a:t> </a:t>
            </a:r>
            <a:r>
              <a:rPr dirty="0" sz="1500">
                <a:latin typeface="Calibri"/>
                <a:cs typeface="Calibri"/>
              </a:rPr>
              <a:t>+62</a:t>
            </a:r>
            <a:r>
              <a:rPr dirty="0" sz="1500" spc="-4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251</a:t>
            </a:r>
            <a:r>
              <a:rPr dirty="0" sz="1500" spc="-2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8626602</a:t>
            </a:r>
            <a:r>
              <a:rPr dirty="0" sz="1500" spc="245">
                <a:latin typeface="Calibri"/>
                <a:cs typeface="Calibri"/>
              </a:rPr>
              <a:t> </a:t>
            </a:r>
            <a:r>
              <a:rPr dirty="0" sz="1500">
                <a:latin typeface="Segoe UI Symbol"/>
                <a:cs typeface="Segoe UI Symbol"/>
              </a:rPr>
              <a:t>✉</a:t>
            </a:r>
            <a:r>
              <a:rPr dirty="0" sz="1500" spc="-105">
                <a:latin typeface="Segoe UI Symbol"/>
                <a:cs typeface="Segoe UI Symbol"/>
              </a:rPr>
              <a:t> </a:t>
            </a:r>
            <a:r>
              <a:rPr dirty="0" sz="1500">
                <a:latin typeface="Calibri"/>
                <a:cs typeface="Calibri"/>
                <a:hlinkClick r:id="rId2"/>
              </a:rPr>
              <a:t>ilmu_ekonomi@ipb.ac.id</a:t>
            </a:r>
            <a:r>
              <a:rPr dirty="0" sz="1500" spc="250">
                <a:latin typeface="Calibri"/>
                <a:cs typeface="Calibri"/>
              </a:rPr>
              <a:t> </a:t>
            </a:r>
            <a:r>
              <a:rPr dirty="0" sz="1500" b="1">
                <a:latin typeface="Segoe UI Symbol"/>
                <a:cs typeface="Segoe UI Symbol"/>
              </a:rPr>
              <a:t>🌐</a:t>
            </a:r>
            <a:r>
              <a:rPr dirty="0" sz="1500" spc="-100" b="1">
                <a:latin typeface="Segoe UI Symbol"/>
                <a:cs typeface="Segoe UI Symbol"/>
              </a:rPr>
              <a:t> </a:t>
            </a:r>
            <a:r>
              <a:rPr dirty="0" sz="1500" spc="-10">
                <a:latin typeface="Calibri"/>
                <a:cs typeface="Calibri"/>
                <a:hlinkClick r:id="rId3"/>
              </a:rPr>
              <a:t>http://ekonomi.fem.ipb.ac.id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 spc="-10"/>
              <a:t>dept.ieipb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82041" y="1092638"/>
            <a:ext cx="10887710" cy="4787900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795"/>
              </a:spcBef>
            </a:pPr>
            <a:r>
              <a:rPr dirty="0" sz="2600" b="1">
                <a:solidFill>
                  <a:srgbClr val="FF0000"/>
                </a:solidFill>
                <a:latin typeface="Arial"/>
                <a:cs typeface="Arial"/>
              </a:rPr>
              <a:t>Kriteria</a:t>
            </a:r>
            <a:r>
              <a:rPr dirty="0" sz="2600" spc="-5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600" spc="-10" b="1">
                <a:solidFill>
                  <a:srgbClr val="FF0000"/>
                </a:solidFill>
                <a:latin typeface="Arial"/>
                <a:cs typeface="Arial"/>
              </a:rPr>
              <a:t>Ekonomi</a:t>
            </a:r>
            <a:endParaRPr sz="2600">
              <a:latin typeface="Arial"/>
              <a:cs typeface="Arial"/>
            </a:endParaRPr>
          </a:p>
          <a:p>
            <a:pPr marL="50800" marR="17780">
              <a:lnSpc>
                <a:spcPts val="2810"/>
              </a:lnSpc>
              <a:spcBef>
                <a:spcPts val="1045"/>
              </a:spcBef>
            </a:pPr>
            <a:r>
              <a:rPr dirty="0" sz="2600">
                <a:latin typeface="Arial"/>
                <a:cs typeface="Arial"/>
              </a:rPr>
              <a:t>Kriteria</a:t>
            </a:r>
            <a:r>
              <a:rPr dirty="0" sz="2600" spc="-7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ini</a:t>
            </a:r>
            <a:r>
              <a:rPr dirty="0" sz="2600" spc="-6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adalah</a:t>
            </a:r>
            <a:r>
              <a:rPr dirty="0" sz="2600" spc="-5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tanda</a:t>
            </a:r>
            <a:r>
              <a:rPr dirty="0" sz="2600" spc="-5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(</a:t>
            </a:r>
            <a:r>
              <a:rPr dirty="0" sz="2600" i="1">
                <a:solidFill>
                  <a:srgbClr val="FF0000"/>
                </a:solidFill>
                <a:latin typeface="Arial"/>
                <a:cs typeface="Arial"/>
              </a:rPr>
              <a:t>sign</a:t>
            </a:r>
            <a:r>
              <a:rPr dirty="0" sz="2600">
                <a:latin typeface="Arial"/>
                <a:cs typeface="Arial"/>
              </a:rPr>
              <a:t>)</a:t>
            </a:r>
            <a:r>
              <a:rPr dirty="0" sz="2600" spc="-6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dan</a:t>
            </a:r>
            <a:r>
              <a:rPr dirty="0" sz="2600" spc="-5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besaran</a:t>
            </a:r>
            <a:r>
              <a:rPr dirty="0" sz="2600" spc="-5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(</a:t>
            </a:r>
            <a:r>
              <a:rPr dirty="0" sz="2600" i="1">
                <a:solidFill>
                  <a:srgbClr val="FF0000"/>
                </a:solidFill>
                <a:latin typeface="Arial"/>
                <a:cs typeface="Arial"/>
              </a:rPr>
              <a:t>magnitude</a:t>
            </a:r>
            <a:r>
              <a:rPr dirty="0" sz="2600">
                <a:latin typeface="Arial"/>
                <a:cs typeface="Arial"/>
              </a:rPr>
              <a:t>)</a:t>
            </a:r>
            <a:r>
              <a:rPr dirty="0" sz="2600" spc="-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dari</a:t>
            </a:r>
            <a:r>
              <a:rPr dirty="0" sz="2600" spc="-70">
                <a:latin typeface="Arial"/>
                <a:cs typeface="Arial"/>
              </a:rPr>
              <a:t> </a:t>
            </a:r>
            <a:r>
              <a:rPr dirty="0" sz="2600" spc="-10">
                <a:latin typeface="Arial"/>
                <a:cs typeface="Arial"/>
              </a:rPr>
              <a:t>parameter </a:t>
            </a:r>
            <a:r>
              <a:rPr dirty="0" sz="2600">
                <a:latin typeface="Arial"/>
                <a:cs typeface="Arial"/>
              </a:rPr>
              <a:t>dugaan</a:t>
            </a:r>
            <a:r>
              <a:rPr dirty="0" sz="2600" spc="-4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baik</a:t>
            </a:r>
            <a:r>
              <a:rPr dirty="0" sz="2600" spc="-7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konstanta</a:t>
            </a:r>
            <a:r>
              <a:rPr dirty="0" sz="2600" spc="-3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maupun</a:t>
            </a:r>
            <a:r>
              <a:rPr dirty="0" sz="2600" spc="-5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koefisien</a:t>
            </a:r>
            <a:r>
              <a:rPr dirty="0" sz="2600" spc="-3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dugaan.</a:t>
            </a:r>
            <a:r>
              <a:rPr dirty="0" sz="2600" spc="-3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Untuk</a:t>
            </a:r>
            <a:r>
              <a:rPr dirty="0" sz="2600" spc="-7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fungsi</a:t>
            </a:r>
            <a:r>
              <a:rPr dirty="0" sz="2600" spc="-55">
                <a:latin typeface="Arial"/>
                <a:cs typeface="Arial"/>
              </a:rPr>
              <a:t> </a:t>
            </a:r>
            <a:r>
              <a:rPr dirty="0" sz="2600" spc="-10">
                <a:latin typeface="Arial"/>
                <a:cs typeface="Arial"/>
              </a:rPr>
              <a:t>konsumsi, </a:t>
            </a:r>
            <a:r>
              <a:rPr dirty="0" sz="2600">
                <a:latin typeface="Arial"/>
                <a:cs typeface="Arial"/>
              </a:rPr>
              <a:t>hasil</a:t>
            </a:r>
            <a:r>
              <a:rPr dirty="0" sz="2600" spc="-9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regresi</a:t>
            </a:r>
            <a:r>
              <a:rPr dirty="0" sz="2600" spc="-7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seharusnya</a:t>
            </a:r>
            <a:r>
              <a:rPr dirty="0" sz="2600" spc="-35">
                <a:latin typeface="Arial"/>
                <a:cs typeface="Arial"/>
              </a:rPr>
              <a:t> </a:t>
            </a:r>
            <a:r>
              <a:rPr dirty="0" sz="2600" spc="-10">
                <a:latin typeface="Arial"/>
                <a:cs typeface="Arial"/>
              </a:rPr>
              <a:t>menghasilkan:</a:t>
            </a:r>
            <a:endParaRPr sz="2600">
              <a:latin typeface="Arial"/>
              <a:cs typeface="Arial"/>
            </a:endParaRPr>
          </a:p>
          <a:p>
            <a:pPr marL="565785" indent="-515620">
              <a:lnSpc>
                <a:spcPct val="100000"/>
              </a:lnSpc>
              <a:spcBef>
                <a:spcPts val="655"/>
              </a:spcBef>
              <a:buAutoNum type="arabicPeriod"/>
              <a:tabLst>
                <a:tab pos="565785" algn="l"/>
                <a:tab pos="566420" algn="l"/>
              </a:tabLst>
            </a:pPr>
            <a:r>
              <a:rPr dirty="0" sz="2600">
                <a:latin typeface="Arial"/>
                <a:cs typeface="Arial"/>
              </a:rPr>
              <a:t>Konstanta</a:t>
            </a:r>
            <a:r>
              <a:rPr dirty="0" sz="2600" spc="-5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yang</a:t>
            </a:r>
            <a:r>
              <a:rPr dirty="0" sz="2600" spc="-5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positif:</a:t>
            </a:r>
            <a:r>
              <a:rPr dirty="0" sz="2600" spc="-75">
                <a:latin typeface="Arial"/>
                <a:cs typeface="Arial"/>
              </a:rPr>
              <a:t> </a:t>
            </a:r>
            <a:r>
              <a:rPr dirty="0" sz="2600" i="1">
                <a:latin typeface="Arial"/>
                <a:cs typeface="Arial"/>
              </a:rPr>
              <a:t>minimum</a:t>
            </a:r>
            <a:r>
              <a:rPr dirty="0" sz="2600" spc="-50" i="1">
                <a:latin typeface="Arial"/>
                <a:cs typeface="Arial"/>
              </a:rPr>
              <a:t> </a:t>
            </a:r>
            <a:r>
              <a:rPr dirty="0" sz="2600" i="1">
                <a:latin typeface="Arial"/>
                <a:cs typeface="Arial"/>
              </a:rPr>
              <a:t>need</a:t>
            </a:r>
            <a:r>
              <a:rPr dirty="0" sz="2600" spc="-90" i="1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(biasa</a:t>
            </a:r>
            <a:r>
              <a:rPr dirty="0" sz="2600" spc="-9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disebut</a:t>
            </a:r>
            <a:r>
              <a:rPr dirty="0" sz="2600" spc="-5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autonomous</a:t>
            </a:r>
            <a:r>
              <a:rPr dirty="0" sz="2600" spc="-65">
                <a:latin typeface="Arial"/>
                <a:cs typeface="Arial"/>
              </a:rPr>
              <a:t> </a:t>
            </a:r>
            <a:r>
              <a:rPr dirty="0" sz="2600" spc="-25">
                <a:latin typeface="Arial"/>
                <a:cs typeface="Arial"/>
              </a:rPr>
              <a:t>C)</a:t>
            </a:r>
            <a:endParaRPr sz="2600">
              <a:latin typeface="Arial"/>
              <a:cs typeface="Arial"/>
            </a:endParaRPr>
          </a:p>
          <a:p>
            <a:pPr marL="565785" indent="-515620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565785" algn="l"/>
                <a:tab pos="566420" algn="l"/>
              </a:tabLst>
            </a:pPr>
            <a:r>
              <a:rPr dirty="0" sz="2600">
                <a:latin typeface="Arial"/>
                <a:cs typeface="Arial"/>
              </a:rPr>
              <a:t>Koefisien</a:t>
            </a:r>
            <a:r>
              <a:rPr dirty="0" sz="2600" spc="-1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dugaan</a:t>
            </a:r>
            <a:r>
              <a:rPr dirty="0" sz="2600" spc="-3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bernilai</a:t>
            </a:r>
            <a:r>
              <a:rPr dirty="0" sz="2600" spc="-3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antara</a:t>
            </a:r>
            <a:r>
              <a:rPr dirty="0" sz="2600" spc="-3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0</a:t>
            </a:r>
            <a:r>
              <a:rPr dirty="0" sz="2600" spc="-5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dan</a:t>
            </a:r>
            <a:r>
              <a:rPr dirty="0" sz="2600" spc="-5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1:</a:t>
            </a:r>
            <a:r>
              <a:rPr dirty="0" sz="2600" spc="-60">
                <a:latin typeface="Arial"/>
                <a:cs typeface="Arial"/>
              </a:rPr>
              <a:t> </a:t>
            </a:r>
            <a:r>
              <a:rPr dirty="0" sz="2600" spc="-25">
                <a:latin typeface="Arial"/>
                <a:cs typeface="Arial"/>
              </a:rPr>
              <a:t>MPC</a:t>
            </a:r>
            <a:endParaRPr sz="260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2090"/>
              </a:spcBef>
            </a:pPr>
            <a:r>
              <a:rPr dirty="0" sz="2600" b="1">
                <a:solidFill>
                  <a:srgbClr val="FF0000"/>
                </a:solidFill>
                <a:latin typeface="Arial"/>
                <a:cs typeface="Arial"/>
              </a:rPr>
              <a:t>Kriteria</a:t>
            </a:r>
            <a:r>
              <a:rPr dirty="0" sz="2600" spc="-6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600" spc="-10" b="1">
                <a:solidFill>
                  <a:srgbClr val="FF0000"/>
                </a:solidFill>
                <a:latin typeface="Arial"/>
                <a:cs typeface="Arial"/>
              </a:rPr>
              <a:t>Statistika</a:t>
            </a:r>
            <a:endParaRPr sz="260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695"/>
              </a:spcBef>
            </a:pPr>
            <a:r>
              <a:rPr dirty="0" sz="2600">
                <a:latin typeface="Arial"/>
                <a:cs typeface="Arial"/>
              </a:rPr>
              <a:t>Kriteria</a:t>
            </a:r>
            <a:r>
              <a:rPr dirty="0" sz="2600" spc="-5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ini</a:t>
            </a:r>
            <a:r>
              <a:rPr dirty="0" sz="2600" spc="-40">
                <a:latin typeface="Arial"/>
                <a:cs typeface="Arial"/>
              </a:rPr>
              <a:t> </a:t>
            </a:r>
            <a:r>
              <a:rPr dirty="0" sz="2600" spc="-10">
                <a:latin typeface="Arial"/>
                <a:cs typeface="Arial"/>
              </a:rPr>
              <a:t>mencakup:</a:t>
            </a:r>
            <a:endParaRPr sz="2600">
              <a:latin typeface="Arial"/>
              <a:cs typeface="Arial"/>
            </a:endParaRPr>
          </a:p>
          <a:p>
            <a:pPr marL="565785" indent="-515620">
              <a:lnSpc>
                <a:spcPct val="100000"/>
              </a:lnSpc>
              <a:spcBef>
                <a:spcPts val="700"/>
              </a:spcBef>
              <a:buAutoNum type="arabicPeriod"/>
              <a:tabLst>
                <a:tab pos="565785" algn="l"/>
                <a:tab pos="566420" algn="l"/>
              </a:tabLst>
            </a:pPr>
            <a:r>
              <a:rPr dirty="0" sz="2600" i="1">
                <a:latin typeface="Arial"/>
                <a:cs typeface="Arial"/>
              </a:rPr>
              <a:t>Goodness</a:t>
            </a:r>
            <a:r>
              <a:rPr dirty="0" sz="2600" spc="-45" i="1">
                <a:latin typeface="Arial"/>
                <a:cs typeface="Arial"/>
              </a:rPr>
              <a:t> </a:t>
            </a:r>
            <a:r>
              <a:rPr dirty="0" sz="2600" i="1">
                <a:latin typeface="Arial"/>
                <a:cs typeface="Arial"/>
              </a:rPr>
              <a:t>of</a:t>
            </a:r>
            <a:r>
              <a:rPr dirty="0" sz="2600" spc="-80" i="1">
                <a:latin typeface="Arial"/>
                <a:cs typeface="Arial"/>
              </a:rPr>
              <a:t> </a:t>
            </a:r>
            <a:r>
              <a:rPr dirty="0" sz="2600" i="1">
                <a:latin typeface="Arial"/>
                <a:cs typeface="Arial"/>
              </a:rPr>
              <a:t>fit</a:t>
            </a:r>
            <a:r>
              <a:rPr dirty="0" sz="2600" spc="-90" i="1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atau</a:t>
            </a:r>
            <a:r>
              <a:rPr dirty="0" sz="2600" spc="-55">
                <a:latin typeface="Arial"/>
                <a:cs typeface="Arial"/>
              </a:rPr>
              <a:t> </a:t>
            </a:r>
            <a:r>
              <a:rPr dirty="0" sz="2600" b="1">
                <a:latin typeface="Arial"/>
                <a:cs typeface="Arial"/>
              </a:rPr>
              <a:t>kebaiksuaian</a:t>
            </a:r>
            <a:r>
              <a:rPr dirty="0" sz="2600">
                <a:latin typeface="Arial"/>
                <a:cs typeface="Arial"/>
              </a:rPr>
              <a:t>:</a:t>
            </a:r>
            <a:r>
              <a:rPr dirty="0" sz="2600" spc="-2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koefisien</a:t>
            </a:r>
            <a:r>
              <a:rPr dirty="0" sz="2600" spc="-3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determinasi</a:t>
            </a:r>
            <a:r>
              <a:rPr dirty="0" sz="2600" spc="-5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atau</a:t>
            </a:r>
            <a:r>
              <a:rPr dirty="0" sz="2600" spc="-60">
                <a:latin typeface="Arial"/>
                <a:cs typeface="Arial"/>
              </a:rPr>
              <a:t> </a:t>
            </a:r>
            <a:r>
              <a:rPr dirty="0" sz="2600" spc="-25">
                <a:latin typeface="Arial"/>
                <a:cs typeface="Arial"/>
              </a:rPr>
              <a:t>R</a:t>
            </a:r>
            <a:r>
              <a:rPr dirty="0" baseline="26143" sz="2550" spc="-37">
                <a:latin typeface="Arial"/>
                <a:cs typeface="Arial"/>
              </a:rPr>
              <a:t>2</a:t>
            </a:r>
            <a:endParaRPr baseline="26143" sz="2550">
              <a:latin typeface="Arial"/>
              <a:cs typeface="Arial"/>
            </a:endParaRPr>
          </a:p>
          <a:p>
            <a:pPr marL="565785" indent="-515620">
              <a:lnSpc>
                <a:spcPct val="100000"/>
              </a:lnSpc>
              <a:spcBef>
                <a:spcPts val="670"/>
              </a:spcBef>
              <a:buAutoNum type="arabicPeriod"/>
              <a:tabLst>
                <a:tab pos="565785" algn="l"/>
                <a:tab pos="566420" algn="l"/>
              </a:tabLst>
            </a:pPr>
            <a:r>
              <a:rPr dirty="0" sz="2600">
                <a:latin typeface="Arial"/>
                <a:cs typeface="Arial"/>
              </a:rPr>
              <a:t>Uji</a:t>
            </a:r>
            <a:r>
              <a:rPr dirty="0" sz="2600" spc="-7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hipotesis:</a:t>
            </a:r>
            <a:r>
              <a:rPr dirty="0" sz="2600" spc="-1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uji</a:t>
            </a:r>
            <a:r>
              <a:rPr dirty="0" sz="2600" spc="-70">
                <a:latin typeface="Arial"/>
                <a:cs typeface="Arial"/>
              </a:rPr>
              <a:t> </a:t>
            </a:r>
            <a:r>
              <a:rPr dirty="0" sz="2600" spc="-20" i="1">
                <a:latin typeface="Arial"/>
                <a:cs typeface="Arial"/>
              </a:rPr>
              <a:t>t-</a:t>
            </a:r>
            <a:r>
              <a:rPr dirty="0" sz="2600" i="1">
                <a:latin typeface="Arial"/>
                <a:cs typeface="Arial"/>
              </a:rPr>
              <a:t>student;</a:t>
            </a:r>
            <a:r>
              <a:rPr dirty="0" sz="2600" spc="-10" i="1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uji</a:t>
            </a:r>
            <a:r>
              <a:rPr dirty="0" sz="2600" spc="-55">
                <a:latin typeface="Arial"/>
                <a:cs typeface="Arial"/>
              </a:rPr>
              <a:t> </a:t>
            </a:r>
            <a:r>
              <a:rPr dirty="0" sz="2600" spc="-50">
                <a:latin typeface="Arial"/>
                <a:cs typeface="Arial"/>
              </a:rPr>
              <a:t>F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0141" y="427431"/>
            <a:ext cx="3872865" cy="69532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0"/>
              <a:t>Evaluasi</a:t>
            </a:r>
            <a:r>
              <a:rPr dirty="0" spc="-195"/>
              <a:t> </a:t>
            </a:r>
            <a:r>
              <a:rPr dirty="0" spc="-10"/>
              <a:t>Model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07441" y="1156253"/>
            <a:ext cx="11334115" cy="1599565"/>
          </a:xfrm>
          <a:prstGeom prst="rect">
            <a:avLst/>
          </a:prstGeom>
        </p:spPr>
        <p:txBody>
          <a:bodyPr wrap="square" lIns="0" tIns="10477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825"/>
              </a:spcBef>
            </a:pPr>
            <a:r>
              <a:rPr dirty="0" sz="2400" b="1">
                <a:solidFill>
                  <a:srgbClr val="FF0000"/>
                </a:solidFill>
                <a:latin typeface="Arial"/>
                <a:cs typeface="Arial"/>
              </a:rPr>
              <a:t>Koefisien</a:t>
            </a:r>
            <a:r>
              <a:rPr dirty="0" sz="2400" spc="-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FF0000"/>
                </a:solidFill>
                <a:latin typeface="Arial"/>
                <a:cs typeface="Arial"/>
              </a:rPr>
              <a:t>Determinasi</a:t>
            </a:r>
            <a:r>
              <a:rPr dirty="0" sz="2400" spc="-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atau</a:t>
            </a:r>
            <a:r>
              <a:rPr dirty="0" sz="2400" spc="5">
                <a:latin typeface="Arial"/>
                <a:cs typeface="Arial"/>
              </a:rPr>
              <a:t> </a:t>
            </a:r>
            <a:r>
              <a:rPr dirty="0" sz="2400" spc="-25">
                <a:latin typeface="Arial"/>
                <a:cs typeface="Arial"/>
              </a:rPr>
              <a:t>R</a:t>
            </a:r>
            <a:r>
              <a:rPr dirty="0" baseline="24305" sz="2400" spc="-37">
                <a:latin typeface="Arial"/>
                <a:cs typeface="Arial"/>
              </a:rPr>
              <a:t>2</a:t>
            </a:r>
            <a:endParaRPr baseline="24305" sz="2400">
              <a:latin typeface="Arial"/>
              <a:cs typeface="Arial"/>
            </a:endParaRPr>
          </a:p>
          <a:p>
            <a:pPr marL="25400" marR="17780">
              <a:lnSpc>
                <a:spcPct val="90100"/>
              </a:lnSpc>
              <a:spcBef>
                <a:spcPts val="1005"/>
              </a:spcBef>
            </a:pPr>
            <a:r>
              <a:rPr dirty="0" sz="2400">
                <a:latin typeface="Arial"/>
                <a:cs typeface="Arial"/>
              </a:rPr>
              <a:t>Ukuran</a:t>
            </a:r>
            <a:r>
              <a:rPr dirty="0" sz="2400" spc="-3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sejauhmana</a:t>
            </a:r>
            <a:r>
              <a:rPr dirty="0" sz="2400" spc="-8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model</a:t>
            </a:r>
            <a:r>
              <a:rPr dirty="0" sz="2400" spc="-8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mampu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mem-</a:t>
            </a:r>
            <a:r>
              <a:rPr dirty="0" sz="2400" spc="-10" i="1">
                <a:latin typeface="Arial"/>
                <a:cs typeface="Arial"/>
              </a:rPr>
              <a:t>fit</a:t>
            </a:r>
            <a:r>
              <a:rPr dirty="0" sz="2400" spc="-10">
                <a:latin typeface="Arial"/>
                <a:cs typeface="Arial"/>
              </a:rPr>
              <a:t>-</a:t>
            </a:r>
            <a:r>
              <a:rPr dirty="0" sz="2400">
                <a:latin typeface="Arial"/>
                <a:cs typeface="Arial"/>
              </a:rPr>
              <a:t>kan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data.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Nilai</a:t>
            </a:r>
            <a:r>
              <a:rPr dirty="0" sz="2400" spc="-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R</a:t>
            </a:r>
            <a:r>
              <a:rPr dirty="0" baseline="24305" sz="2400">
                <a:latin typeface="Arial"/>
                <a:cs typeface="Arial"/>
              </a:rPr>
              <a:t>2</a:t>
            </a:r>
            <a:r>
              <a:rPr dirty="0" baseline="24305" sz="2400" spc="277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berada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antara</a:t>
            </a:r>
            <a:r>
              <a:rPr dirty="0" sz="2400" spc="-50">
                <a:latin typeface="Arial"/>
                <a:cs typeface="Arial"/>
              </a:rPr>
              <a:t> 0 </a:t>
            </a:r>
            <a:r>
              <a:rPr dirty="0" sz="2400">
                <a:latin typeface="Arial"/>
                <a:cs typeface="Arial"/>
              </a:rPr>
              <a:t>sampai</a:t>
            </a:r>
            <a:r>
              <a:rPr dirty="0" sz="2400" spc="-3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1</a:t>
            </a:r>
            <a:r>
              <a:rPr dirty="0" sz="2400" spc="-2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(100%).</a:t>
            </a:r>
            <a:r>
              <a:rPr dirty="0" sz="2400" spc="-2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Untuk</a:t>
            </a:r>
            <a:r>
              <a:rPr dirty="0" sz="2400" spc="-1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regresi</a:t>
            </a:r>
            <a:r>
              <a:rPr dirty="0" sz="2400" spc="2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dengan data</a:t>
            </a:r>
            <a:r>
              <a:rPr dirty="0" sz="2400" spc="-3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deret</a:t>
            </a:r>
            <a:r>
              <a:rPr dirty="0" sz="2400" spc="-1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waktu,</a:t>
            </a:r>
            <a:r>
              <a:rPr dirty="0" sz="2400" spc="1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tuntutan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R</a:t>
            </a:r>
            <a:r>
              <a:rPr dirty="0" baseline="24305" sz="2400">
                <a:latin typeface="Arial"/>
                <a:cs typeface="Arial"/>
              </a:rPr>
              <a:t>2</a:t>
            </a:r>
            <a:r>
              <a:rPr dirty="0" baseline="24305" sz="2400" spc="322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lebih</a:t>
            </a:r>
            <a:r>
              <a:rPr dirty="0" sz="2400" spc="-1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tinggi </a:t>
            </a:r>
            <a:r>
              <a:rPr dirty="0" sz="2400">
                <a:latin typeface="Arial"/>
                <a:cs typeface="Arial"/>
              </a:rPr>
              <a:t>darpada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data</a:t>
            </a:r>
            <a:r>
              <a:rPr dirty="0" sz="2400" spc="-2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kerat</a:t>
            </a:r>
            <a:r>
              <a:rPr dirty="0" sz="2400" spc="-4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lintang.</a:t>
            </a:r>
            <a:r>
              <a:rPr dirty="0" sz="2400" spc="-40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R</a:t>
            </a:r>
            <a:r>
              <a:rPr dirty="0" baseline="24305" sz="2400" b="1">
                <a:latin typeface="Arial"/>
                <a:cs typeface="Arial"/>
              </a:rPr>
              <a:t>2</a:t>
            </a:r>
            <a:r>
              <a:rPr dirty="0" baseline="24305" sz="2400" spc="277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akan</a:t>
            </a:r>
            <a:r>
              <a:rPr dirty="0" sz="2400" spc="-5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semakin</a:t>
            </a:r>
            <a:r>
              <a:rPr dirty="0" sz="2400" spc="-55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besar</a:t>
            </a:r>
            <a:r>
              <a:rPr dirty="0" sz="2400" spc="-4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bila</a:t>
            </a:r>
            <a:r>
              <a:rPr dirty="0" sz="2400" spc="-55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variabel</a:t>
            </a:r>
            <a:r>
              <a:rPr dirty="0" sz="2400" spc="-25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bebas</a:t>
            </a:r>
            <a:r>
              <a:rPr dirty="0" sz="2400" spc="-30" b="1">
                <a:latin typeface="Arial"/>
                <a:cs typeface="Arial"/>
              </a:rPr>
              <a:t> </a:t>
            </a:r>
            <a:r>
              <a:rPr dirty="0" sz="2400" spc="-10" b="1">
                <a:latin typeface="Arial"/>
                <a:cs typeface="Arial"/>
              </a:rPr>
              <a:t>ditambah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484878" y="3166364"/>
            <a:ext cx="10293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latin typeface="Arial"/>
                <a:cs typeface="Arial"/>
              </a:rPr>
              <a:t>dimana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94741" y="3785757"/>
            <a:ext cx="10834370" cy="2181225"/>
          </a:xfrm>
          <a:prstGeom prst="rect">
            <a:avLst/>
          </a:prstGeom>
        </p:spPr>
        <p:txBody>
          <a:bodyPr wrap="square" lIns="0" tIns="10350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815"/>
              </a:spcBef>
            </a:pPr>
            <a:r>
              <a:rPr dirty="0" sz="2400" b="1">
                <a:solidFill>
                  <a:srgbClr val="FF0000"/>
                </a:solidFill>
                <a:latin typeface="Arial"/>
                <a:cs typeface="Arial"/>
              </a:rPr>
              <a:t>Uji</a:t>
            </a:r>
            <a:r>
              <a:rPr dirty="0" sz="2400" spc="-4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400" spc="-50" b="1">
                <a:solidFill>
                  <a:srgbClr val="FF0000"/>
                </a:solidFill>
                <a:latin typeface="Arial"/>
                <a:cs typeface="Arial"/>
              </a:rPr>
              <a:t>t</a:t>
            </a:r>
            <a:endParaRPr sz="2400">
              <a:latin typeface="Arial"/>
              <a:cs typeface="Arial"/>
            </a:endParaRPr>
          </a:p>
          <a:p>
            <a:pPr marL="38100">
              <a:lnSpc>
                <a:spcPts val="2740"/>
              </a:lnSpc>
              <a:spcBef>
                <a:spcPts val="720"/>
              </a:spcBef>
            </a:pPr>
            <a:r>
              <a:rPr dirty="0" sz="2400">
                <a:latin typeface="Arial"/>
                <a:cs typeface="Arial"/>
              </a:rPr>
              <a:t>Adalah</a:t>
            </a:r>
            <a:r>
              <a:rPr dirty="0" sz="2400" spc="-1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uji</a:t>
            </a:r>
            <a:r>
              <a:rPr dirty="0" sz="2400" spc="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hipotesis</a:t>
            </a:r>
            <a:r>
              <a:rPr dirty="0" sz="2400" spc="-1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terhadap</a:t>
            </a:r>
            <a:r>
              <a:rPr dirty="0" sz="2400" spc="-1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koefisien</a:t>
            </a:r>
            <a:r>
              <a:rPr dirty="0" sz="2400" spc="-4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dugaan</a:t>
            </a:r>
            <a:r>
              <a:rPr dirty="0" sz="2400" spc="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secara</a:t>
            </a:r>
            <a:r>
              <a:rPr dirty="0" sz="2400" spc="2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masing-</a:t>
            </a:r>
            <a:r>
              <a:rPr dirty="0" sz="2400">
                <a:latin typeface="Arial"/>
                <a:cs typeface="Arial"/>
              </a:rPr>
              <a:t>masing.</a:t>
            </a:r>
            <a:r>
              <a:rPr dirty="0" sz="2400" spc="-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Sebagai</a:t>
            </a:r>
            <a:endParaRPr sz="2400">
              <a:latin typeface="Arial"/>
              <a:cs typeface="Arial"/>
            </a:endParaRPr>
          </a:p>
          <a:p>
            <a:pPr marL="38100">
              <a:lnSpc>
                <a:spcPts val="2740"/>
              </a:lnSpc>
            </a:pPr>
            <a:r>
              <a:rPr dirty="0" sz="2400">
                <a:latin typeface="Arial"/>
                <a:cs typeface="Arial"/>
              </a:rPr>
              <a:t>contoh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untuk</a:t>
            </a:r>
            <a:r>
              <a:rPr dirty="0" sz="2400" spc="-2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fungsi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konsumsi,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pengujian</a:t>
            </a:r>
            <a:r>
              <a:rPr dirty="0" sz="2400" spc="-3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terhadap</a:t>
            </a:r>
            <a:r>
              <a:rPr dirty="0" sz="2400" spc="-25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mpc </a:t>
            </a:r>
            <a:r>
              <a:rPr dirty="0" sz="2400" spc="-10">
                <a:latin typeface="Arial"/>
                <a:cs typeface="Arial"/>
              </a:rPr>
              <a:t>adalah:</a:t>
            </a:r>
            <a:endParaRPr sz="2400">
              <a:latin typeface="Arial"/>
              <a:cs typeface="Arial"/>
            </a:endParaRPr>
          </a:p>
          <a:p>
            <a:pPr marL="38100" marR="9491980">
              <a:lnSpc>
                <a:spcPct val="124200"/>
              </a:lnSpc>
              <a:spcBef>
                <a:spcPts val="25"/>
              </a:spcBef>
            </a:pPr>
            <a:r>
              <a:rPr dirty="0" sz="2400">
                <a:latin typeface="Arial"/>
                <a:cs typeface="Arial"/>
              </a:rPr>
              <a:t>H</a:t>
            </a:r>
            <a:r>
              <a:rPr dirty="0" baseline="-20833" sz="2400">
                <a:latin typeface="Arial"/>
                <a:cs typeface="Arial"/>
              </a:rPr>
              <a:t>0</a:t>
            </a:r>
            <a:r>
              <a:rPr dirty="0" sz="2400">
                <a:latin typeface="Arial"/>
                <a:cs typeface="Arial"/>
              </a:rPr>
              <a:t>:</a:t>
            </a:r>
            <a:r>
              <a:rPr dirty="0" sz="2400" spc="5">
                <a:latin typeface="Arial"/>
                <a:cs typeface="Arial"/>
              </a:rPr>
              <a:t> </a:t>
            </a:r>
            <a:r>
              <a:rPr dirty="0" sz="2400">
                <a:latin typeface="Symbol"/>
                <a:cs typeface="Symbol"/>
              </a:rPr>
              <a:t></a:t>
            </a:r>
            <a:r>
              <a:rPr dirty="0" baseline="-20833" sz="2400">
                <a:latin typeface="Arial"/>
                <a:cs typeface="Arial"/>
              </a:rPr>
              <a:t>1</a:t>
            </a:r>
            <a:r>
              <a:rPr dirty="0" baseline="-20833" sz="2400" spc="22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= </a:t>
            </a:r>
            <a:r>
              <a:rPr dirty="0" sz="2400" spc="-50">
                <a:latin typeface="Arial"/>
                <a:cs typeface="Arial"/>
              </a:rPr>
              <a:t>1 </a:t>
            </a:r>
            <a:r>
              <a:rPr dirty="0" sz="2400">
                <a:latin typeface="Arial"/>
                <a:cs typeface="Arial"/>
              </a:rPr>
              <a:t>H</a:t>
            </a:r>
            <a:r>
              <a:rPr dirty="0" baseline="-20833" sz="2400">
                <a:latin typeface="Arial"/>
                <a:cs typeface="Arial"/>
              </a:rPr>
              <a:t>1</a:t>
            </a:r>
            <a:r>
              <a:rPr dirty="0" sz="2400">
                <a:latin typeface="Arial"/>
                <a:cs typeface="Arial"/>
              </a:rPr>
              <a:t>:</a:t>
            </a:r>
            <a:r>
              <a:rPr dirty="0" sz="2400" spc="5">
                <a:latin typeface="Arial"/>
                <a:cs typeface="Arial"/>
              </a:rPr>
              <a:t> </a:t>
            </a:r>
            <a:r>
              <a:rPr dirty="0" sz="2400">
                <a:latin typeface="Symbol"/>
                <a:cs typeface="Symbol"/>
              </a:rPr>
              <a:t></a:t>
            </a:r>
            <a:r>
              <a:rPr dirty="0" baseline="-20833" sz="2400">
                <a:latin typeface="Arial"/>
                <a:cs typeface="Arial"/>
              </a:rPr>
              <a:t>1</a:t>
            </a:r>
            <a:r>
              <a:rPr dirty="0" baseline="-20833" sz="2400" spc="22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&lt; </a:t>
            </a:r>
            <a:r>
              <a:rPr dirty="0" sz="2400" spc="-50"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52742" y="2818951"/>
            <a:ext cx="3907790" cy="8077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64845" marR="43180" indent="-627380">
              <a:lnSpc>
                <a:spcPct val="116599"/>
              </a:lnSpc>
              <a:spcBef>
                <a:spcPts val="95"/>
              </a:spcBef>
              <a:tabLst>
                <a:tab pos="1845945" algn="l"/>
                <a:tab pos="3395345" algn="l"/>
              </a:tabLst>
            </a:pPr>
            <a:r>
              <a:rPr dirty="0" baseline="-34090" sz="3300" spc="82" i="1">
                <a:latin typeface="Times New Roman"/>
                <a:cs typeface="Times New Roman"/>
              </a:rPr>
              <a:t>R</a:t>
            </a:r>
            <a:r>
              <a:rPr dirty="0" baseline="-16460" sz="2025" spc="82">
                <a:latin typeface="Times New Roman"/>
                <a:cs typeface="Times New Roman"/>
              </a:rPr>
              <a:t>2</a:t>
            </a:r>
            <a:r>
              <a:rPr dirty="0" baseline="-16460" sz="2025" spc="675">
                <a:latin typeface="Times New Roman"/>
                <a:cs typeface="Times New Roman"/>
              </a:rPr>
              <a:t> </a:t>
            </a:r>
            <a:r>
              <a:rPr dirty="0" baseline="-34090" sz="3300">
                <a:latin typeface="Symbol"/>
                <a:cs typeface="Symbol"/>
              </a:rPr>
              <a:t></a:t>
            </a:r>
            <a:r>
              <a:rPr dirty="0" baseline="-34090" sz="3300" spc="434">
                <a:latin typeface="Times New Roman"/>
                <a:cs typeface="Times New Roman"/>
              </a:rPr>
              <a:t> </a:t>
            </a:r>
            <a:r>
              <a:rPr dirty="0" u="sng" sz="220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ESS</a:t>
            </a:r>
            <a:r>
              <a:rPr dirty="0" sz="2200" spc="260" i="1">
                <a:latin typeface="Times New Roman"/>
                <a:cs typeface="Times New Roman"/>
              </a:rPr>
              <a:t> </a:t>
            </a:r>
            <a:r>
              <a:rPr dirty="0" baseline="-34090" sz="3300">
                <a:latin typeface="Symbol"/>
                <a:cs typeface="Symbol"/>
              </a:rPr>
              <a:t></a:t>
            </a:r>
            <a:r>
              <a:rPr dirty="0" baseline="-34090" sz="3300" spc="209">
                <a:latin typeface="Times New Roman"/>
                <a:cs typeface="Times New Roman"/>
              </a:rPr>
              <a:t> </a:t>
            </a:r>
            <a:r>
              <a:rPr dirty="0" u="sng" sz="220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TSS</a:t>
            </a:r>
            <a:r>
              <a:rPr dirty="0" u="sng" sz="2200" spc="9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20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</a:t>
            </a:r>
            <a:r>
              <a:rPr dirty="0" u="sng" sz="2200" spc="6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20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RSS</a:t>
            </a:r>
            <a:r>
              <a:rPr dirty="0" sz="2200" spc="260" i="1">
                <a:latin typeface="Times New Roman"/>
                <a:cs typeface="Times New Roman"/>
              </a:rPr>
              <a:t> </a:t>
            </a:r>
            <a:r>
              <a:rPr dirty="0" baseline="-34090" sz="3300">
                <a:latin typeface="Symbol"/>
                <a:cs typeface="Symbol"/>
              </a:rPr>
              <a:t></a:t>
            </a:r>
            <a:r>
              <a:rPr dirty="0" baseline="-34090" sz="3300" spc="-202">
                <a:latin typeface="Times New Roman"/>
                <a:cs typeface="Times New Roman"/>
              </a:rPr>
              <a:t> </a:t>
            </a:r>
            <a:r>
              <a:rPr dirty="0" baseline="-34090" sz="3300">
                <a:latin typeface="Times New Roman"/>
                <a:cs typeface="Times New Roman"/>
              </a:rPr>
              <a:t>1</a:t>
            </a:r>
            <a:r>
              <a:rPr dirty="0" baseline="-34090" sz="3300" spc="-450">
                <a:latin typeface="Times New Roman"/>
                <a:cs typeface="Times New Roman"/>
              </a:rPr>
              <a:t> </a:t>
            </a:r>
            <a:r>
              <a:rPr dirty="0" baseline="-34090" sz="3300">
                <a:latin typeface="Symbol"/>
                <a:cs typeface="Symbol"/>
              </a:rPr>
              <a:t></a:t>
            </a:r>
            <a:r>
              <a:rPr dirty="0" baseline="-34090" sz="3300" spc="277">
                <a:latin typeface="Times New Roman"/>
                <a:cs typeface="Times New Roman"/>
              </a:rPr>
              <a:t> </a:t>
            </a:r>
            <a:r>
              <a:rPr dirty="0" u="sng" sz="2200" spc="-25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RSS</a:t>
            </a:r>
            <a:r>
              <a:rPr dirty="0" sz="2200" spc="-25" i="1">
                <a:latin typeface="Times New Roman"/>
                <a:cs typeface="Times New Roman"/>
              </a:rPr>
              <a:t> TSS</a:t>
            </a:r>
            <a:r>
              <a:rPr dirty="0" sz="2200" i="1">
                <a:latin typeface="Times New Roman"/>
                <a:cs typeface="Times New Roman"/>
              </a:rPr>
              <a:t>	</a:t>
            </a:r>
            <a:r>
              <a:rPr dirty="0" sz="2200" spc="-25" i="1">
                <a:latin typeface="Times New Roman"/>
                <a:cs typeface="Times New Roman"/>
              </a:rPr>
              <a:t>TSS</a:t>
            </a:r>
            <a:r>
              <a:rPr dirty="0" sz="2200" i="1">
                <a:latin typeface="Times New Roman"/>
                <a:cs typeface="Times New Roman"/>
              </a:rPr>
              <a:t>	</a:t>
            </a:r>
            <a:r>
              <a:rPr dirty="0" sz="2200" spc="-25" i="1">
                <a:latin typeface="Times New Roman"/>
                <a:cs typeface="Times New Roman"/>
              </a:rPr>
              <a:t>TSS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345947" y="2918460"/>
            <a:ext cx="3919854" cy="680085"/>
          </a:xfrm>
          <a:custGeom>
            <a:avLst/>
            <a:gdLst/>
            <a:ahLst/>
            <a:cxnLst/>
            <a:rect l="l" t="t" r="r" b="b"/>
            <a:pathLst>
              <a:path w="3919854" h="680085">
                <a:moveTo>
                  <a:pt x="0" y="679703"/>
                </a:moveTo>
                <a:lnTo>
                  <a:pt x="3919728" y="679703"/>
                </a:lnTo>
                <a:lnTo>
                  <a:pt x="3919728" y="0"/>
                </a:lnTo>
                <a:lnTo>
                  <a:pt x="0" y="0"/>
                </a:lnTo>
                <a:lnTo>
                  <a:pt x="0" y="679703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8" name="object 8" descr=""/>
          <p:cNvGrpSpPr/>
          <p:nvPr/>
        </p:nvGrpSpPr>
        <p:grpSpPr>
          <a:xfrm>
            <a:off x="5705855" y="2980944"/>
            <a:ext cx="3520440" cy="680085"/>
            <a:chOff x="5705855" y="2980944"/>
            <a:chExt cx="3520440" cy="680085"/>
          </a:xfrm>
        </p:grpSpPr>
        <p:pic>
          <p:nvPicPr>
            <p:cNvPr id="9" name="object 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05855" y="2980944"/>
              <a:ext cx="3520440" cy="679703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6582415" y="3101386"/>
              <a:ext cx="1592580" cy="0"/>
            </a:xfrm>
            <a:custGeom>
              <a:avLst/>
              <a:gdLst/>
              <a:ahLst/>
              <a:cxnLst/>
              <a:rect l="l" t="t" r="r" b="b"/>
              <a:pathLst>
                <a:path w="1592579" h="0">
                  <a:moveTo>
                    <a:pt x="0" y="0"/>
                  </a:moveTo>
                  <a:lnTo>
                    <a:pt x="176710" y="0"/>
                  </a:lnTo>
                </a:path>
                <a:path w="1592579" h="0">
                  <a:moveTo>
                    <a:pt x="1485515" y="0"/>
                  </a:moveTo>
                  <a:lnTo>
                    <a:pt x="1591960" y="0"/>
                  </a:lnTo>
                </a:path>
              </a:pathLst>
            </a:custGeom>
            <a:ln w="1134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8603158" y="2989037"/>
            <a:ext cx="507365" cy="659130"/>
          </a:xfrm>
          <a:prstGeom prst="rect">
            <a:avLst/>
          </a:prstGeom>
        </p:spPr>
        <p:txBody>
          <a:bodyPr wrap="square" lIns="0" tIns="113664" rIns="0" bIns="0" rtlCol="0" vert="horz">
            <a:spAutoFit/>
          </a:bodyPr>
          <a:lstStyle/>
          <a:p>
            <a:pPr marL="128905" marR="5080" indent="-116839">
              <a:lnSpc>
                <a:spcPct val="80000"/>
              </a:lnSpc>
              <a:spcBef>
                <a:spcPts val="894"/>
              </a:spcBef>
            </a:pPr>
            <a:r>
              <a:rPr dirty="0" sz="3200">
                <a:latin typeface="Symbol"/>
                <a:cs typeface="Symbol"/>
              </a:rPr>
              <a:t></a:t>
            </a:r>
            <a:r>
              <a:rPr dirty="0" sz="3200" spc="350">
                <a:latin typeface="Times New Roman"/>
                <a:cs typeface="Times New Roman"/>
              </a:rPr>
              <a:t> </a:t>
            </a:r>
            <a:r>
              <a:rPr dirty="0" sz="1250" spc="-50" i="1">
                <a:latin typeface="Times New Roman"/>
                <a:cs typeface="Times New Roman"/>
              </a:rPr>
              <a:t>i</a:t>
            </a:r>
            <a:r>
              <a:rPr dirty="0" sz="1250" spc="-50" i="1">
                <a:latin typeface="Times New Roman"/>
                <a:cs typeface="Times New Roman"/>
              </a:rPr>
              <a:t> t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6957916" y="6549694"/>
            <a:ext cx="172085" cy="1924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435"/>
              </a:lnSpc>
            </a:pPr>
            <a:r>
              <a:rPr dirty="0" sz="1500" spc="10">
                <a:latin typeface="Calibri"/>
                <a:cs typeface="Calibri"/>
              </a:rPr>
              <a:t>@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215290" y="6308394"/>
            <a:ext cx="6417945" cy="4464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 sz="1500" spc="-10" b="1">
                <a:latin typeface="Calibri"/>
                <a:cs typeface="Calibri"/>
              </a:rPr>
              <a:t>Department</a:t>
            </a:r>
            <a:r>
              <a:rPr dirty="0" sz="1500" spc="-85" b="1">
                <a:latin typeface="Calibri"/>
                <a:cs typeface="Calibri"/>
              </a:rPr>
              <a:t> </a:t>
            </a:r>
            <a:r>
              <a:rPr dirty="0" sz="1500" b="1">
                <a:latin typeface="Calibri"/>
                <a:cs typeface="Calibri"/>
              </a:rPr>
              <a:t>of</a:t>
            </a:r>
            <a:r>
              <a:rPr dirty="0" sz="1500" spc="5" b="1">
                <a:latin typeface="Calibri"/>
                <a:cs typeface="Calibri"/>
              </a:rPr>
              <a:t> </a:t>
            </a:r>
            <a:r>
              <a:rPr dirty="0" sz="1500" b="1">
                <a:latin typeface="Calibri"/>
                <a:cs typeface="Calibri"/>
              </a:rPr>
              <a:t>Economics</a:t>
            </a:r>
            <a:r>
              <a:rPr dirty="0" sz="1500" spc="-25" b="1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| </a:t>
            </a:r>
            <a:r>
              <a:rPr dirty="0" sz="1500" spc="-10">
                <a:latin typeface="Calibri"/>
                <a:cs typeface="Calibri"/>
              </a:rPr>
              <a:t>Faculty</a:t>
            </a:r>
            <a:r>
              <a:rPr dirty="0" sz="1500" spc="-4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of</a:t>
            </a:r>
            <a:r>
              <a:rPr dirty="0" sz="1500" spc="-5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Economics</a:t>
            </a:r>
            <a:r>
              <a:rPr dirty="0" sz="1500" spc="-2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and</a:t>
            </a:r>
            <a:r>
              <a:rPr dirty="0" sz="1500" spc="-5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Management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500">
                <a:latin typeface="Segoe UI Symbol"/>
                <a:cs typeface="Segoe UI Symbol"/>
              </a:rPr>
              <a:t>☎</a:t>
            </a:r>
            <a:r>
              <a:rPr dirty="0" sz="1500" spc="-114">
                <a:latin typeface="Segoe UI Symbol"/>
                <a:cs typeface="Segoe UI Symbol"/>
              </a:rPr>
              <a:t> </a:t>
            </a:r>
            <a:r>
              <a:rPr dirty="0" sz="1500">
                <a:latin typeface="Calibri"/>
                <a:cs typeface="Calibri"/>
              </a:rPr>
              <a:t>+62</a:t>
            </a:r>
            <a:r>
              <a:rPr dirty="0" sz="1500" spc="-4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251</a:t>
            </a:r>
            <a:r>
              <a:rPr dirty="0" sz="1500" spc="-2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8626602</a:t>
            </a:r>
            <a:r>
              <a:rPr dirty="0" sz="1500" spc="245">
                <a:latin typeface="Calibri"/>
                <a:cs typeface="Calibri"/>
              </a:rPr>
              <a:t> </a:t>
            </a:r>
            <a:r>
              <a:rPr dirty="0" sz="1500">
                <a:latin typeface="Segoe UI Symbol"/>
                <a:cs typeface="Segoe UI Symbol"/>
              </a:rPr>
              <a:t>✉</a:t>
            </a:r>
            <a:r>
              <a:rPr dirty="0" sz="1500" spc="-105">
                <a:latin typeface="Segoe UI Symbol"/>
                <a:cs typeface="Segoe UI Symbol"/>
              </a:rPr>
              <a:t> </a:t>
            </a:r>
            <a:r>
              <a:rPr dirty="0" sz="1500">
                <a:latin typeface="Calibri"/>
                <a:cs typeface="Calibri"/>
                <a:hlinkClick r:id="rId3"/>
              </a:rPr>
              <a:t>ilmu_ekonomi@ipb.ac.id</a:t>
            </a:r>
            <a:r>
              <a:rPr dirty="0" sz="1500" spc="250">
                <a:latin typeface="Calibri"/>
                <a:cs typeface="Calibri"/>
              </a:rPr>
              <a:t> </a:t>
            </a:r>
            <a:r>
              <a:rPr dirty="0" sz="1500" b="1">
                <a:latin typeface="Segoe UI Symbol"/>
                <a:cs typeface="Segoe UI Symbol"/>
              </a:rPr>
              <a:t>🌐</a:t>
            </a:r>
            <a:r>
              <a:rPr dirty="0" sz="1500" spc="-100" b="1">
                <a:latin typeface="Segoe UI Symbol"/>
                <a:cs typeface="Segoe UI Symbol"/>
              </a:rPr>
              <a:t> </a:t>
            </a:r>
            <a:r>
              <a:rPr dirty="0" sz="1500" spc="-10">
                <a:latin typeface="Calibri"/>
                <a:cs typeface="Calibri"/>
                <a:hlinkClick r:id="rId4"/>
              </a:rPr>
              <a:t>http://ekonomi.fem.ipb.ac.id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0" name="object 2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 spc="-10"/>
              <a:t>dept.ieipb</a:t>
            </a:r>
          </a:p>
        </p:txBody>
      </p:sp>
      <p:sp>
        <p:nvSpPr>
          <p:cNvPr id="12" name="object 12" descr=""/>
          <p:cNvSpPr txBox="1"/>
          <p:nvPr/>
        </p:nvSpPr>
        <p:spPr>
          <a:xfrm>
            <a:off x="5732203" y="2989037"/>
            <a:ext cx="2065020" cy="659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ts val="3650"/>
              </a:lnSpc>
              <a:spcBef>
                <a:spcPts val="125"/>
              </a:spcBef>
              <a:tabLst>
                <a:tab pos="521970" algn="l"/>
                <a:tab pos="958850" algn="l"/>
                <a:tab pos="1497965" algn="l"/>
                <a:tab pos="2007235" algn="l"/>
              </a:tabLst>
            </a:pPr>
            <a:r>
              <a:rPr dirty="0" sz="3200" spc="-50">
                <a:latin typeface="Symbol"/>
                <a:cs typeface="Symbol"/>
              </a:rPr>
              <a:t></a:t>
            </a:r>
            <a:r>
              <a:rPr dirty="0" sz="3200">
                <a:latin typeface="Times New Roman"/>
                <a:cs typeface="Times New Roman"/>
              </a:rPr>
              <a:t>	</a:t>
            </a:r>
            <a:r>
              <a:rPr dirty="0" sz="1250" spc="-50" i="1">
                <a:latin typeface="Times New Roman"/>
                <a:cs typeface="Times New Roman"/>
              </a:rPr>
              <a:t>t</a:t>
            </a:r>
            <a:r>
              <a:rPr dirty="0" sz="1250" i="1">
                <a:latin typeface="Times New Roman"/>
                <a:cs typeface="Times New Roman"/>
              </a:rPr>
              <a:t>	</a:t>
            </a:r>
            <a:r>
              <a:rPr dirty="0" sz="1250" spc="-50" i="1">
                <a:latin typeface="Times New Roman"/>
                <a:cs typeface="Times New Roman"/>
              </a:rPr>
              <a:t>i</a:t>
            </a:r>
            <a:r>
              <a:rPr dirty="0" sz="1250" i="1">
                <a:latin typeface="Times New Roman"/>
                <a:cs typeface="Times New Roman"/>
              </a:rPr>
              <a:t>	</a:t>
            </a:r>
            <a:r>
              <a:rPr dirty="0" sz="3200" spc="-50">
                <a:latin typeface="Symbol"/>
                <a:cs typeface="Symbol"/>
              </a:rPr>
              <a:t></a:t>
            </a:r>
            <a:r>
              <a:rPr dirty="0" sz="3200">
                <a:latin typeface="Times New Roman"/>
                <a:cs typeface="Times New Roman"/>
              </a:rPr>
              <a:t>	</a:t>
            </a:r>
            <a:r>
              <a:rPr dirty="0" sz="1250" spc="-50" i="1">
                <a:latin typeface="Times New Roman"/>
                <a:cs typeface="Times New Roman"/>
              </a:rPr>
              <a:t>t</a:t>
            </a:r>
            <a:endParaRPr sz="1250">
              <a:latin typeface="Times New Roman"/>
              <a:cs typeface="Times New Roman"/>
            </a:endParaRPr>
          </a:p>
          <a:p>
            <a:pPr marL="128905">
              <a:lnSpc>
                <a:spcPts val="1310"/>
              </a:lnSpc>
              <a:tabLst>
                <a:tab pos="1614170" algn="l"/>
              </a:tabLst>
            </a:pPr>
            <a:r>
              <a:rPr dirty="0" sz="1250" spc="-50" i="1">
                <a:latin typeface="Times New Roman"/>
                <a:cs typeface="Times New Roman"/>
              </a:rPr>
              <a:t>t</a:t>
            </a:r>
            <a:r>
              <a:rPr dirty="0" sz="1250" i="1">
                <a:latin typeface="Times New Roman"/>
                <a:cs typeface="Times New Roman"/>
              </a:rPr>
              <a:t>	</a:t>
            </a:r>
            <a:r>
              <a:rPr dirty="0" sz="1250" spc="-50" i="1">
                <a:latin typeface="Times New Roman"/>
                <a:cs typeface="Times New Roman"/>
              </a:rPr>
              <a:t>t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8926808" y="3057639"/>
            <a:ext cx="147320" cy="353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50" i="1">
                <a:latin typeface="Times New Roman"/>
                <a:cs typeface="Times New Roman"/>
              </a:rPr>
              <a:t>e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6057254" y="2881850"/>
            <a:ext cx="2524125" cy="5645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497965" algn="l"/>
              </a:tabLst>
            </a:pPr>
            <a:r>
              <a:rPr dirty="0" sz="3500" spc="-330">
                <a:latin typeface="Symbol"/>
                <a:cs typeface="Symbol"/>
              </a:rPr>
              <a:t></a:t>
            </a:r>
            <a:r>
              <a:rPr dirty="0" sz="2150" spc="-330" i="1">
                <a:latin typeface="Times New Roman"/>
                <a:cs typeface="Times New Roman"/>
              </a:rPr>
              <a:t>c</a:t>
            </a:r>
            <a:r>
              <a:rPr dirty="0" sz="2150" spc="434" i="1">
                <a:latin typeface="Times New Roman"/>
                <a:cs typeface="Times New Roman"/>
              </a:rPr>
              <a:t> </a:t>
            </a:r>
            <a:r>
              <a:rPr dirty="0" sz="2150">
                <a:latin typeface="Symbol"/>
                <a:cs typeface="Symbol"/>
              </a:rPr>
              <a:t></a:t>
            </a:r>
            <a:r>
              <a:rPr dirty="0" sz="2150" spc="-215">
                <a:latin typeface="Times New Roman"/>
                <a:cs typeface="Times New Roman"/>
              </a:rPr>
              <a:t> </a:t>
            </a:r>
            <a:r>
              <a:rPr dirty="0" sz="2150" i="1">
                <a:latin typeface="Times New Roman"/>
                <a:cs typeface="Times New Roman"/>
              </a:rPr>
              <a:t>c</a:t>
            </a:r>
            <a:r>
              <a:rPr dirty="0" sz="2150" spc="135" i="1">
                <a:latin typeface="Times New Roman"/>
                <a:cs typeface="Times New Roman"/>
              </a:rPr>
              <a:t> </a:t>
            </a:r>
            <a:r>
              <a:rPr dirty="0" sz="3500" spc="-470">
                <a:latin typeface="Symbol"/>
                <a:cs typeface="Symbol"/>
              </a:rPr>
              <a:t></a:t>
            </a:r>
            <a:r>
              <a:rPr dirty="0" sz="3500" spc="300">
                <a:latin typeface="Times New Roman"/>
                <a:cs typeface="Times New Roman"/>
              </a:rPr>
              <a:t> </a:t>
            </a:r>
            <a:r>
              <a:rPr dirty="0" sz="2150" spc="-50">
                <a:latin typeface="Symbol"/>
                <a:cs typeface="Symbol"/>
              </a:rPr>
              <a:t></a:t>
            </a:r>
            <a:r>
              <a:rPr dirty="0" sz="2150">
                <a:latin typeface="Times New Roman"/>
                <a:cs typeface="Times New Roman"/>
              </a:rPr>
              <a:t>	</a:t>
            </a:r>
            <a:r>
              <a:rPr dirty="0" sz="3500" spc="-330">
                <a:latin typeface="Symbol"/>
                <a:cs typeface="Symbol"/>
              </a:rPr>
              <a:t></a:t>
            </a:r>
            <a:r>
              <a:rPr dirty="0" sz="2150" spc="-330" i="1">
                <a:latin typeface="Times New Roman"/>
                <a:cs typeface="Times New Roman"/>
              </a:rPr>
              <a:t>c</a:t>
            </a:r>
            <a:r>
              <a:rPr dirty="0" sz="2150" spc="240" i="1">
                <a:latin typeface="Times New Roman"/>
                <a:cs typeface="Times New Roman"/>
              </a:rPr>
              <a:t> </a:t>
            </a:r>
            <a:r>
              <a:rPr dirty="0" sz="2150">
                <a:latin typeface="Symbol"/>
                <a:cs typeface="Symbol"/>
              </a:rPr>
              <a:t></a:t>
            </a:r>
            <a:r>
              <a:rPr dirty="0" sz="2150" spc="-215">
                <a:latin typeface="Times New Roman"/>
                <a:cs typeface="Times New Roman"/>
              </a:rPr>
              <a:t> </a:t>
            </a:r>
            <a:r>
              <a:rPr dirty="0" sz="2150" i="1">
                <a:latin typeface="Times New Roman"/>
                <a:cs typeface="Times New Roman"/>
              </a:rPr>
              <a:t>c</a:t>
            </a:r>
            <a:r>
              <a:rPr dirty="0" sz="3500">
                <a:latin typeface="Symbol"/>
                <a:cs typeface="Symbol"/>
              </a:rPr>
              <a:t></a:t>
            </a:r>
            <a:r>
              <a:rPr dirty="0" sz="3500" spc="10">
                <a:latin typeface="Times New Roman"/>
                <a:cs typeface="Times New Roman"/>
              </a:rPr>
              <a:t> </a:t>
            </a:r>
            <a:r>
              <a:rPr dirty="0" sz="2150" spc="-50">
                <a:latin typeface="Symbol"/>
                <a:cs typeface="Symbol"/>
              </a:rPr>
              <a:t></a:t>
            </a:r>
            <a:endParaRPr sz="2150">
              <a:latin typeface="Symbol"/>
              <a:cs typeface="Symbo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9060935" y="3049669"/>
            <a:ext cx="105410" cy="2171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50" spc="5">
                <a:latin typeface="Times New Roman"/>
                <a:cs typeface="Times New Roman"/>
              </a:rPr>
              <a:t>2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8252553" y="2990178"/>
            <a:ext cx="105410" cy="2171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50" spc="5">
                <a:latin typeface="Times New Roman"/>
                <a:cs typeface="Times New Roman"/>
              </a:rPr>
              <a:t>2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6837304" y="2990178"/>
            <a:ext cx="105410" cy="2171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50" spc="5">
                <a:latin typeface="Times New Roman"/>
                <a:cs typeface="Times New Roman"/>
              </a:rPr>
              <a:t>2</a:t>
            </a:r>
            <a:endParaRPr sz="12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0141" y="387807"/>
            <a:ext cx="9306560" cy="69532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Spesifikasi</a:t>
            </a:r>
            <a:r>
              <a:rPr dirty="0" spc="-180"/>
              <a:t> </a:t>
            </a:r>
            <a:r>
              <a:rPr dirty="0"/>
              <a:t>Model:</a:t>
            </a:r>
            <a:r>
              <a:rPr dirty="0" spc="-195"/>
              <a:t> </a:t>
            </a:r>
            <a:r>
              <a:rPr dirty="0" spc="-10"/>
              <a:t>Regresi</a:t>
            </a:r>
            <a:r>
              <a:rPr dirty="0" spc="-150"/>
              <a:t> </a:t>
            </a:r>
            <a:r>
              <a:rPr dirty="0" spc="-10"/>
              <a:t>Berganda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6957916" y="6549694"/>
            <a:ext cx="172085" cy="1924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435"/>
              </a:lnSpc>
            </a:pPr>
            <a:r>
              <a:rPr dirty="0" sz="1500" spc="10">
                <a:latin typeface="Calibri"/>
                <a:cs typeface="Calibri"/>
              </a:rPr>
              <a:t>@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15290" y="6308394"/>
            <a:ext cx="6417945" cy="4464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 sz="1500" spc="-10" b="1">
                <a:latin typeface="Calibri"/>
                <a:cs typeface="Calibri"/>
              </a:rPr>
              <a:t>Department</a:t>
            </a:r>
            <a:r>
              <a:rPr dirty="0" sz="1500" spc="-85" b="1">
                <a:latin typeface="Calibri"/>
                <a:cs typeface="Calibri"/>
              </a:rPr>
              <a:t> </a:t>
            </a:r>
            <a:r>
              <a:rPr dirty="0" sz="1500" b="1">
                <a:latin typeface="Calibri"/>
                <a:cs typeface="Calibri"/>
              </a:rPr>
              <a:t>of</a:t>
            </a:r>
            <a:r>
              <a:rPr dirty="0" sz="1500" spc="5" b="1">
                <a:latin typeface="Calibri"/>
                <a:cs typeface="Calibri"/>
              </a:rPr>
              <a:t> </a:t>
            </a:r>
            <a:r>
              <a:rPr dirty="0" sz="1500" b="1">
                <a:latin typeface="Calibri"/>
                <a:cs typeface="Calibri"/>
              </a:rPr>
              <a:t>Economics</a:t>
            </a:r>
            <a:r>
              <a:rPr dirty="0" sz="1500" spc="-25" b="1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| </a:t>
            </a:r>
            <a:r>
              <a:rPr dirty="0" sz="1500" spc="-10">
                <a:latin typeface="Calibri"/>
                <a:cs typeface="Calibri"/>
              </a:rPr>
              <a:t>Faculty</a:t>
            </a:r>
            <a:r>
              <a:rPr dirty="0" sz="1500" spc="-4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of</a:t>
            </a:r>
            <a:r>
              <a:rPr dirty="0" sz="1500" spc="-5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Economics</a:t>
            </a:r>
            <a:r>
              <a:rPr dirty="0" sz="1500" spc="-2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and</a:t>
            </a:r>
            <a:r>
              <a:rPr dirty="0" sz="1500" spc="-5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Management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500">
                <a:latin typeface="Segoe UI Symbol"/>
                <a:cs typeface="Segoe UI Symbol"/>
              </a:rPr>
              <a:t>☎</a:t>
            </a:r>
            <a:r>
              <a:rPr dirty="0" sz="1500" spc="-114">
                <a:latin typeface="Segoe UI Symbol"/>
                <a:cs typeface="Segoe UI Symbol"/>
              </a:rPr>
              <a:t> </a:t>
            </a:r>
            <a:r>
              <a:rPr dirty="0" sz="1500">
                <a:latin typeface="Calibri"/>
                <a:cs typeface="Calibri"/>
              </a:rPr>
              <a:t>+62</a:t>
            </a:r>
            <a:r>
              <a:rPr dirty="0" sz="1500" spc="-4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251</a:t>
            </a:r>
            <a:r>
              <a:rPr dirty="0" sz="1500" spc="-2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8626602</a:t>
            </a:r>
            <a:r>
              <a:rPr dirty="0" sz="1500" spc="245">
                <a:latin typeface="Calibri"/>
                <a:cs typeface="Calibri"/>
              </a:rPr>
              <a:t> </a:t>
            </a:r>
            <a:r>
              <a:rPr dirty="0" sz="1500">
                <a:latin typeface="Segoe UI Symbol"/>
                <a:cs typeface="Segoe UI Symbol"/>
              </a:rPr>
              <a:t>✉</a:t>
            </a:r>
            <a:r>
              <a:rPr dirty="0" sz="1500" spc="-105">
                <a:latin typeface="Segoe UI Symbol"/>
                <a:cs typeface="Segoe UI Symbol"/>
              </a:rPr>
              <a:t> </a:t>
            </a:r>
            <a:r>
              <a:rPr dirty="0" sz="1500">
                <a:latin typeface="Calibri"/>
                <a:cs typeface="Calibri"/>
                <a:hlinkClick r:id="rId2"/>
              </a:rPr>
              <a:t>ilmu_ekonomi@ipb.ac.id</a:t>
            </a:r>
            <a:r>
              <a:rPr dirty="0" sz="1500" spc="250">
                <a:latin typeface="Calibri"/>
                <a:cs typeface="Calibri"/>
              </a:rPr>
              <a:t> </a:t>
            </a:r>
            <a:r>
              <a:rPr dirty="0" sz="1500" b="1">
                <a:latin typeface="Segoe UI Symbol"/>
                <a:cs typeface="Segoe UI Symbol"/>
              </a:rPr>
              <a:t>🌐</a:t>
            </a:r>
            <a:r>
              <a:rPr dirty="0" sz="1500" spc="-100" b="1">
                <a:latin typeface="Segoe UI Symbol"/>
                <a:cs typeface="Segoe UI Symbol"/>
              </a:rPr>
              <a:t> </a:t>
            </a:r>
            <a:r>
              <a:rPr dirty="0" sz="1500" spc="-10">
                <a:latin typeface="Calibri"/>
                <a:cs typeface="Calibri"/>
                <a:hlinkClick r:id="rId3"/>
              </a:rPr>
              <a:t>http://ekonomi.fem.ipb.ac.id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 spc="-10"/>
              <a:t>dept.ieipb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86283" y="1242517"/>
            <a:ext cx="10637520" cy="47428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1650" indent="-451484">
              <a:lnSpc>
                <a:spcPct val="100000"/>
              </a:lnSpc>
              <a:spcBef>
                <a:spcPts val="95"/>
              </a:spcBef>
              <a:buFont typeface="Arial"/>
              <a:buAutoNum type="arabicPeriod"/>
              <a:tabLst>
                <a:tab pos="502284" algn="l"/>
              </a:tabLst>
            </a:pPr>
            <a:r>
              <a:rPr dirty="0" sz="3200" i="1">
                <a:latin typeface="Arial"/>
                <a:cs typeface="Arial"/>
              </a:rPr>
              <a:t>Prod</a:t>
            </a:r>
            <a:r>
              <a:rPr dirty="0" baseline="-19841" sz="3150" i="1">
                <a:latin typeface="Arial"/>
                <a:cs typeface="Arial"/>
              </a:rPr>
              <a:t>i</a:t>
            </a:r>
            <a:r>
              <a:rPr dirty="0" baseline="-19841" sz="3150" spc="390" i="1">
                <a:latin typeface="Arial"/>
                <a:cs typeface="Arial"/>
              </a:rPr>
              <a:t> </a:t>
            </a:r>
            <a:r>
              <a:rPr dirty="0" sz="3200" i="1">
                <a:latin typeface="Arial"/>
                <a:cs typeface="Arial"/>
              </a:rPr>
              <a:t>=</a:t>
            </a:r>
            <a:r>
              <a:rPr dirty="0" sz="3200" spc="-35" i="1">
                <a:latin typeface="Arial"/>
                <a:cs typeface="Arial"/>
              </a:rPr>
              <a:t> </a:t>
            </a:r>
            <a:r>
              <a:rPr dirty="0" sz="3200" i="1">
                <a:latin typeface="Arial"/>
                <a:cs typeface="Arial"/>
              </a:rPr>
              <a:t>b</a:t>
            </a:r>
            <a:r>
              <a:rPr dirty="0" baseline="-19841" sz="3150" i="1">
                <a:latin typeface="Arial"/>
                <a:cs typeface="Arial"/>
              </a:rPr>
              <a:t>0</a:t>
            </a:r>
            <a:r>
              <a:rPr dirty="0" baseline="-19841" sz="3150" spc="367" i="1">
                <a:latin typeface="Arial"/>
                <a:cs typeface="Arial"/>
              </a:rPr>
              <a:t> </a:t>
            </a:r>
            <a:r>
              <a:rPr dirty="0" sz="3200" i="1">
                <a:latin typeface="Arial"/>
                <a:cs typeface="Arial"/>
              </a:rPr>
              <a:t>+</a:t>
            </a:r>
            <a:r>
              <a:rPr dirty="0" sz="3200" spc="-15" i="1">
                <a:latin typeface="Arial"/>
                <a:cs typeface="Arial"/>
              </a:rPr>
              <a:t> </a:t>
            </a:r>
            <a:r>
              <a:rPr dirty="0" sz="3200" i="1">
                <a:latin typeface="Arial"/>
                <a:cs typeface="Arial"/>
              </a:rPr>
              <a:t>b</a:t>
            </a:r>
            <a:r>
              <a:rPr dirty="0" baseline="-19841" sz="3150" i="1">
                <a:latin typeface="Arial"/>
                <a:cs typeface="Arial"/>
              </a:rPr>
              <a:t>1</a:t>
            </a:r>
            <a:r>
              <a:rPr dirty="0" sz="3200" i="1">
                <a:latin typeface="Arial"/>
                <a:cs typeface="Arial"/>
              </a:rPr>
              <a:t>TK</a:t>
            </a:r>
            <a:r>
              <a:rPr dirty="0" baseline="-19841" sz="3150" i="1">
                <a:latin typeface="Arial"/>
                <a:cs typeface="Arial"/>
              </a:rPr>
              <a:t>i</a:t>
            </a:r>
            <a:r>
              <a:rPr dirty="0" baseline="-19841" sz="3150" spc="-15" i="1">
                <a:latin typeface="Arial"/>
                <a:cs typeface="Arial"/>
              </a:rPr>
              <a:t> </a:t>
            </a:r>
            <a:r>
              <a:rPr dirty="0" sz="3200" i="1">
                <a:latin typeface="Arial"/>
                <a:cs typeface="Arial"/>
              </a:rPr>
              <a:t>+</a:t>
            </a:r>
            <a:r>
              <a:rPr dirty="0" sz="3200" spc="-35" i="1">
                <a:latin typeface="Arial"/>
                <a:cs typeface="Arial"/>
              </a:rPr>
              <a:t> </a:t>
            </a:r>
            <a:r>
              <a:rPr dirty="0" sz="3200" i="1">
                <a:latin typeface="Arial"/>
                <a:cs typeface="Arial"/>
              </a:rPr>
              <a:t>b</a:t>
            </a:r>
            <a:r>
              <a:rPr dirty="0" baseline="-19841" sz="3150" i="1">
                <a:latin typeface="Arial"/>
                <a:cs typeface="Arial"/>
              </a:rPr>
              <a:t>2</a:t>
            </a:r>
            <a:r>
              <a:rPr dirty="0" sz="3200" i="1">
                <a:latin typeface="Arial"/>
                <a:cs typeface="Arial"/>
              </a:rPr>
              <a:t>Urea</a:t>
            </a:r>
            <a:r>
              <a:rPr dirty="0" baseline="-19841" sz="3150" i="1">
                <a:latin typeface="Arial"/>
                <a:cs typeface="Arial"/>
              </a:rPr>
              <a:t>i</a:t>
            </a:r>
            <a:r>
              <a:rPr dirty="0" baseline="-19841" sz="3150" spc="397" i="1">
                <a:latin typeface="Arial"/>
                <a:cs typeface="Arial"/>
              </a:rPr>
              <a:t> </a:t>
            </a:r>
            <a:r>
              <a:rPr dirty="0" sz="3200" i="1">
                <a:latin typeface="Arial"/>
                <a:cs typeface="Arial"/>
              </a:rPr>
              <a:t>+</a:t>
            </a:r>
            <a:r>
              <a:rPr dirty="0" sz="3200" spc="-20" i="1">
                <a:latin typeface="Arial"/>
                <a:cs typeface="Arial"/>
              </a:rPr>
              <a:t> </a:t>
            </a:r>
            <a:r>
              <a:rPr dirty="0" sz="3200" spc="-25" b="1" i="1">
                <a:latin typeface="Arial"/>
                <a:cs typeface="Arial"/>
              </a:rPr>
              <a:t>e</a:t>
            </a:r>
            <a:r>
              <a:rPr dirty="0" baseline="-19841" sz="3150" spc="-37" b="1" i="1">
                <a:latin typeface="Arial"/>
                <a:cs typeface="Arial"/>
              </a:rPr>
              <a:t>i</a:t>
            </a:r>
            <a:endParaRPr baseline="-19841" sz="3150">
              <a:latin typeface="Arial"/>
              <a:cs typeface="Arial"/>
            </a:endParaRPr>
          </a:p>
          <a:p>
            <a:pPr marL="501650" indent="-451484">
              <a:lnSpc>
                <a:spcPts val="2855"/>
              </a:lnSpc>
              <a:spcBef>
                <a:spcPts val="3000"/>
              </a:spcBef>
              <a:buFont typeface="Arial"/>
              <a:buAutoNum type="arabicPeriod"/>
              <a:tabLst>
                <a:tab pos="502284" algn="l"/>
                <a:tab pos="7526020" algn="l"/>
              </a:tabLst>
            </a:pPr>
            <a:r>
              <a:rPr dirty="0" sz="3200" i="1">
                <a:latin typeface="Arial"/>
                <a:cs typeface="Arial"/>
              </a:rPr>
              <a:t>Prod</a:t>
            </a:r>
            <a:r>
              <a:rPr dirty="0" baseline="-19841" sz="3150" i="1">
                <a:latin typeface="Arial"/>
                <a:cs typeface="Arial"/>
              </a:rPr>
              <a:t>i</a:t>
            </a:r>
            <a:r>
              <a:rPr dirty="0" baseline="-19841" sz="3150" spc="397" i="1">
                <a:latin typeface="Arial"/>
                <a:cs typeface="Arial"/>
              </a:rPr>
              <a:t> </a:t>
            </a:r>
            <a:r>
              <a:rPr dirty="0" sz="3200" i="1">
                <a:latin typeface="Arial"/>
                <a:cs typeface="Arial"/>
              </a:rPr>
              <a:t>=</a:t>
            </a:r>
            <a:r>
              <a:rPr dirty="0" sz="3200" spc="-35" i="1">
                <a:latin typeface="Arial"/>
                <a:cs typeface="Arial"/>
              </a:rPr>
              <a:t> </a:t>
            </a:r>
            <a:r>
              <a:rPr dirty="0" sz="3200" i="1">
                <a:latin typeface="Arial"/>
                <a:cs typeface="Arial"/>
              </a:rPr>
              <a:t>b</a:t>
            </a:r>
            <a:r>
              <a:rPr dirty="0" baseline="-19841" sz="3150" i="1">
                <a:latin typeface="Arial"/>
                <a:cs typeface="Arial"/>
              </a:rPr>
              <a:t>0</a:t>
            </a:r>
            <a:r>
              <a:rPr dirty="0" baseline="-19841" sz="3150" spc="367" i="1">
                <a:latin typeface="Arial"/>
                <a:cs typeface="Arial"/>
              </a:rPr>
              <a:t> </a:t>
            </a:r>
            <a:r>
              <a:rPr dirty="0" sz="3200" i="1">
                <a:latin typeface="Arial"/>
                <a:cs typeface="Arial"/>
              </a:rPr>
              <a:t>+</a:t>
            </a:r>
            <a:r>
              <a:rPr dirty="0" sz="3200" spc="-10" i="1">
                <a:latin typeface="Arial"/>
                <a:cs typeface="Arial"/>
              </a:rPr>
              <a:t> </a:t>
            </a:r>
            <a:r>
              <a:rPr dirty="0" sz="3200" i="1">
                <a:latin typeface="Arial"/>
                <a:cs typeface="Arial"/>
              </a:rPr>
              <a:t>b</a:t>
            </a:r>
            <a:r>
              <a:rPr dirty="0" baseline="-19841" sz="3150" i="1">
                <a:latin typeface="Arial"/>
                <a:cs typeface="Arial"/>
              </a:rPr>
              <a:t>1</a:t>
            </a:r>
            <a:r>
              <a:rPr dirty="0" sz="3200" i="1">
                <a:latin typeface="Arial"/>
                <a:cs typeface="Arial"/>
              </a:rPr>
              <a:t>TK</a:t>
            </a:r>
            <a:r>
              <a:rPr dirty="0" baseline="-19841" sz="3150" i="1">
                <a:latin typeface="Arial"/>
                <a:cs typeface="Arial"/>
              </a:rPr>
              <a:t>i</a:t>
            </a:r>
            <a:r>
              <a:rPr dirty="0" baseline="-19841" sz="3150" spc="-7" i="1">
                <a:latin typeface="Arial"/>
                <a:cs typeface="Arial"/>
              </a:rPr>
              <a:t> </a:t>
            </a:r>
            <a:r>
              <a:rPr dirty="0" sz="3200" i="1">
                <a:latin typeface="Arial"/>
                <a:cs typeface="Arial"/>
              </a:rPr>
              <a:t>+</a:t>
            </a:r>
            <a:r>
              <a:rPr dirty="0" sz="3200" spc="-35" i="1">
                <a:latin typeface="Arial"/>
                <a:cs typeface="Arial"/>
              </a:rPr>
              <a:t> </a:t>
            </a:r>
            <a:r>
              <a:rPr dirty="0" sz="3200" i="1">
                <a:latin typeface="Arial"/>
                <a:cs typeface="Arial"/>
              </a:rPr>
              <a:t>b</a:t>
            </a:r>
            <a:r>
              <a:rPr dirty="0" baseline="-19841" sz="3150" i="1">
                <a:latin typeface="Arial"/>
                <a:cs typeface="Arial"/>
              </a:rPr>
              <a:t>2</a:t>
            </a:r>
            <a:r>
              <a:rPr dirty="0" sz="3200" i="1">
                <a:latin typeface="Arial"/>
                <a:cs typeface="Arial"/>
              </a:rPr>
              <a:t>Urea</a:t>
            </a:r>
            <a:r>
              <a:rPr dirty="0" baseline="-19841" sz="3150" i="1">
                <a:latin typeface="Arial"/>
                <a:cs typeface="Arial"/>
              </a:rPr>
              <a:t>i</a:t>
            </a:r>
            <a:r>
              <a:rPr dirty="0" baseline="-19841" sz="3150" spc="397" i="1">
                <a:latin typeface="Arial"/>
                <a:cs typeface="Arial"/>
              </a:rPr>
              <a:t> </a:t>
            </a:r>
            <a:r>
              <a:rPr dirty="0" sz="3200" i="1">
                <a:latin typeface="Arial"/>
                <a:cs typeface="Arial"/>
              </a:rPr>
              <a:t>+</a:t>
            </a:r>
            <a:r>
              <a:rPr dirty="0" sz="3200" spc="-10" i="1">
                <a:latin typeface="Arial"/>
                <a:cs typeface="Arial"/>
              </a:rPr>
              <a:t> </a:t>
            </a:r>
            <a:r>
              <a:rPr dirty="0" sz="3200" spc="-10" b="1" i="1">
                <a:latin typeface="Arial"/>
                <a:cs typeface="Arial"/>
              </a:rPr>
              <a:t>b</a:t>
            </a:r>
            <a:r>
              <a:rPr dirty="0" baseline="-19841" sz="3150" spc="-15" b="1" i="1">
                <a:latin typeface="Arial"/>
                <a:cs typeface="Arial"/>
              </a:rPr>
              <a:t>3</a:t>
            </a:r>
            <a:r>
              <a:rPr dirty="0" sz="3200" spc="-10" b="1" i="1">
                <a:latin typeface="Arial"/>
                <a:cs typeface="Arial"/>
              </a:rPr>
              <a:t>Urea</a:t>
            </a:r>
            <a:r>
              <a:rPr dirty="0" baseline="25132" sz="3150" spc="-15" b="1" i="1">
                <a:latin typeface="Arial"/>
                <a:cs typeface="Arial"/>
              </a:rPr>
              <a:t>2</a:t>
            </a:r>
            <a:r>
              <a:rPr dirty="0" baseline="25132" sz="3150" b="1" i="1">
                <a:latin typeface="Arial"/>
                <a:cs typeface="Arial"/>
              </a:rPr>
              <a:t>	</a:t>
            </a:r>
            <a:r>
              <a:rPr dirty="0" sz="3200" i="1">
                <a:latin typeface="Arial"/>
                <a:cs typeface="Arial"/>
              </a:rPr>
              <a:t>+</a:t>
            </a:r>
            <a:r>
              <a:rPr dirty="0" sz="3200" spc="-15" i="1">
                <a:latin typeface="Arial"/>
                <a:cs typeface="Arial"/>
              </a:rPr>
              <a:t> </a:t>
            </a:r>
            <a:r>
              <a:rPr dirty="0" sz="3200" spc="-50" b="1" i="1">
                <a:latin typeface="Arial"/>
                <a:cs typeface="Arial"/>
              </a:rPr>
              <a:t>u</a:t>
            </a:r>
            <a:endParaRPr sz="3200">
              <a:latin typeface="Arial"/>
              <a:cs typeface="Arial"/>
            </a:endParaRPr>
          </a:p>
          <a:p>
            <a:pPr algn="r" marR="2430145">
              <a:lnSpc>
                <a:spcPts val="1535"/>
              </a:lnSpc>
              <a:tabLst>
                <a:tab pos="789305" algn="l"/>
              </a:tabLst>
            </a:pPr>
            <a:r>
              <a:rPr dirty="0" sz="2100" spc="-50" b="1" i="1">
                <a:latin typeface="Arial"/>
                <a:cs typeface="Arial"/>
              </a:rPr>
              <a:t>i</a:t>
            </a:r>
            <a:r>
              <a:rPr dirty="0" sz="2100" b="1" i="1">
                <a:latin typeface="Arial"/>
                <a:cs typeface="Arial"/>
              </a:rPr>
              <a:t>	</a:t>
            </a:r>
            <a:r>
              <a:rPr dirty="0" sz="2100" spc="-50" b="1" i="1">
                <a:latin typeface="Arial"/>
                <a:cs typeface="Arial"/>
              </a:rPr>
              <a:t>i</a:t>
            </a:r>
            <a:endParaRPr sz="2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100">
              <a:latin typeface="Arial"/>
              <a:cs typeface="Arial"/>
            </a:endParaRPr>
          </a:p>
          <a:p>
            <a:pPr marL="501650" indent="-451484">
              <a:lnSpc>
                <a:spcPct val="100000"/>
              </a:lnSpc>
              <a:buAutoNum type="arabicPeriod" startAt="3"/>
              <a:tabLst>
                <a:tab pos="502284" algn="l"/>
              </a:tabLst>
            </a:pPr>
            <a:r>
              <a:rPr dirty="0" sz="3200">
                <a:latin typeface="Arial"/>
                <a:cs typeface="Arial"/>
              </a:rPr>
              <a:t>Log</a:t>
            </a:r>
            <a:r>
              <a:rPr dirty="0" sz="3200" spc="-55">
                <a:latin typeface="Arial"/>
                <a:cs typeface="Arial"/>
              </a:rPr>
              <a:t> </a:t>
            </a:r>
            <a:r>
              <a:rPr dirty="0" sz="3200">
                <a:latin typeface="Arial"/>
                <a:cs typeface="Arial"/>
              </a:rPr>
              <a:t>model:</a:t>
            </a:r>
            <a:r>
              <a:rPr dirty="0" sz="3200" spc="-80">
                <a:latin typeface="Arial"/>
                <a:cs typeface="Arial"/>
              </a:rPr>
              <a:t> </a:t>
            </a:r>
            <a:r>
              <a:rPr dirty="0" sz="3200" i="1">
                <a:latin typeface="Arial"/>
                <a:cs typeface="Arial"/>
              </a:rPr>
              <a:t>LnProd</a:t>
            </a:r>
            <a:r>
              <a:rPr dirty="0" baseline="-19841" sz="3150" i="1">
                <a:latin typeface="Arial"/>
                <a:cs typeface="Arial"/>
              </a:rPr>
              <a:t>i</a:t>
            </a:r>
            <a:r>
              <a:rPr dirty="0" baseline="-19841" sz="3150" spc="375" i="1">
                <a:latin typeface="Arial"/>
                <a:cs typeface="Arial"/>
              </a:rPr>
              <a:t> </a:t>
            </a:r>
            <a:r>
              <a:rPr dirty="0" sz="3200" i="1">
                <a:latin typeface="Arial"/>
                <a:cs typeface="Arial"/>
              </a:rPr>
              <a:t>=</a:t>
            </a:r>
            <a:r>
              <a:rPr dirty="0" sz="3200" spc="-50" i="1">
                <a:latin typeface="Arial"/>
                <a:cs typeface="Arial"/>
              </a:rPr>
              <a:t> </a:t>
            </a:r>
            <a:r>
              <a:rPr dirty="0" sz="3200" i="1">
                <a:latin typeface="Arial"/>
                <a:cs typeface="Arial"/>
              </a:rPr>
              <a:t>b</a:t>
            </a:r>
            <a:r>
              <a:rPr dirty="0" baseline="-19841" sz="3150" i="1">
                <a:latin typeface="Arial"/>
                <a:cs typeface="Arial"/>
              </a:rPr>
              <a:t>0</a:t>
            </a:r>
            <a:r>
              <a:rPr dirty="0" baseline="-19841" sz="3150" spc="382" i="1">
                <a:latin typeface="Arial"/>
                <a:cs typeface="Arial"/>
              </a:rPr>
              <a:t> </a:t>
            </a:r>
            <a:r>
              <a:rPr dirty="0" sz="3200" i="1">
                <a:latin typeface="Arial"/>
                <a:cs typeface="Arial"/>
              </a:rPr>
              <a:t>+</a:t>
            </a:r>
            <a:r>
              <a:rPr dirty="0" sz="3200" spc="-50" i="1">
                <a:latin typeface="Arial"/>
                <a:cs typeface="Arial"/>
              </a:rPr>
              <a:t> </a:t>
            </a:r>
            <a:r>
              <a:rPr dirty="0" sz="3200" i="1">
                <a:latin typeface="Arial"/>
                <a:cs typeface="Arial"/>
              </a:rPr>
              <a:t>b</a:t>
            </a:r>
            <a:r>
              <a:rPr dirty="0" baseline="-19841" sz="3150" i="1">
                <a:latin typeface="Arial"/>
                <a:cs typeface="Arial"/>
              </a:rPr>
              <a:t>1</a:t>
            </a:r>
            <a:r>
              <a:rPr dirty="0" sz="3200" i="1">
                <a:latin typeface="Arial"/>
                <a:cs typeface="Arial"/>
              </a:rPr>
              <a:t>LnTK</a:t>
            </a:r>
            <a:r>
              <a:rPr dirty="0" baseline="-19841" sz="3150" i="1">
                <a:latin typeface="Arial"/>
                <a:cs typeface="Arial"/>
              </a:rPr>
              <a:t>i</a:t>
            </a:r>
            <a:r>
              <a:rPr dirty="0" baseline="-19841" sz="3150" spc="-30" i="1">
                <a:latin typeface="Arial"/>
                <a:cs typeface="Arial"/>
              </a:rPr>
              <a:t> </a:t>
            </a:r>
            <a:r>
              <a:rPr dirty="0" sz="3200" i="1">
                <a:latin typeface="Arial"/>
                <a:cs typeface="Arial"/>
              </a:rPr>
              <a:t>+</a:t>
            </a:r>
            <a:r>
              <a:rPr dirty="0" sz="3200" spc="-50" i="1">
                <a:latin typeface="Arial"/>
                <a:cs typeface="Arial"/>
              </a:rPr>
              <a:t> </a:t>
            </a:r>
            <a:r>
              <a:rPr dirty="0" sz="3200" i="1">
                <a:latin typeface="Arial"/>
                <a:cs typeface="Arial"/>
              </a:rPr>
              <a:t>b</a:t>
            </a:r>
            <a:r>
              <a:rPr dirty="0" baseline="-19841" sz="3150" i="1">
                <a:latin typeface="Arial"/>
                <a:cs typeface="Arial"/>
              </a:rPr>
              <a:t>2</a:t>
            </a:r>
            <a:r>
              <a:rPr dirty="0" sz="3200" i="1">
                <a:latin typeface="Arial"/>
                <a:cs typeface="Arial"/>
              </a:rPr>
              <a:t>LnUrea</a:t>
            </a:r>
            <a:r>
              <a:rPr dirty="0" baseline="-19841" sz="3150" i="1">
                <a:latin typeface="Arial"/>
                <a:cs typeface="Arial"/>
              </a:rPr>
              <a:t>i</a:t>
            </a:r>
            <a:r>
              <a:rPr dirty="0" baseline="-19841" sz="3150" spc="412" i="1">
                <a:latin typeface="Arial"/>
                <a:cs typeface="Arial"/>
              </a:rPr>
              <a:t> </a:t>
            </a:r>
            <a:r>
              <a:rPr dirty="0" sz="3200" i="1">
                <a:latin typeface="Arial"/>
                <a:cs typeface="Arial"/>
              </a:rPr>
              <a:t>+</a:t>
            </a:r>
            <a:r>
              <a:rPr dirty="0" sz="3200" spc="-50" i="1">
                <a:latin typeface="Arial"/>
                <a:cs typeface="Arial"/>
              </a:rPr>
              <a:t> </a:t>
            </a:r>
            <a:r>
              <a:rPr dirty="0" sz="3200" spc="-25" b="1" i="1">
                <a:latin typeface="Arial"/>
                <a:cs typeface="Arial"/>
              </a:rPr>
              <a:t>v</a:t>
            </a:r>
            <a:r>
              <a:rPr dirty="0" baseline="-19841" sz="3150" spc="-37" b="1" i="1">
                <a:latin typeface="Arial"/>
                <a:cs typeface="Arial"/>
              </a:rPr>
              <a:t>i</a:t>
            </a:r>
            <a:endParaRPr baseline="-19841" sz="3150">
              <a:latin typeface="Arial"/>
              <a:cs typeface="Arial"/>
            </a:endParaRPr>
          </a:p>
          <a:p>
            <a:pPr marL="501650">
              <a:lnSpc>
                <a:spcPct val="100000"/>
              </a:lnSpc>
              <a:spcBef>
                <a:spcPts val="1205"/>
              </a:spcBef>
            </a:pPr>
            <a:r>
              <a:rPr dirty="0" sz="3200">
                <a:latin typeface="Arial"/>
                <a:cs typeface="Arial"/>
              </a:rPr>
              <a:t>Fungsi</a:t>
            </a:r>
            <a:r>
              <a:rPr dirty="0" sz="3200" spc="-95">
                <a:latin typeface="Arial"/>
                <a:cs typeface="Arial"/>
              </a:rPr>
              <a:t> </a:t>
            </a:r>
            <a:r>
              <a:rPr dirty="0" sz="3200">
                <a:latin typeface="Arial"/>
                <a:cs typeface="Arial"/>
              </a:rPr>
              <a:t>produksi</a:t>
            </a:r>
            <a:r>
              <a:rPr dirty="0" sz="3200" spc="-90">
                <a:latin typeface="Arial"/>
                <a:cs typeface="Arial"/>
              </a:rPr>
              <a:t> </a:t>
            </a:r>
            <a:r>
              <a:rPr dirty="0" sz="3200">
                <a:latin typeface="Arial"/>
                <a:cs typeface="Arial"/>
              </a:rPr>
              <a:t>ini</a:t>
            </a:r>
            <a:r>
              <a:rPr dirty="0" sz="3200" spc="-80">
                <a:latin typeface="Arial"/>
                <a:cs typeface="Arial"/>
              </a:rPr>
              <a:t> </a:t>
            </a:r>
            <a:r>
              <a:rPr dirty="0" sz="3200">
                <a:latin typeface="Arial"/>
                <a:cs typeface="Arial"/>
              </a:rPr>
              <a:t>disebut</a:t>
            </a:r>
            <a:r>
              <a:rPr dirty="0" sz="3200" spc="-114">
                <a:latin typeface="Arial"/>
                <a:cs typeface="Arial"/>
              </a:rPr>
              <a:t> </a:t>
            </a:r>
            <a:r>
              <a:rPr dirty="0" sz="3200">
                <a:latin typeface="Arial"/>
                <a:cs typeface="Arial"/>
              </a:rPr>
              <a:t>dengan</a:t>
            </a:r>
            <a:r>
              <a:rPr dirty="0" sz="3200" spc="-95">
                <a:latin typeface="Arial"/>
                <a:cs typeface="Arial"/>
              </a:rPr>
              <a:t> </a:t>
            </a:r>
            <a:r>
              <a:rPr dirty="0" sz="3200">
                <a:latin typeface="Arial"/>
                <a:cs typeface="Arial"/>
              </a:rPr>
              <a:t>fungsi</a:t>
            </a:r>
            <a:r>
              <a:rPr dirty="0" sz="3200" spc="-100">
                <a:latin typeface="Arial"/>
                <a:cs typeface="Arial"/>
              </a:rPr>
              <a:t> </a:t>
            </a:r>
            <a:r>
              <a:rPr dirty="0" sz="3200" spc="-30" b="1">
                <a:latin typeface="Arial"/>
                <a:cs typeface="Arial"/>
              </a:rPr>
              <a:t>Cob-</a:t>
            </a:r>
            <a:r>
              <a:rPr dirty="0" sz="3200" spc="-10" b="1">
                <a:latin typeface="Arial"/>
                <a:cs typeface="Arial"/>
              </a:rPr>
              <a:t>Douglas</a:t>
            </a:r>
            <a:endParaRPr sz="3200">
              <a:latin typeface="Arial"/>
              <a:cs typeface="Arial"/>
            </a:endParaRPr>
          </a:p>
          <a:p>
            <a:pPr marL="501650" indent="-451484">
              <a:lnSpc>
                <a:spcPct val="100000"/>
              </a:lnSpc>
              <a:spcBef>
                <a:spcPts val="3000"/>
              </a:spcBef>
              <a:buAutoNum type="arabicPeriod" startAt="4"/>
              <a:tabLst>
                <a:tab pos="502284" algn="l"/>
              </a:tabLst>
            </a:pPr>
            <a:r>
              <a:rPr dirty="0" sz="3200">
                <a:latin typeface="Arial"/>
                <a:cs typeface="Arial"/>
              </a:rPr>
              <a:t>Fungsi</a:t>
            </a:r>
            <a:r>
              <a:rPr dirty="0" sz="3200" spc="-125">
                <a:latin typeface="Arial"/>
                <a:cs typeface="Arial"/>
              </a:rPr>
              <a:t> </a:t>
            </a:r>
            <a:r>
              <a:rPr dirty="0" sz="3200">
                <a:latin typeface="Arial"/>
                <a:cs typeface="Arial"/>
              </a:rPr>
              <a:t>produksi</a:t>
            </a:r>
            <a:r>
              <a:rPr dirty="0" sz="3200" spc="-120">
                <a:latin typeface="Arial"/>
                <a:cs typeface="Arial"/>
              </a:rPr>
              <a:t> </a:t>
            </a:r>
            <a:r>
              <a:rPr dirty="0" sz="3200" spc="-10">
                <a:latin typeface="Arial"/>
                <a:cs typeface="Arial"/>
              </a:rPr>
              <a:t>translog:</a:t>
            </a:r>
            <a:endParaRPr sz="3200">
              <a:latin typeface="Arial"/>
              <a:cs typeface="Arial"/>
            </a:endParaRPr>
          </a:p>
          <a:p>
            <a:pPr marL="484505" marR="808355">
              <a:lnSpc>
                <a:spcPct val="107200"/>
              </a:lnSpc>
              <a:spcBef>
                <a:spcPts val="530"/>
              </a:spcBef>
              <a:tabLst>
                <a:tab pos="3929379" algn="l"/>
                <a:tab pos="9611995" algn="l"/>
              </a:tabLst>
            </a:pPr>
            <a:r>
              <a:rPr dirty="0" sz="2800" i="1">
                <a:latin typeface="Arial"/>
                <a:cs typeface="Arial"/>
              </a:rPr>
              <a:t>lnProd</a:t>
            </a:r>
            <a:r>
              <a:rPr dirty="0" baseline="-19519" sz="2775" i="1">
                <a:latin typeface="Arial"/>
                <a:cs typeface="Arial"/>
              </a:rPr>
              <a:t>i</a:t>
            </a:r>
            <a:r>
              <a:rPr dirty="0" baseline="-19519" sz="2775" spc="390" i="1">
                <a:latin typeface="Arial"/>
                <a:cs typeface="Arial"/>
              </a:rPr>
              <a:t> </a:t>
            </a:r>
            <a:r>
              <a:rPr dirty="0" sz="2800" i="1">
                <a:latin typeface="Arial"/>
                <a:cs typeface="Arial"/>
              </a:rPr>
              <a:t>=</a:t>
            </a:r>
            <a:r>
              <a:rPr dirty="0" sz="2800" spc="-20" i="1">
                <a:latin typeface="Arial"/>
                <a:cs typeface="Arial"/>
              </a:rPr>
              <a:t> </a:t>
            </a:r>
            <a:r>
              <a:rPr dirty="0" sz="2800" i="1">
                <a:latin typeface="Arial"/>
                <a:cs typeface="Arial"/>
              </a:rPr>
              <a:t>b</a:t>
            </a:r>
            <a:r>
              <a:rPr dirty="0" baseline="-19519" sz="2775" i="1">
                <a:latin typeface="Arial"/>
                <a:cs typeface="Arial"/>
              </a:rPr>
              <a:t>0</a:t>
            </a:r>
            <a:r>
              <a:rPr dirty="0" baseline="-19519" sz="2775" spc="7" i="1">
                <a:latin typeface="Arial"/>
                <a:cs typeface="Arial"/>
              </a:rPr>
              <a:t> </a:t>
            </a:r>
            <a:r>
              <a:rPr dirty="0" sz="2800" i="1">
                <a:latin typeface="Arial"/>
                <a:cs typeface="Arial"/>
              </a:rPr>
              <a:t>+</a:t>
            </a:r>
            <a:r>
              <a:rPr dirty="0" sz="2800" spc="-25" i="1">
                <a:latin typeface="Arial"/>
                <a:cs typeface="Arial"/>
              </a:rPr>
              <a:t> </a:t>
            </a:r>
            <a:r>
              <a:rPr dirty="0" sz="2800" i="1">
                <a:latin typeface="Arial"/>
                <a:cs typeface="Arial"/>
              </a:rPr>
              <a:t>b</a:t>
            </a:r>
            <a:r>
              <a:rPr dirty="0" baseline="-19519" sz="2775" i="1">
                <a:latin typeface="Arial"/>
                <a:cs typeface="Arial"/>
              </a:rPr>
              <a:t>1</a:t>
            </a:r>
            <a:r>
              <a:rPr dirty="0" baseline="-19519" sz="2775" spc="7" i="1">
                <a:latin typeface="Arial"/>
                <a:cs typeface="Arial"/>
              </a:rPr>
              <a:t> </a:t>
            </a:r>
            <a:r>
              <a:rPr dirty="0" sz="2800" i="1">
                <a:latin typeface="Arial"/>
                <a:cs typeface="Arial"/>
              </a:rPr>
              <a:t>ln</a:t>
            </a:r>
            <a:r>
              <a:rPr dirty="0" sz="2800" spc="-15" i="1">
                <a:latin typeface="Arial"/>
                <a:cs typeface="Arial"/>
              </a:rPr>
              <a:t> </a:t>
            </a:r>
            <a:r>
              <a:rPr dirty="0" sz="2800" i="1">
                <a:latin typeface="Arial"/>
                <a:cs typeface="Arial"/>
              </a:rPr>
              <a:t>TK</a:t>
            </a:r>
            <a:r>
              <a:rPr dirty="0" baseline="-19519" sz="2775" i="1">
                <a:latin typeface="Arial"/>
                <a:cs typeface="Arial"/>
              </a:rPr>
              <a:t>i </a:t>
            </a:r>
            <a:r>
              <a:rPr dirty="0" sz="2800" i="1">
                <a:latin typeface="Arial"/>
                <a:cs typeface="Arial"/>
              </a:rPr>
              <a:t>+</a:t>
            </a:r>
            <a:r>
              <a:rPr dirty="0" sz="2800" spc="-20" i="1">
                <a:latin typeface="Arial"/>
                <a:cs typeface="Arial"/>
              </a:rPr>
              <a:t> </a:t>
            </a:r>
            <a:r>
              <a:rPr dirty="0" sz="2800" i="1">
                <a:latin typeface="Arial"/>
                <a:cs typeface="Arial"/>
              </a:rPr>
              <a:t>b</a:t>
            </a:r>
            <a:r>
              <a:rPr dirty="0" baseline="-19519" sz="2775" i="1">
                <a:latin typeface="Arial"/>
                <a:cs typeface="Arial"/>
              </a:rPr>
              <a:t>2</a:t>
            </a:r>
            <a:r>
              <a:rPr dirty="0" baseline="-19519" sz="2775" spc="7" i="1">
                <a:latin typeface="Arial"/>
                <a:cs typeface="Arial"/>
              </a:rPr>
              <a:t> </a:t>
            </a:r>
            <a:r>
              <a:rPr dirty="0" sz="2800" i="1">
                <a:latin typeface="Arial"/>
                <a:cs typeface="Arial"/>
              </a:rPr>
              <a:t>((ln Urea</a:t>
            </a:r>
            <a:r>
              <a:rPr dirty="0" baseline="-19519" sz="2775" i="1">
                <a:latin typeface="Arial"/>
                <a:cs typeface="Arial"/>
              </a:rPr>
              <a:t>i</a:t>
            </a:r>
            <a:r>
              <a:rPr dirty="0" sz="2800" i="1">
                <a:latin typeface="Arial"/>
                <a:cs typeface="Arial"/>
              </a:rPr>
              <a:t>)</a:t>
            </a:r>
            <a:r>
              <a:rPr dirty="0" baseline="25525" sz="2775" i="1">
                <a:latin typeface="Arial"/>
                <a:cs typeface="Arial"/>
              </a:rPr>
              <a:t>2</a:t>
            </a:r>
            <a:r>
              <a:rPr dirty="0" sz="2800" i="1">
                <a:latin typeface="Arial"/>
                <a:cs typeface="Arial"/>
              </a:rPr>
              <a:t>/2)</a:t>
            </a:r>
            <a:r>
              <a:rPr dirty="0" sz="2800" spc="10" i="1">
                <a:latin typeface="Arial"/>
                <a:cs typeface="Arial"/>
              </a:rPr>
              <a:t> </a:t>
            </a:r>
            <a:r>
              <a:rPr dirty="0" sz="2800" i="1">
                <a:latin typeface="Arial"/>
                <a:cs typeface="Arial"/>
              </a:rPr>
              <a:t>+</a:t>
            </a:r>
            <a:r>
              <a:rPr dirty="0" sz="2800" spc="-20" i="1">
                <a:latin typeface="Arial"/>
                <a:cs typeface="Arial"/>
              </a:rPr>
              <a:t> </a:t>
            </a:r>
            <a:r>
              <a:rPr dirty="0" sz="2800" i="1">
                <a:latin typeface="Arial"/>
                <a:cs typeface="Arial"/>
              </a:rPr>
              <a:t>b</a:t>
            </a:r>
            <a:r>
              <a:rPr dirty="0" baseline="-19519" sz="2775" i="1">
                <a:latin typeface="Arial"/>
                <a:cs typeface="Arial"/>
              </a:rPr>
              <a:t>3</a:t>
            </a:r>
            <a:r>
              <a:rPr dirty="0" baseline="-19519" sz="2775" spc="7" i="1">
                <a:latin typeface="Arial"/>
                <a:cs typeface="Arial"/>
              </a:rPr>
              <a:t> </a:t>
            </a:r>
            <a:r>
              <a:rPr dirty="0" sz="2800" i="1">
                <a:latin typeface="Arial"/>
                <a:cs typeface="Arial"/>
              </a:rPr>
              <a:t>((ln</a:t>
            </a:r>
            <a:r>
              <a:rPr dirty="0" sz="2800" spc="-20" i="1">
                <a:latin typeface="Arial"/>
                <a:cs typeface="Arial"/>
              </a:rPr>
              <a:t> </a:t>
            </a:r>
            <a:r>
              <a:rPr dirty="0" sz="2800" spc="-10" i="1">
                <a:latin typeface="Arial"/>
                <a:cs typeface="Arial"/>
              </a:rPr>
              <a:t>TK</a:t>
            </a:r>
            <a:r>
              <a:rPr dirty="0" baseline="-19519" sz="2775" spc="-15" i="1">
                <a:latin typeface="Arial"/>
                <a:cs typeface="Arial"/>
              </a:rPr>
              <a:t>i</a:t>
            </a:r>
            <a:r>
              <a:rPr dirty="0" sz="2800" spc="-10" i="1">
                <a:latin typeface="Arial"/>
                <a:cs typeface="Arial"/>
              </a:rPr>
              <a:t>)</a:t>
            </a:r>
            <a:r>
              <a:rPr dirty="0" baseline="25525" sz="2775" spc="-15" i="1">
                <a:latin typeface="Arial"/>
                <a:cs typeface="Arial"/>
              </a:rPr>
              <a:t>2</a:t>
            </a:r>
            <a:r>
              <a:rPr dirty="0" sz="2800" spc="-10" i="1">
                <a:latin typeface="Arial"/>
                <a:cs typeface="Arial"/>
              </a:rPr>
              <a:t>/2)</a:t>
            </a:r>
            <a:r>
              <a:rPr dirty="0" sz="2800" i="1">
                <a:latin typeface="Arial"/>
                <a:cs typeface="Arial"/>
              </a:rPr>
              <a:t>	</a:t>
            </a:r>
            <a:r>
              <a:rPr dirty="0" sz="2800" spc="-50" i="1">
                <a:latin typeface="Arial"/>
                <a:cs typeface="Arial"/>
              </a:rPr>
              <a:t>+</a:t>
            </a:r>
            <a:r>
              <a:rPr dirty="0" sz="2800" spc="-50" i="1">
                <a:latin typeface="Arial"/>
                <a:cs typeface="Arial"/>
              </a:rPr>
              <a:t> </a:t>
            </a:r>
            <a:r>
              <a:rPr dirty="0" sz="2800" i="1">
                <a:latin typeface="Arial"/>
                <a:cs typeface="Arial"/>
              </a:rPr>
              <a:t>b</a:t>
            </a:r>
            <a:r>
              <a:rPr dirty="0" baseline="-19519" sz="2775" i="1">
                <a:latin typeface="Arial"/>
                <a:cs typeface="Arial"/>
              </a:rPr>
              <a:t>4 </a:t>
            </a:r>
            <a:r>
              <a:rPr dirty="0" sz="2800" i="1">
                <a:latin typeface="Arial"/>
                <a:cs typeface="Arial"/>
              </a:rPr>
              <a:t>ln</a:t>
            </a:r>
            <a:r>
              <a:rPr dirty="0" sz="2800" spc="-15" i="1">
                <a:latin typeface="Arial"/>
                <a:cs typeface="Arial"/>
              </a:rPr>
              <a:t> </a:t>
            </a:r>
            <a:r>
              <a:rPr dirty="0" sz="2800" i="1">
                <a:latin typeface="Arial"/>
                <a:cs typeface="Arial"/>
              </a:rPr>
              <a:t>Urea</a:t>
            </a:r>
            <a:r>
              <a:rPr dirty="0" baseline="-19519" sz="2775" i="1">
                <a:latin typeface="Arial"/>
                <a:cs typeface="Arial"/>
              </a:rPr>
              <a:t>i</a:t>
            </a:r>
            <a:r>
              <a:rPr dirty="0" baseline="-19519" sz="2775" spc="397" i="1">
                <a:latin typeface="Arial"/>
                <a:cs typeface="Arial"/>
              </a:rPr>
              <a:t> </a:t>
            </a:r>
            <a:r>
              <a:rPr dirty="0" sz="2800" i="1">
                <a:latin typeface="Arial"/>
                <a:cs typeface="Arial"/>
              </a:rPr>
              <a:t>+ b</a:t>
            </a:r>
            <a:r>
              <a:rPr dirty="0" baseline="-19519" sz="2775" i="1">
                <a:latin typeface="Arial"/>
                <a:cs typeface="Arial"/>
              </a:rPr>
              <a:t>5</a:t>
            </a:r>
            <a:r>
              <a:rPr dirty="0" baseline="-19519" sz="2775" spc="367" i="1">
                <a:latin typeface="Arial"/>
                <a:cs typeface="Arial"/>
              </a:rPr>
              <a:t> </a:t>
            </a:r>
            <a:r>
              <a:rPr dirty="0" sz="2800" i="1">
                <a:latin typeface="Arial"/>
                <a:cs typeface="Arial"/>
              </a:rPr>
              <a:t>ln</a:t>
            </a:r>
            <a:r>
              <a:rPr dirty="0" sz="2800" spc="-5" i="1">
                <a:latin typeface="Arial"/>
                <a:cs typeface="Arial"/>
              </a:rPr>
              <a:t> </a:t>
            </a:r>
            <a:r>
              <a:rPr dirty="0" sz="2800" spc="-25" i="1">
                <a:latin typeface="Arial"/>
                <a:cs typeface="Arial"/>
              </a:rPr>
              <a:t>TK</a:t>
            </a:r>
            <a:r>
              <a:rPr dirty="0" baseline="-19519" sz="2775" spc="-37" i="1">
                <a:latin typeface="Arial"/>
                <a:cs typeface="Arial"/>
              </a:rPr>
              <a:t>i</a:t>
            </a:r>
            <a:r>
              <a:rPr dirty="0" baseline="-19519" sz="2775" i="1">
                <a:latin typeface="Arial"/>
                <a:cs typeface="Arial"/>
              </a:rPr>
              <a:t>	</a:t>
            </a:r>
            <a:r>
              <a:rPr dirty="0" sz="2800" i="1">
                <a:latin typeface="Arial"/>
                <a:cs typeface="Arial"/>
              </a:rPr>
              <a:t>ln</a:t>
            </a:r>
            <a:r>
              <a:rPr dirty="0" sz="2800" spc="-25" i="1">
                <a:latin typeface="Arial"/>
                <a:cs typeface="Arial"/>
              </a:rPr>
              <a:t> </a:t>
            </a:r>
            <a:r>
              <a:rPr dirty="0" sz="2800" i="1">
                <a:latin typeface="Arial"/>
                <a:cs typeface="Arial"/>
              </a:rPr>
              <a:t>Urea</a:t>
            </a:r>
            <a:r>
              <a:rPr dirty="0" baseline="-19519" sz="2775" i="1">
                <a:latin typeface="Arial"/>
                <a:cs typeface="Arial"/>
              </a:rPr>
              <a:t>i</a:t>
            </a:r>
            <a:r>
              <a:rPr dirty="0" baseline="-19519" sz="2775" spc="7" i="1">
                <a:latin typeface="Arial"/>
                <a:cs typeface="Arial"/>
              </a:rPr>
              <a:t> </a:t>
            </a:r>
            <a:r>
              <a:rPr dirty="0" sz="2800" i="1">
                <a:latin typeface="Arial"/>
                <a:cs typeface="Arial"/>
              </a:rPr>
              <a:t>+</a:t>
            </a:r>
            <a:r>
              <a:rPr dirty="0" sz="2800" spc="-5" i="1">
                <a:latin typeface="Arial"/>
                <a:cs typeface="Arial"/>
              </a:rPr>
              <a:t> </a:t>
            </a:r>
            <a:r>
              <a:rPr dirty="0" sz="2800" spc="-25" i="1">
                <a:latin typeface="Arial"/>
                <a:cs typeface="Arial"/>
              </a:rPr>
              <a:t>e</a:t>
            </a:r>
            <a:r>
              <a:rPr dirty="0" baseline="-19519" sz="2775" spc="-37" i="1">
                <a:latin typeface="Arial"/>
                <a:cs typeface="Arial"/>
              </a:rPr>
              <a:t>i</a:t>
            </a:r>
            <a:endParaRPr baseline="-19519" sz="2775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0141" y="427431"/>
            <a:ext cx="5756275" cy="69532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Kondisi</a:t>
            </a:r>
            <a:r>
              <a:rPr dirty="0" spc="-175"/>
              <a:t> </a:t>
            </a:r>
            <a:r>
              <a:rPr dirty="0" spc="-35"/>
              <a:t>Gauss-</a:t>
            </a:r>
            <a:r>
              <a:rPr dirty="0" spc="-10"/>
              <a:t>Markov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97763" y="1211321"/>
            <a:ext cx="4538980" cy="1336675"/>
          </a:xfrm>
          <a:prstGeom prst="rect">
            <a:avLst/>
          </a:prstGeom>
        </p:spPr>
        <p:txBody>
          <a:bodyPr wrap="square" lIns="0" tIns="2184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20"/>
              </a:spcBef>
              <a:tabLst>
                <a:tab pos="553085" algn="l"/>
                <a:tab pos="2718435" algn="l"/>
              </a:tabLst>
            </a:pPr>
            <a:r>
              <a:rPr dirty="0" sz="2800" spc="-25" i="1">
                <a:latin typeface="Arial"/>
                <a:cs typeface="Arial"/>
              </a:rPr>
              <a:t>1.</a:t>
            </a:r>
            <a:r>
              <a:rPr dirty="0" sz="2800" i="1">
                <a:latin typeface="Arial"/>
                <a:cs typeface="Arial"/>
              </a:rPr>
              <a:t>	E</a:t>
            </a:r>
            <a:r>
              <a:rPr dirty="0" sz="2800" spc="-35" i="1">
                <a:latin typeface="Arial"/>
                <a:cs typeface="Arial"/>
              </a:rPr>
              <a:t> </a:t>
            </a:r>
            <a:r>
              <a:rPr dirty="0" sz="2800" i="1">
                <a:latin typeface="Arial"/>
                <a:cs typeface="Arial"/>
              </a:rPr>
              <a:t>{</a:t>
            </a:r>
            <a:r>
              <a:rPr dirty="0" sz="2950" i="1">
                <a:latin typeface="Symbol"/>
                <a:cs typeface="Symbol"/>
              </a:rPr>
              <a:t></a:t>
            </a:r>
            <a:r>
              <a:rPr dirty="0" baseline="-19519" sz="2775" i="1">
                <a:latin typeface="Arial"/>
                <a:cs typeface="Arial"/>
              </a:rPr>
              <a:t>i</a:t>
            </a:r>
            <a:r>
              <a:rPr dirty="0" sz="2800" i="1">
                <a:latin typeface="Arial"/>
                <a:cs typeface="Arial"/>
              </a:rPr>
              <a:t>}</a:t>
            </a:r>
            <a:r>
              <a:rPr dirty="0" sz="2800" spc="-10" i="1">
                <a:latin typeface="Arial"/>
                <a:cs typeface="Arial"/>
              </a:rPr>
              <a:t> </a:t>
            </a:r>
            <a:r>
              <a:rPr dirty="0" sz="2800" i="1">
                <a:latin typeface="Arial"/>
                <a:cs typeface="Arial"/>
              </a:rPr>
              <a:t>=</a:t>
            </a:r>
            <a:r>
              <a:rPr dirty="0" sz="2800" spc="-40" i="1">
                <a:latin typeface="Arial"/>
                <a:cs typeface="Arial"/>
              </a:rPr>
              <a:t> </a:t>
            </a:r>
            <a:r>
              <a:rPr dirty="0" sz="2800" i="1">
                <a:latin typeface="Arial"/>
                <a:cs typeface="Arial"/>
              </a:rPr>
              <a:t>0,</a:t>
            </a:r>
            <a:r>
              <a:rPr dirty="0" sz="2800" spc="-15" i="1">
                <a:latin typeface="Arial"/>
                <a:cs typeface="Arial"/>
              </a:rPr>
              <a:t> </a:t>
            </a:r>
            <a:r>
              <a:rPr dirty="0" sz="2800" i="1">
                <a:latin typeface="Arial"/>
                <a:cs typeface="Arial"/>
              </a:rPr>
              <a:t>i</a:t>
            </a:r>
            <a:r>
              <a:rPr dirty="0" sz="2800" spc="-30" i="1">
                <a:latin typeface="Arial"/>
                <a:cs typeface="Arial"/>
              </a:rPr>
              <a:t> </a:t>
            </a:r>
            <a:r>
              <a:rPr dirty="0" sz="2800" spc="-50" i="1">
                <a:latin typeface="Arial"/>
                <a:cs typeface="Arial"/>
              </a:rPr>
              <a:t>=</a:t>
            </a:r>
            <a:r>
              <a:rPr dirty="0" sz="2800" i="1">
                <a:latin typeface="Arial"/>
                <a:cs typeface="Arial"/>
              </a:rPr>
              <a:t>	1,..........,</a:t>
            </a:r>
            <a:r>
              <a:rPr dirty="0" sz="2800" spc="-85" i="1">
                <a:latin typeface="Arial"/>
                <a:cs typeface="Arial"/>
              </a:rPr>
              <a:t> </a:t>
            </a:r>
            <a:r>
              <a:rPr dirty="0" sz="2800" spc="-50" i="1">
                <a:latin typeface="Arial"/>
                <a:cs typeface="Arial"/>
              </a:rPr>
              <a:t>N</a:t>
            </a:r>
            <a:endParaRPr sz="28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1620"/>
              </a:spcBef>
              <a:tabLst>
                <a:tab pos="553085" algn="l"/>
                <a:tab pos="2766695" algn="l"/>
              </a:tabLst>
            </a:pPr>
            <a:r>
              <a:rPr dirty="0" sz="2800" spc="-25" i="1">
                <a:latin typeface="Arial"/>
                <a:cs typeface="Arial"/>
              </a:rPr>
              <a:t>2.</a:t>
            </a:r>
            <a:r>
              <a:rPr dirty="0" sz="2800" i="1">
                <a:latin typeface="Arial"/>
                <a:cs typeface="Arial"/>
              </a:rPr>
              <a:t>	V{</a:t>
            </a:r>
            <a:r>
              <a:rPr dirty="0" sz="2950" i="1">
                <a:latin typeface="Symbol"/>
                <a:cs typeface="Symbol"/>
              </a:rPr>
              <a:t></a:t>
            </a:r>
            <a:r>
              <a:rPr dirty="0" baseline="-19519" sz="2775" i="1">
                <a:latin typeface="Arial"/>
                <a:cs typeface="Arial"/>
              </a:rPr>
              <a:t>i</a:t>
            </a:r>
            <a:r>
              <a:rPr dirty="0" sz="2800" i="1">
                <a:latin typeface="Arial"/>
                <a:cs typeface="Arial"/>
              </a:rPr>
              <a:t>}</a:t>
            </a:r>
            <a:r>
              <a:rPr dirty="0" sz="2800" spc="-35" i="1">
                <a:latin typeface="Arial"/>
                <a:cs typeface="Arial"/>
              </a:rPr>
              <a:t> </a:t>
            </a:r>
            <a:r>
              <a:rPr dirty="0" sz="2800" i="1">
                <a:latin typeface="Arial"/>
                <a:cs typeface="Arial"/>
              </a:rPr>
              <a:t>=</a:t>
            </a:r>
            <a:r>
              <a:rPr dirty="0" sz="2800" spc="-25" i="1">
                <a:latin typeface="Arial"/>
                <a:cs typeface="Arial"/>
              </a:rPr>
              <a:t> </a:t>
            </a:r>
            <a:r>
              <a:rPr dirty="0" sz="2800" i="1">
                <a:latin typeface="Arial"/>
                <a:cs typeface="Arial"/>
              </a:rPr>
              <a:t>σ</a:t>
            </a:r>
            <a:r>
              <a:rPr dirty="0" baseline="25525" sz="2775" i="1">
                <a:latin typeface="Arial"/>
                <a:cs typeface="Arial"/>
              </a:rPr>
              <a:t>2</a:t>
            </a:r>
            <a:r>
              <a:rPr dirty="0" sz="2800" i="1">
                <a:latin typeface="Arial"/>
                <a:cs typeface="Arial"/>
              </a:rPr>
              <a:t>,</a:t>
            </a:r>
            <a:r>
              <a:rPr dirty="0" sz="2800" spc="-45" i="1">
                <a:latin typeface="Arial"/>
                <a:cs typeface="Arial"/>
              </a:rPr>
              <a:t> </a:t>
            </a:r>
            <a:r>
              <a:rPr dirty="0" sz="2800" i="1">
                <a:latin typeface="Arial"/>
                <a:cs typeface="Arial"/>
              </a:rPr>
              <a:t>i</a:t>
            </a:r>
            <a:r>
              <a:rPr dirty="0" sz="2800" spc="-30" i="1">
                <a:latin typeface="Arial"/>
                <a:cs typeface="Arial"/>
              </a:rPr>
              <a:t> </a:t>
            </a:r>
            <a:r>
              <a:rPr dirty="0" sz="2800" spc="-50" i="1">
                <a:latin typeface="Arial"/>
                <a:cs typeface="Arial"/>
              </a:rPr>
              <a:t>=</a:t>
            </a:r>
            <a:r>
              <a:rPr dirty="0" sz="2800" i="1">
                <a:latin typeface="Arial"/>
                <a:cs typeface="Arial"/>
              </a:rPr>
              <a:t>	1,..........,</a:t>
            </a:r>
            <a:r>
              <a:rPr dirty="0" sz="2800" spc="-120" i="1">
                <a:latin typeface="Arial"/>
                <a:cs typeface="Arial"/>
              </a:rPr>
              <a:t> </a:t>
            </a:r>
            <a:r>
              <a:rPr dirty="0" sz="2800" spc="-50" i="1">
                <a:latin typeface="Arial"/>
                <a:cs typeface="Arial"/>
              </a:rPr>
              <a:t>N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676138" y="1207464"/>
            <a:ext cx="3231515" cy="1336675"/>
          </a:xfrm>
          <a:prstGeom prst="rect">
            <a:avLst/>
          </a:prstGeom>
        </p:spPr>
        <p:txBody>
          <a:bodyPr wrap="square" lIns="0" tIns="241300" rIns="0" bIns="0" rtlCol="0" vert="horz">
            <a:spAutoFit/>
          </a:bodyPr>
          <a:lstStyle/>
          <a:p>
            <a:pPr marL="21590">
              <a:lnSpc>
                <a:spcPct val="100000"/>
              </a:lnSpc>
              <a:spcBef>
                <a:spcPts val="1900"/>
              </a:spcBef>
            </a:pPr>
            <a:r>
              <a:rPr dirty="0" sz="2800" b="1" i="1">
                <a:latin typeface="Arial"/>
                <a:cs typeface="Arial"/>
              </a:rPr>
              <a:t>zero</a:t>
            </a:r>
            <a:r>
              <a:rPr dirty="0" sz="2800" spc="-45" b="1" i="1">
                <a:latin typeface="Arial"/>
                <a:cs typeface="Arial"/>
              </a:rPr>
              <a:t> </a:t>
            </a:r>
            <a:r>
              <a:rPr dirty="0" sz="2800" spc="-20" b="1" i="1">
                <a:latin typeface="Arial"/>
                <a:cs typeface="Arial"/>
              </a:rPr>
              <a:t>mean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dirty="0" sz="2800" spc="-10" b="1">
                <a:solidFill>
                  <a:srgbClr val="FF0000"/>
                </a:solidFill>
                <a:latin typeface="Arial"/>
                <a:cs typeface="Arial"/>
              </a:rPr>
              <a:t>homoskedastisitas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97763" y="2727088"/>
            <a:ext cx="6814820" cy="47688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  <a:tabLst>
                <a:tab pos="553085" algn="l"/>
                <a:tab pos="3323590" algn="l"/>
              </a:tabLst>
            </a:pPr>
            <a:r>
              <a:rPr dirty="0" sz="2800" spc="-25" i="1">
                <a:latin typeface="Arial"/>
                <a:cs typeface="Arial"/>
              </a:rPr>
              <a:t>3.</a:t>
            </a:r>
            <a:r>
              <a:rPr dirty="0" sz="2800" i="1">
                <a:latin typeface="Arial"/>
                <a:cs typeface="Arial"/>
              </a:rPr>
              <a:t>	Cov{</a:t>
            </a:r>
            <a:r>
              <a:rPr dirty="0" sz="2950" i="1">
                <a:latin typeface="Symbol"/>
                <a:cs typeface="Symbol"/>
              </a:rPr>
              <a:t></a:t>
            </a:r>
            <a:r>
              <a:rPr dirty="0" baseline="-19519" sz="2775" i="1">
                <a:latin typeface="Arial"/>
                <a:cs typeface="Arial"/>
              </a:rPr>
              <a:t>i</a:t>
            </a:r>
            <a:r>
              <a:rPr dirty="0" sz="2800" i="1">
                <a:latin typeface="Arial"/>
                <a:cs typeface="Arial"/>
              </a:rPr>
              <a:t>,</a:t>
            </a:r>
            <a:r>
              <a:rPr dirty="0" sz="2950" i="1">
                <a:latin typeface="Symbol"/>
                <a:cs typeface="Symbol"/>
              </a:rPr>
              <a:t></a:t>
            </a:r>
            <a:r>
              <a:rPr dirty="0" baseline="-19519" sz="2775" i="1">
                <a:latin typeface="Arial"/>
                <a:cs typeface="Arial"/>
              </a:rPr>
              <a:t>j</a:t>
            </a:r>
            <a:r>
              <a:rPr dirty="0" sz="2800" i="1">
                <a:latin typeface="Arial"/>
                <a:cs typeface="Arial"/>
              </a:rPr>
              <a:t>}</a:t>
            </a:r>
            <a:r>
              <a:rPr dirty="0" sz="2800" spc="-55" i="1">
                <a:latin typeface="Arial"/>
                <a:cs typeface="Arial"/>
              </a:rPr>
              <a:t> </a:t>
            </a:r>
            <a:r>
              <a:rPr dirty="0" sz="2800" i="1">
                <a:latin typeface="Arial"/>
                <a:cs typeface="Arial"/>
              </a:rPr>
              <a:t>=</a:t>
            </a:r>
            <a:r>
              <a:rPr dirty="0" sz="2800" spc="-45" i="1">
                <a:latin typeface="Arial"/>
                <a:cs typeface="Arial"/>
              </a:rPr>
              <a:t> </a:t>
            </a:r>
            <a:r>
              <a:rPr dirty="0" sz="2800" i="1">
                <a:latin typeface="Arial"/>
                <a:cs typeface="Arial"/>
              </a:rPr>
              <a:t>0,</a:t>
            </a:r>
            <a:r>
              <a:rPr dirty="0" sz="2800" spc="-60" i="1">
                <a:latin typeface="Arial"/>
                <a:cs typeface="Arial"/>
              </a:rPr>
              <a:t> </a:t>
            </a:r>
            <a:r>
              <a:rPr dirty="0" sz="2800" i="1">
                <a:latin typeface="Arial"/>
                <a:cs typeface="Arial"/>
              </a:rPr>
              <a:t>i</a:t>
            </a:r>
            <a:r>
              <a:rPr dirty="0" sz="2800" spc="-30" i="1">
                <a:latin typeface="Arial"/>
                <a:cs typeface="Arial"/>
              </a:rPr>
              <a:t> </a:t>
            </a:r>
            <a:r>
              <a:rPr dirty="0" sz="2800" spc="-50" i="1">
                <a:latin typeface="Arial"/>
                <a:cs typeface="Arial"/>
              </a:rPr>
              <a:t>=</a:t>
            </a:r>
            <a:r>
              <a:rPr dirty="0" sz="2800" i="1">
                <a:latin typeface="Arial"/>
                <a:cs typeface="Arial"/>
              </a:rPr>
              <a:t>	1,..........,</a:t>
            </a:r>
            <a:r>
              <a:rPr dirty="0" sz="2800" spc="-114" i="1">
                <a:latin typeface="Arial"/>
                <a:cs typeface="Arial"/>
              </a:rPr>
              <a:t> </a:t>
            </a:r>
            <a:r>
              <a:rPr dirty="0" sz="2800" i="1">
                <a:latin typeface="Arial"/>
                <a:cs typeface="Arial"/>
              </a:rPr>
              <a:t>N</a:t>
            </a:r>
            <a:r>
              <a:rPr dirty="0" sz="2800" spc="5" i="1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untuk</a:t>
            </a:r>
            <a:r>
              <a:rPr dirty="0" sz="2800" spc="-3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i</a:t>
            </a:r>
            <a:r>
              <a:rPr dirty="0" sz="2800" spc="-2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≠</a:t>
            </a:r>
            <a:r>
              <a:rPr dirty="0" sz="2800" spc="-10">
                <a:latin typeface="Arial"/>
                <a:cs typeface="Arial"/>
              </a:rPr>
              <a:t> </a:t>
            </a:r>
            <a:r>
              <a:rPr dirty="0" sz="2800" spc="-25">
                <a:latin typeface="Arial"/>
                <a:cs typeface="Arial"/>
              </a:rPr>
              <a:t>j: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047990" y="2746374"/>
            <a:ext cx="3766820" cy="453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b="1">
                <a:latin typeface="Arial"/>
                <a:cs typeface="Arial"/>
              </a:rPr>
              <a:t>tidak</a:t>
            </a:r>
            <a:r>
              <a:rPr dirty="0" sz="2800" spc="-25" b="1">
                <a:latin typeface="Arial"/>
                <a:cs typeface="Arial"/>
              </a:rPr>
              <a:t> </a:t>
            </a:r>
            <a:r>
              <a:rPr dirty="0" sz="2800" b="1">
                <a:latin typeface="Arial"/>
                <a:cs typeface="Arial"/>
              </a:rPr>
              <a:t>ada </a:t>
            </a:r>
            <a:r>
              <a:rPr dirty="0" sz="2800" spc="-10" b="1">
                <a:solidFill>
                  <a:srgbClr val="FF0000"/>
                </a:solidFill>
                <a:latin typeface="Arial"/>
                <a:cs typeface="Arial"/>
              </a:rPr>
              <a:t>autokorelasi</a:t>
            </a:r>
            <a:endParaRPr sz="28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97763" y="3382662"/>
            <a:ext cx="10671810" cy="12414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  <a:tabLst>
                <a:tab pos="553085" algn="l"/>
              </a:tabLst>
            </a:pPr>
            <a:r>
              <a:rPr dirty="0" sz="2800" spc="-25" i="1">
                <a:latin typeface="Arial"/>
                <a:cs typeface="Arial"/>
              </a:rPr>
              <a:t>4.</a:t>
            </a:r>
            <a:r>
              <a:rPr dirty="0" sz="2800" i="1">
                <a:latin typeface="Arial"/>
                <a:cs typeface="Arial"/>
              </a:rPr>
              <a:t>	{</a:t>
            </a:r>
            <a:r>
              <a:rPr dirty="0" sz="2950" i="1">
                <a:latin typeface="Symbol"/>
                <a:cs typeface="Symbol"/>
              </a:rPr>
              <a:t></a:t>
            </a:r>
            <a:r>
              <a:rPr dirty="0" baseline="-19519" sz="2775" i="1">
                <a:latin typeface="Arial"/>
                <a:cs typeface="Arial"/>
              </a:rPr>
              <a:t>1</a:t>
            </a:r>
            <a:r>
              <a:rPr dirty="0" sz="2800" i="1">
                <a:latin typeface="Arial"/>
                <a:cs typeface="Arial"/>
              </a:rPr>
              <a:t>,</a:t>
            </a:r>
            <a:r>
              <a:rPr dirty="0" sz="2800" spc="-20" i="1">
                <a:latin typeface="Arial"/>
                <a:cs typeface="Arial"/>
              </a:rPr>
              <a:t> </a:t>
            </a:r>
            <a:r>
              <a:rPr dirty="0" sz="2800" i="1">
                <a:latin typeface="Arial"/>
                <a:cs typeface="Arial"/>
              </a:rPr>
              <a:t>....</a:t>
            </a:r>
            <a:r>
              <a:rPr dirty="0" sz="2800" spc="-85" i="1">
                <a:latin typeface="Arial"/>
                <a:cs typeface="Arial"/>
              </a:rPr>
              <a:t> </a:t>
            </a:r>
            <a:r>
              <a:rPr dirty="0" sz="2950" i="1">
                <a:latin typeface="Symbol"/>
                <a:cs typeface="Symbol"/>
              </a:rPr>
              <a:t></a:t>
            </a:r>
            <a:r>
              <a:rPr dirty="0" baseline="-19519" sz="2775" i="1">
                <a:latin typeface="Arial"/>
                <a:cs typeface="Arial"/>
              </a:rPr>
              <a:t>N</a:t>
            </a:r>
            <a:r>
              <a:rPr dirty="0" sz="2800" i="1">
                <a:latin typeface="Arial"/>
                <a:cs typeface="Arial"/>
              </a:rPr>
              <a:t>}</a:t>
            </a:r>
            <a:r>
              <a:rPr dirty="0" sz="2800" spc="-10" i="1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dan</a:t>
            </a:r>
            <a:r>
              <a:rPr dirty="0" sz="2800" spc="-10">
                <a:latin typeface="Arial"/>
                <a:cs typeface="Arial"/>
              </a:rPr>
              <a:t> </a:t>
            </a:r>
            <a:r>
              <a:rPr dirty="0" sz="2800" i="1">
                <a:latin typeface="Arial"/>
                <a:cs typeface="Arial"/>
              </a:rPr>
              <a:t>{X</a:t>
            </a:r>
            <a:r>
              <a:rPr dirty="0" baseline="-19519" sz="2775" i="1">
                <a:latin typeface="Arial"/>
                <a:cs typeface="Arial"/>
              </a:rPr>
              <a:t>1</a:t>
            </a:r>
            <a:r>
              <a:rPr dirty="0" sz="2800" i="1">
                <a:latin typeface="Arial"/>
                <a:cs typeface="Arial"/>
              </a:rPr>
              <a:t>,</a:t>
            </a:r>
            <a:r>
              <a:rPr dirty="0" sz="2800" spc="-45" i="1">
                <a:latin typeface="Arial"/>
                <a:cs typeface="Arial"/>
              </a:rPr>
              <a:t> </a:t>
            </a:r>
            <a:r>
              <a:rPr dirty="0" sz="2800" i="1">
                <a:latin typeface="Arial"/>
                <a:cs typeface="Arial"/>
              </a:rPr>
              <a:t>....</a:t>
            </a:r>
            <a:r>
              <a:rPr dirty="0" sz="2800" spc="-75" i="1">
                <a:latin typeface="Arial"/>
                <a:cs typeface="Arial"/>
              </a:rPr>
              <a:t> </a:t>
            </a:r>
            <a:r>
              <a:rPr dirty="0" sz="2800" i="1">
                <a:latin typeface="Arial"/>
                <a:cs typeface="Arial"/>
              </a:rPr>
              <a:t>X</a:t>
            </a:r>
            <a:r>
              <a:rPr dirty="0" baseline="-19519" sz="2775" i="1">
                <a:latin typeface="Arial"/>
                <a:cs typeface="Arial"/>
              </a:rPr>
              <a:t>N</a:t>
            </a:r>
            <a:r>
              <a:rPr dirty="0" sz="2800" i="1">
                <a:latin typeface="Arial"/>
                <a:cs typeface="Arial"/>
              </a:rPr>
              <a:t>}</a:t>
            </a:r>
            <a:r>
              <a:rPr dirty="0" sz="2800" spc="-30" i="1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tidak</a:t>
            </a:r>
            <a:r>
              <a:rPr dirty="0" sz="2800" spc="-4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saling</a:t>
            </a:r>
            <a:r>
              <a:rPr dirty="0" sz="2800" spc="-2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berhubungan:</a:t>
            </a:r>
            <a:r>
              <a:rPr dirty="0" sz="2800" spc="5">
                <a:latin typeface="Arial"/>
                <a:cs typeface="Arial"/>
              </a:rPr>
              <a:t> </a:t>
            </a:r>
            <a:r>
              <a:rPr dirty="0" sz="2800" b="1">
                <a:latin typeface="Arial"/>
                <a:cs typeface="Arial"/>
              </a:rPr>
              <a:t>data</a:t>
            </a:r>
            <a:r>
              <a:rPr dirty="0" sz="2800" spc="-15" b="1">
                <a:latin typeface="Arial"/>
                <a:cs typeface="Arial"/>
              </a:rPr>
              <a:t> </a:t>
            </a:r>
            <a:r>
              <a:rPr dirty="0" sz="2800" spc="-10" b="1">
                <a:latin typeface="Arial"/>
                <a:cs typeface="Arial"/>
              </a:rPr>
              <a:t>panel</a:t>
            </a:r>
            <a:endParaRPr sz="28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2660"/>
              </a:spcBef>
            </a:pPr>
            <a:r>
              <a:rPr dirty="0" sz="2800">
                <a:latin typeface="Arial"/>
                <a:cs typeface="Arial"/>
              </a:rPr>
              <a:t>Beberapa</a:t>
            </a:r>
            <a:r>
              <a:rPr dirty="0" sz="2800" spc="-1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referensi</a:t>
            </a:r>
            <a:r>
              <a:rPr dirty="0" sz="2800" spc="-25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menyebutkan: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5065776" y="1481327"/>
            <a:ext cx="546100" cy="433070"/>
            <a:chOff x="5065776" y="1481327"/>
            <a:chExt cx="546100" cy="433070"/>
          </a:xfrm>
        </p:grpSpPr>
        <p:sp>
          <p:nvSpPr>
            <p:cNvPr id="9" name="object 9" descr=""/>
            <p:cNvSpPr/>
            <p:nvPr/>
          </p:nvSpPr>
          <p:spPr>
            <a:xfrm>
              <a:off x="5071872" y="1487423"/>
              <a:ext cx="533400" cy="421005"/>
            </a:xfrm>
            <a:custGeom>
              <a:avLst/>
              <a:gdLst/>
              <a:ahLst/>
              <a:cxnLst/>
              <a:rect l="l" t="t" r="r" b="b"/>
              <a:pathLst>
                <a:path w="533400" h="421005">
                  <a:moveTo>
                    <a:pt x="323088" y="0"/>
                  </a:moveTo>
                  <a:lnTo>
                    <a:pt x="323088" y="105155"/>
                  </a:lnTo>
                  <a:lnTo>
                    <a:pt x="0" y="105155"/>
                  </a:lnTo>
                  <a:lnTo>
                    <a:pt x="0" y="315467"/>
                  </a:lnTo>
                  <a:lnTo>
                    <a:pt x="323088" y="315467"/>
                  </a:lnTo>
                  <a:lnTo>
                    <a:pt x="323088" y="420624"/>
                  </a:lnTo>
                  <a:lnTo>
                    <a:pt x="533400" y="210312"/>
                  </a:lnTo>
                  <a:lnTo>
                    <a:pt x="32308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5071872" y="1487423"/>
              <a:ext cx="533400" cy="421005"/>
            </a:xfrm>
            <a:custGeom>
              <a:avLst/>
              <a:gdLst/>
              <a:ahLst/>
              <a:cxnLst/>
              <a:rect l="l" t="t" r="r" b="b"/>
              <a:pathLst>
                <a:path w="533400" h="421005">
                  <a:moveTo>
                    <a:pt x="0" y="105155"/>
                  </a:moveTo>
                  <a:lnTo>
                    <a:pt x="323088" y="105155"/>
                  </a:lnTo>
                  <a:lnTo>
                    <a:pt x="323088" y="0"/>
                  </a:lnTo>
                  <a:lnTo>
                    <a:pt x="533400" y="210312"/>
                  </a:lnTo>
                  <a:lnTo>
                    <a:pt x="323088" y="420624"/>
                  </a:lnTo>
                  <a:lnTo>
                    <a:pt x="323088" y="315467"/>
                  </a:lnTo>
                  <a:lnTo>
                    <a:pt x="0" y="315467"/>
                  </a:lnTo>
                  <a:lnTo>
                    <a:pt x="0" y="105155"/>
                  </a:lnTo>
                  <a:close/>
                </a:path>
              </a:pathLst>
            </a:custGeom>
            <a:ln w="12192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 descr=""/>
          <p:cNvGrpSpPr/>
          <p:nvPr/>
        </p:nvGrpSpPr>
        <p:grpSpPr>
          <a:xfrm>
            <a:off x="5105400" y="2130551"/>
            <a:ext cx="548640" cy="433070"/>
            <a:chOff x="5105400" y="2130551"/>
            <a:chExt cx="548640" cy="433070"/>
          </a:xfrm>
        </p:grpSpPr>
        <p:sp>
          <p:nvSpPr>
            <p:cNvPr id="12" name="object 12" descr=""/>
            <p:cNvSpPr/>
            <p:nvPr/>
          </p:nvSpPr>
          <p:spPr>
            <a:xfrm>
              <a:off x="5111495" y="2136647"/>
              <a:ext cx="536575" cy="421005"/>
            </a:xfrm>
            <a:custGeom>
              <a:avLst/>
              <a:gdLst/>
              <a:ahLst/>
              <a:cxnLst/>
              <a:rect l="l" t="t" r="r" b="b"/>
              <a:pathLst>
                <a:path w="536575" h="421005">
                  <a:moveTo>
                    <a:pt x="326136" y="0"/>
                  </a:moveTo>
                  <a:lnTo>
                    <a:pt x="326136" y="105155"/>
                  </a:lnTo>
                  <a:lnTo>
                    <a:pt x="0" y="105155"/>
                  </a:lnTo>
                  <a:lnTo>
                    <a:pt x="0" y="315467"/>
                  </a:lnTo>
                  <a:lnTo>
                    <a:pt x="326136" y="315467"/>
                  </a:lnTo>
                  <a:lnTo>
                    <a:pt x="326136" y="420624"/>
                  </a:lnTo>
                  <a:lnTo>
                    <a:pt x="536448" y="210312"/>
                  </a:lnTo>
                  <a:lnTo>
                    <a:pt x="326136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5111495" y="2136647"/>
              <a:ext cx="536575" cy="421005"/>
            </a:xfrm>
            <a:custGeom>
              <a:avLst/>
              <a:gdLst/>
              <a:ahLst/>
              <a:cxnLst/>
              <a:rect l="l" t="t" r="r" b="b"/>
              <a:pathLst>
                <a:path w="536575" h="421005">
                  <a:moveTo>
                    <a:pt x="0" y="105155"/>
                  </a:moveTo>
                  <a:lnTo>
                    <a:pt x="326136" y="105155"/>
                  </a:lnTo>
                  <a:lnTo>
                    <a:pt x="326136" y="0"/>
                  </a:lnTo>
                  <a:lnTo>
                    <a:pt x="536448" y="210312"/>
                  </a:lnTo>
                  <a:lnTo>
                    <a:pt x="326136" y="420624"/>
                  </a:lnTo>
                  <a:lnTo>
                    <a:pt x="326136" y="315467"/>
                  </a:lnTo>
                  <a:lnTo>
                    <a:pt x="0" y="315467"/>
                  </a:lnTo>
                  <a:lnTo>
                    <a:pt x="0" y="105155"/>
                  </a:lnTo>
                  <a:close/>
                </a:path>
              </a:pathLst>
            </a:custGeom>
            <a:ln w="12192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" name="object 14" descr=""/>
          <p:cNvGrpSpPr/>
          <p:nvPr/>
        </p:nvGrpSpPr>
        <p:grpSpPr>
          <a:xfrm>
            <a:off x="7452359" y="2795016"/>
            <a:ext cx="546100" cy="433070"/>
            <a:chOff x="7452359" y="2795016"/>
            <a:chExt cx="546100" cy="433070"/>
          </a:xfrm>
        </p:grpSpPr>
        <p:sp>
          <p:nvSpPr>
            <p:cNvPr id="15" name="object 15" descr=""/>
            <p:cNvSpPr/>
            <p:nvPr/>
          </p:nvSpPr>
          <p:spPr>
            <a:xfrm>
              <a:off x="7458455" y="2801112"/>
              <a:ext cx="533400" cy="421005"/>
            </a:xfrm>
            <a:custGeom>
              <a:avLst/>
              <a:gdLst/>
              <a:ahLst/>
              <a:cxnLst/>
              <a:rect l="l" t="t" r="r" b="b"/>
              <a:pathLst>
                <a:path w="533400" h="421005">
                  <a:moveTo>
                    <a:pt x="323088" y="0"/>
                  </a:moveTo>
                  <a:lnTo>
                    <a:pt x="323088" y="105155"/>
                  </a:lnTo>
                  <a:lnTo>
                    <a:pt x="0" y="105155"/>
                  </a:lnTo>
                  <a:lnTo>
                    <a:pt x="0" y="315467"/>
                  </a:lnTo>
                  <a:lnTo>
                    <a:pt x="323088" y="315467"/>
                  </a:lnTo>
                  <a:lnTo>
                    <a:pt x="323088" y="420624"/>
                  </a:lnTo>
                  <a:lnTo>
                    <a:pt x="533400" y="210312"/>
                  </a:lnTo>
                  <a:lnTo>
                    <a:pt x="32308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7458455" y="2801112"/>
              <a:ext cx="533400" cy="421005"/>
            </a:xfrm>
            <a:custGeom>
              <a:avLst/>
              <a:gdLst/>
              <a:ahLst/>
              <a:cxnLst/>
              <a:rect l="l" t="t" r="r" b="b"/>
              <a:pathLst>
                <a:path w="533400" h="421005">
                  <a:moveTo>
                    <a:pt x="0" y="105155"/>
                  </a:moveTo>
                  <a:lnTo>
                    <a:pt x="323088" y="105155"/>
                  </a:lnTo>
                  <a:lnTo>
                    <a:pt x="323088" y="0"/>
                  </a:lnTo>
                  <a:lnTo>
                    <a:pt x="533400" y="210312"/>
                  </a:lnTo>
                  <a:lnTo>
                    <a:pt x="323088" y="420624"/>
                  </a:lnTo>
                  <a:lnTo>
                    <a:pt x="323088" y="315467"/>
                  </a:lnTo>
                  <a:lnTo>
                    <a:pt x="0" y="315467"/>
                  </a:lnTo>
                  <a:lnTo>
                    <a:pt x="0" y="105155"/>
                  </a:lnTo>
                  <a:close/>
                </a:path>
              </a:pathLst>
            </a:custGeom>
            <a:ln w="12192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9999091" y="4801616"/>
            <a:ext cx="158115" cy="3111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850" spc="10">
                <a:latin typeface="Arial"/>
                <a:cs typeface="Arial"/>
              </a:rPr>
              <a:t>1</a:t>
            </a:r>
            <a:endParaRPr sz="1850">
              <a:latin typeface="Arial"/>
              <a:cs typeface="Arial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6957916" y="6549694"/>
            <a:ext cx="172085" cy="1924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435"/>
              </a:lnSpc>
            </a:pPr>
            <a:r>
              <a:rPr dirty="0" sz="1500" spc="10">
                <a:latin typeface="Calibri"/>
                <a:cs typeface="Calibri"/>
              </a:rPr>
              <a:t>@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215290" y="6308394"/>
            <a:ext cx="6417945" cy="4464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 sz="1500" spc="-10" b="1">
                <a:latin typeface="Calibri"/>
                <a:cs typeface="Calibri"/>
              </a:rPr>
              <a:t>Department</a:t>
            </a:r>
            <a:r>
              <a:rPr dirty="0" sz="1500" spc="-85" b="1">
                <a:latin typeface="Calibri"/>
                <a:cs typeface="Calibri"/>
              </a:rPr>
              <a:t> </a:t>
            </a:r>
            <a:r>
              <a:rPr dirty="0" sz="1500" b="1">
                <a:latin typeface="Calibri"/>
                <a:cs typeface="Calibri"/>
              </a:rPr>
              <a:t>of</a:t>
            </a:r>
            <a:r>
              <a:rPr dirty="0" sz="1500" spc="5" b="1">
                <a:latin typeface="Calibri"/>
                <a:cs typeface="Calibri"/>
              </a:rPr>
              <a:t> </a:t>
            </a:r>
            <a:r>
              <a:rPr dirty="0" sz="1500" b="1">
                <a:latin typeface="Calibri"/>
                <a:cs typeface="Calibri"/>
              </a:rPr>
              <a:t>Economics</a:t>
            </a:r>
            <a:r>
              <a:rPr dirty="0" sz="1500" spc="-25" b="1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| </a:t>
            </a:r>
            <a:r>
              <a:rPr dirty="0" sz="1500" spc="-10">
                <a:latin typeface="Calibri"/>
                <a:cs typeface="Calibri"/>
              </a:rPr>
              <a:t>Faculty</a:t>
            </a:r>
            <a:r>
              <a:rPr dirty="0" sz="1500" spc="-4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of</a:t>
            </a:r>
            <a:r>
              <a:rPr dirty="0" sz="1500" spc="-5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Economics</a:t>
            </a:r>
            <a:r>
              <a:rPr dirty="0" sz="1500" spc="-2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and</a:t>
            </a:r>
            <a:r>
              <a:rPr dirty="0" sz="1500" spc="-5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Management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500">
                <a:latin typeface="Segoe UI Symbol"/>
                <a:cs typeface="Segoe UI Symbol"/>
              </a:rPr>
              <a:t>☎</a:t>
            </a:r>
            <a:r>
              <a:rPr dirty="0" sz="1500" spc="-114">
                <a:latin typeface="Segoe UI Symbol"/>
                <a:cs typeface="Segoe UI Symbol"/>
              </a:rPr>
              <a:t> </a:t>
            </a:r>
            <a:r>
              <a:rPr dirty="0" sz="1500">
                <a:latin typeface="Calibri"/>
                <a:cs typeface="Calibri"/>
              </a:rPr>
              <a:t>+62</a:t>
            </a:r>
            <a:r>
              <a:rPr dirty="0" sz="1500" spc="-4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251</a:t>
            </a:r>
            <a:r>
              <a:rPr dirty="0" sz="1500" spc="-2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8626602</a:t>
            </a:r>
            <a:r>
              <a:rPr dirty="0" sz="1500" spc="245">
                <a:latin typeface="Calibri"/>
                <a:cs typeface="Calibri"/>
              </a:rPr>
              <a:t> </a:t>
            </a:r>
            <a:r>
              <a:rPr dirty="0" sz="1500">
                <a:latin typeface="Segoe UI Symbol"/>
                <a:cs typeface="Segoe UI Symbol"/>
              </a:rPr>
              <a:t>✉</a:t>
            </a:r>
            <a:r>
              <a:rPr dirty="0" sz="1500" spc="-105">
                <a:latin typeface="Segoe UI Symbol"/>
                <a:cs typeface="Segoe UI Symbol"/>
              </a:rPr>
              <a:t> </a:t>
            </a:r>
            <a:r>
              <a:rPr dirty="0" sz="1500">
                <a:latin typeface="Calibri"/>
                <a:cs typeface="Calibri"/>
                <a:hlinkClick r:id="rId2"/>
              </a:rPr>
              <a:t>ilmu_ekonomi@ipb.ac.id</a:t>
            </a:r>
            <a:r>
              <a:rPr dirty="0" sz="1500" spc="250">
                <a:latin typeface="Calibri"/>
                <a:cs typeface="Calibri"/>
              </a:rPr>
              <a:t> </a:t>
            </a:r>
            <a:r>
              <a:rPr dirty="0" sz="1500" b="1">
                <a:latin typeface="Segoe UI Symbol"/>
                <a:cs typeface="Segoe UI Symbol"/>
              </a:rPr>
              <a:t>🌐</a:t>
            </a:r>
            <a:r>
              <a:rPr dirty="0" sz="1500" spc="-100" b="1">
                <a:latin typeface="Segoe UI Symbol"/>
                <a:cs typeface="Segoe UI Symbol"/>
              </a:rPr>
              <a:t> </a:t>
            </a:r>
            <a:r>
              <a:rPr dirty="0" sz="1500" spc="-10">
                <a:latin typeface="Calibri"/>
                <a:cs typeface="Calibri"/>
                <a:hlinkClick r:id="rId3"/>
              </a:rPr>
              <a:t>http://ekonomi.fem.ipb.ac.id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1" name="object 2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 spc="-10"/>
              <a:t>dept.ieipb</a:t>
            </a:r>
          </a:p>
        </p:txBody>
      </p:sp>
      <p:sp>
        <p:nvSpPr>
          <p:cNvPr id="18" name="object 18" descr=""/>
          <p:cNvSpPr txBox="1"/>
          <p:nvPr/>
        </p:nvSpPr>
        <p:spPr>
          <a:xfrm>
            <a:off x="385063" y="4597400"/>
            <a:ext cx="10071735" cy="13074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508000" indent="-457200">
              <a:lnSpc>
                <a:spcPct val="100000"/>
              </a:lnSpc>
              <a:spcBef>
                <a:spcPts val="105"/>
              </a:spcBef>
              <a:buChar char="•"/>
              <a:tabLst>
                <a:tab pos="507365" algn="l"/>
                <a:tab pos="508000" algn="l"/>
                <a:tab pos="5259705" algn="l"/>
              </a:tabLst>
            </a:pPr>
            <a:r>
              <a:rPr dirty="0" sz="2800">
                <a:latin typeface="Arial"/>
                <a:cs typeface="Arial"/>
              </a:rPr>
              <a:t>Linearitas</a:t>
            </a:r>
            <a:r>
              <a:rPr dirty="0" sz="2800" spc="-2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(dalam</a:t>
            </a:r>
            <a:r>
              <a:rPr dirty="0" sz="2800" spc="-10">
                <a:latin typeface="Arial"/>
                <a:cs typeface="Arial"/>
              </a:rPr>
              <a:t> parameter:</a:t>
            </a:r>
            <a:r>
              <a:rPr dirty="0" sz="2800">
                <a:latin typeface="Arial"/>
                <a:cs typeface="Arial"/>
              </a:rPr>
              <a:t>	Y</a:t>
            </a:r>
            <a:r>
              <a:rPr dirty="0" sz="2800" spc="-8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=</a:t>
            </a:r>
            <a:r>
              <a:rPr dirty="0" sz="2800" spc="-1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a</a:t>
            </a:r>
            <a:r>
              <a:rPr dirty="0" sz="2800" spc="1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+</a:t>
            </a:r>
            <a:r>
              <a:rPr dirty="0" sz="2800" spc="-5"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FF0000"/>
                </a:solidFill>
                <a:latin typeface="Arial"/>
                <a:cs typeface="Arial"/>
              </a:rPr>
              <a:t>b</a:t>
            </a:r>
            <a:r>
              <a:rPr dirty="0" baseline="-19519" sz="2775" b="1">
                <a:solidFill>
                  <a:srgbClr val="FF0000"/>
                </a:solidFill>
                <a:latin typeface="Arial"/>
                <a:cs typeface="Arial"/>
              </a:rPr>
              <a:t>1</a:t>
            </a:r>
            <a:r>
              <a:rPr dirty="0" sz="2800" b="1">
                <a:solidFill>
                  <a:srgbClr val="FF0000"/>
                </a:solidFill>
                <a:latin typeface="Arial"/>
                <a:cs typeface="Arial"/>
              </a:rPr>
              <a:t>.</a:t>
            </a:r>
            <a:r>
              <a:rPr dirty="0" sz="2800">
                <a:latin typeface="Arial"/>
                <a:cs typeface="Arial"/>
              </a:rPr>
              <a:t>X</a:t>
            </a:r>
            <a:r>
              <a:rPr dirty="0" baseline="-19519" sz="2775">
                <a:latin typeface="Arial"/>
                <a:cs typeface="Arial"/>
              </a:rPr>
              <a:t>1</a:t>
            </a:r>
            <a:r>
              <a:rPr dirty="0" baseline="-19519" sz="2775" spc="337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+</a:t>
            </a:r>
            <a:r>
              <a:rPr dirty="0" sz="2800" spc="10"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FF0000"/>
                </a:solidFill>
                <a:latin typeface="Arial"/>
                <a:cs typeface="Arial"/>
              </a:rPr>
              <a:t>b</a:t>
            </a:r>
            <a:r>
              <a:rPr dirty="0" baseline="-19519" sz="2775" b="1">
                <a:solidFill>
                  <a:srgbClr val="FF0000"/>
                </a:solidFill>
                <a:latin typeface="Arial"/>
                <a:cs typeface="Arial"/>
              </a:rPr>
              <a:t>2</a:t>
            </a:r>
            <a:r>
              <a:rPr dirty="0" sz="2800" b="1">
                <a:solidFill>
                  <a:srgbClr val="FF0000"/>
                </a:solidFill>
                <a:latin typeface="Arial"/>
                <a:cs typeface="Arial"/>
              </a:rPr>
              <a:t>.</a:t>
            </a:r>
            <a:r>
              <a:rPr dirty="0" sz="2800">
                <a:latin typeface="Arial"/>
                <a:cs typeface="Arial"/>
              </a:rPr>
              <a:t>X</a:t>
            </a:r>
            <a:r>
              <a:rPr dirty="0" baseline="-19519" sz="2775">
                <a:latin typeface="Arial"/>
                <a:cs typeface="Arial"/>
              </a:rPr>
              <a:t>2</a:t>
            </a:r>
            <a:r>
              <a:rPr dirty="0" baseline="-19519" sz="2775" spc="337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+</a:t>
            </a:r>
            <a:r>
              <a:rPr dirty="0" sz="2800" spc="-10"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FF0000"/>
                </a:solidFill>
                <a:latin typeface="Arial"/>
                <a:cs typeface="Arial"/>
              </a:rPr>
              <a:t>b</a:t>
            </a:r>
            <a:r>
              <a:rPr dirty="0" baseline="-19519" sz="2775" b="1">
                <a:solidFill>
                  <a:srgbClr val="FF0000"/>
                </a:solidFill>
                <a:latin typeface="Arial"/>
                <a:cs typeface="Arial"/>
              </a:rPr>
              <a:t>3</a:t>
            </a:r>
            <a:r>
              <a:rPr dirty="0" sz="2800" b="1">
                <a:solidFill>
                  <a:srgbClr val="FF0000"/>
                </a:solidFill>
                <a:latin typeface="Arial"/>
                <a:cs typeface="Arial"/>
              </a:rPr>
              <a:t>.</a:t>
            </a:r>
            <a:r>
              <a:rPr dirty="0" sz="2800">
                <a:latin typeface="Arial"/>
                <a:cs typeface="Arial"/>
              </a:rPr>
              <a:t>X</a:t>
            </a:r>
            <a:r>
              <a:rPr dirty="0" sz="2800" spc="285">
                <a:latin typeface="Arial"/>
                <a:cs typeface="Arial"/>
              </a:rPr>
              <a:t> </a:t>
            </a:r>
            <a:r>
              <a:rPr dirty="0" baseline="25525" sz="2775" spc="-37">
                <a:latin typeface="Arial"/>
                <a:cs typeface="Arial"/>
              </a:rPr>
              <a:t>2</a:t>
            </a:r>
            <a:r>
              <a:rPr dirty="0" sz="2800" spc="-25">
                <a:latin typeface="Arial"/>
                <a:cs typeface="Arial"/>
              </a:rPr>
              <a:t>)</a:t>
            </a:r>
            <a:endParaRPr sz="2800">
              <a:latin typeface="Arial"/>
              <a:cs typeface="Arial"/>
            </a:endParaRPr>
          </a:p>
          <a:p>
            <a:pPr marL="508000" indent="-457200">
              <a:lnSpc>
                <a:spcPct val="100000"/>
              </a:lnSpc>
              <a:buChar char="•"/>
              <a:tabLst>
                <a:tab pos="507365" algn="l"/>
                <a:tab pos="508000" algn="l"/>
              </a:tabLst>
            </a:pPr>
            <a:r>
              <a:rPr dirty="0" sz="2800">
                <a:latin typeface="Arial"/>
                <a:cs typeface="Arial"/>
              </a:rPr>
              <a:t>Data</a:t>
            </a:r>
            <a:r>
              <a:rPr dirty="0" sz="2800" spc="-2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ditarik</a:t>
            </a:r>
            <a:r>
              <a:rPr dirty="0" sz="2800" spc="-3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secara</a:t>
            </a:r>
            <a:r>
              <a:rPr dirty="0" sz="2800" spc="-2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acak</a:t>
            </a:r>
            <a:r>
              <a:rPr dirty="0" sz="2800" spc="-4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dari</a:t>
            </a:r>
            <a:r>
              <a:rPr dirty="0" sz="2800" spc="-5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populasi</a:t>
            </a:r>
            <a:endParaRPr sz="2800">
              <a:latin typeface="Arial"/>
              <a:cs typeface="Arial"/>
            </a:endParaRPr>
          </a:p>
          <a:p>
            <a:pPr marL="508000" indent="-457200">
              <a:lnSpc>
                <a:spcPct val="100000"/>
              </a:lnSpc>
              <a:spcBef>
                <a:spcPts val="5"/>
              </a:spcBef>
              <a:buChar char="•"/>
              <a:tabLst>
                <a:tab pos="507365" algn="l"/>
                <a:tab pos="508000" algn="l"/>
              </a:tabLst>
            </a:pPr>
            <a:r>
              <a:rPr dirty="0" sz="2800">
                <a:latin typeface="Arial"/>
                <a:cs typeface="Arial"/>
              </a:rPr>
              <a:t>Tidak</a:t>
            </a:r>
            <a:r>
              <a:rPr dirty="0" sz="2800" spc="-4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ada</a:t>
            </a:r>
            <a:r>
              <a:rPr dirty="0" sz="2800" spc="-3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korelasi</a:t>
            </a:r>
            <a:r>
              <a:rPr dirty="0" sz="2800" spc="-60">
                <a:latin typeface="Arial"/>
                <a:cs typeface="Arial"/>
              </a:rPr>
              <a:t> </a:t>
            </a:r>
            <a:r>
              <a:rPr dirty="0" sz="2800" b="1">
                <a:latin typeface="Arial"/>
                <a:cs typeface="Arial"/>
              </a:rPr>
              <a:t>sempurna</a:t>
            </a:r>
            <a:r>
              <a:rPr dirty="0" sz="2800" spc="-40" b="1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antar</a:t>
            </a:r>
            <a:r>
              <a:rPr dirty="0" sz="2800" spc="-5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variabel</a:t>
            </a:r>
            <a:r>
              <a:rPr dirty="0" sz="2800" spc="-5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independen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9110" y="427431"/>
            <a:ext cx="5695315" cy="69532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Kondisi</a:t>
            </a:r>
            <a:r>
              <a:rPr dirty="0" spc="-170"/>
              <a:t> </a:t>
            </a:r>
            <a:r>
              <a:rPr dirty="0"/>
              <a:t>Gauss</a:t>
            </a:r>
            <a:r>
              <a:rPr dirty="0" spc="-145"/>
              <a:t> </a:t>
            </a:r>
            <a:r>
              <a:rPr dirty="0" spc="-10"/>
              <a:t>Markov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6957916" y="6549694"/>
            <a:ext cx="172085" cy="1924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435"/>
              </a:lnSpc>
            </a:pPr>
            <a:r>
              <a:rPr dirty="0" sz="1500" spc="10">
                <a:latin typeface="Calibri"/>
                <a:cs typeface="Calibri"/>
              </a:rPr>
              <a:t>@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15290" y="6308394"/>
            <a:ext cx="6417945" cy="4464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 sz="1500" spc="-10" b="1">
                <a:latin typeface="Calibri"/>
                <a:cs typeface="Calibri"/>
              </a:rPr>
              <a:t>Department</a:t>
            </a:r>
            <a:r>
              <a:rPr dirty="0" sz="1500" spc="-85" b="1">
                <a:latin typeface="Calibri"/>
                <a:cs typeface="Calibri"/>
              </a:rPr>
              <a:t> </a:t>
            </a:r>
            <a:r>
              <a:rPr dirty="0" sz="1500" b="1">
                <a:latin typeface="Calibri"/>
                <a:cs typeface="Calibri"/>
              </a:rPr>
              <a:t>of</a:t>
            </a:r>
            <a:r>
              <a:rPr dirty="0" sz="1500" spc="5" b="1">
                <a:latin typeface="Calibri"/>
                <a:cs typeface="Calibri"/>
              </a:rPr>
              <a:t> </a:t>
            </a:r>
            <a:r>
              <a:rPr dirty="0" sz="1500" b="1">
                <a:latin typeface="Calibri"/>
                <a:cs typeface="Calibri"/>
              </a:rPr>
              <a:t>Economics</a:t>
            </a:r>
            <a:r>
              <a:rPr dirty="0" sz="1500" spc="-25" b="1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| </a:t>
            </a:r>
            <a:r>
              <a:rPr dirty="0" sz="1500" spc="-10">
                <a:latin typeface="Calibri"/>
                <a:cs typeface="Calibri"/>
              </a:rPr>
              <a:t>Faculty</a:t>
            </a:r>
            <a:r>
              <a:rPr dirty="0" sz="1500" spc="-4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of</a:t>
            </a:r>
            <a:r>
              <a:rPr dirty="0" sz="1500" spc="-5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Economics</a:t>
            </a:r>
            <a:r>
              <a:rPr dirty="0" sz="1500" spc="-2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and</a:t>
            </a:r>
            <a:r>
              <a:rPr dirty="0" sz="1500" spc="-5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Management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500">
                <a:latin typeface="Segoe UI Symbol"/>
                <a:cs typeface="Segoe UI Symbol"/>
              </a:rPr>
              <a:t>☎</a:t>
            </a:r>
            <a:r>
              <a:rPr dirty="0" sz="1500" spc="-114">
                <a:latin typeface="Segoe UI Symbol"/>
                <a:cs typeface="Segoe UI Symbol"/>
              </a:rPr>
              <a:t> </a:t>
            </a:r>
            <a:r>
              <a:rPr dirty="0" sz="1500">
                <a:latin typeface="Calibri"/>
                <a:cs typeface="Calibri"/>
              </a:rPr>
              <a:t>+62</a:t>
            </a:r>
            <a:r>
              <a:rPr dirty="0" sz="1500" spc="-4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251</a:t>
            </a:r>
            <a:r>
              <a:rPr dirty="0" sz="1500" spc="-2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8626602</a:t>
            </a:r>
            <a:r>
              <a:rPr dirty="0" sz="1500" spc="245">
                <a:latin typeface="Calibri"/>
                <a:cs typeface="Calibri"/>
              </a:rPr>
              <a:t> </a:t>
            </a:r>
            <a:r>
              <a:rPr dirty="0" sz="1500">
                <a:latin typeface="Segoe UI Symbol"/>
                <a:cs typeface="Segoe UI Symbol"/>
              </a:rPr>
              <a:t>✉</a:t>
            </a:r>
            <a:r>
              <a:rPr dirty="0" sz="1500" spc="-105">
                <a:latin typeface="Segoe UI Symbol"/>
                <a:cs typeface="Segoe UI Symbol"/>
              </a:rPr>
              <a:t> </a:t>
            </a:r>
            <a:r>
              <a:rPr dirty="0" sz="1500">
                <a:latin typeface="Calibri"/>
                <a:cs typeface="Calibri"/>
                <a:hlinkClick r:id="rId2"/>
              </a:rPr>
              <a:t>ilmu_ekonomi@ipb.ac.id</a:t>
            </a:r>
            <a:r>
              <a:rPr dirty="0" sz="1500" spc="250">
                <a:latin typeface="Calibri"/>
                <a:cs typeface="Calibri"/>
              </a:rPr>
              <a:t> </a:t>
            </a:r>
            <a:r>
              <a:rPr dirty="0" sz="1500" b="1">
                <a:latin typeface="Segoe UI Symbol"/>
                <a:cs typeface="Segoe UI Symbol"/>
              </a:rPr>
              <a:t>🌐</a:t>
            </a:r>
            <a:r>
              <a:rPr dirty="0" sz="1500" spc="-100" b="1">
                <a:latin typeface="Segoe UI Symbol"/>
                <a:cs typeface="Segoe UI Symbol"/>
              </a:rPr>
              <a:t> </a:t>
            </a:r>
            <a:r>
              <a:rPr dirty="0" sz="1500" spc="-10">
                <a:latin typeface="Calibri"/>
                <a:cs typeface="Calibri"/>
                <a:hlinkClick r:id="rId3"/>
              </a:rPr>
              <a:t>http://ekonomi.fem.ipb.ac.id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 spc="-10"/>
              <a:t>dept.ieipb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07441" y="1212545"/>
            <a:ext cx="11117580" cy="47263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482600" indent="-457834">
              <a:lnSpc>
                <a:spcPct val="100000"/>
              </a:lnSpc>
              <a:spcBef>
                <a:spcPts val="110"/>
              </a:spcBef>
              <a:buChar char="•"/>
              <a:tabLst>
                <a:tab pos="482600" algn="l"/>
                <a:tab pos="483234" algn="l"/>
              </a:tabLst>
            </a:pPr>
            <a:r>
              <a:rPr dirty="0" sz="2800">
                <a:latin typeface="Arial"/>
                <a:cs typeface="Arial"/>
              </a:rPr>
              <a:t>Jika</a:t>
            </a:r>
            <a:r>
              <a:rPr dirty="0" sz="2800" spc="-6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kondisi</a:t>
            </a:r>
            <a:r>
              <a:rPr dirty="0" sz="2800" spc="-4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Gauss-Markov</a:t>
            </a:r>
            <a:r>
              <a:rPr dirty="0" sz="2800" spc="-3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terpenuhi,</a:t>
            </a:r>
            <a:r>
              <a:rPr dirty="0" sz="2800" spc="-4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maka</a:t>
            </a:r>
            <a:r>
              <a:rPr dirty="0" sz="2800" spc="-3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OLS</a:t>
            </a:r>
            <a:r>
              <a:rPr dirty="0" sz="2800" spc="-2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dapat</a:t>
            </a:r>
            <a:r>
              <a:rPr dirty="0" sz="2800" spc="-15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dikatakan</a:t>
            </a:r>
            <a:endParaRPr sz="2800">
              <a:latin typeface="Arial"/>
              <a:cs typeface="Arial"/>
            </a:endParaRPr>
          </a:p>
          <a:p>
            <a:pPr marL="482600">
              <a:lnSpc>
                <a:spcPct val="100000"/>
              </a:lnSpc>
            </a:pPr>
            <a:r>
              <a:rPr dirty="0" sz="2800" i="1">
                <a:latin typeface="Arial"/>
                <a:cs typeface="Arial"/>
              </a:rPr>
              <a:t>valid</a:t>
            </a:r>
            <a:r>
              <a:rPr dirty="0" sz="2800" spc="-35" i="1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dalam</a:t>
            </a:r>
            <a:r>
              <a:rPr dirty="0" sz="2800" spc="-1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pendugaan</a:t>
            </a:r>
            <a:r>
              <a:rPr dirty="0" sz="2800" spc="5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koefisien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900">
              <a:latin typeface="Arial"/>
              <a:cs typeface="Arial"/>
            </a:endParaRPr>
          </a:p>
          <a:p>
            <a:pPr marL="482600" marR="84455" indent="-457834">
              <a:lnSpc>
                <a:spcPct val="100000"/>
              </a:lnSpc>
              <a:buChar char="•"/>
              <a:tabLst>
                <a:tab pos="482600" algn="l"/>
                <a:tab pos="483234" algn="l"/>
              </a:tabLst>
            </a:pPr>
            <a:r>
              <a:rPr dirty="0" sz="2800">
                <a:latin typeface="Arial"/>
                <a:cs typeface="Arial"/>
              </a:rPr>
              <a:t>Dalam</a:t>
            </a:r>
            <a:r>
              <a:rPr dirty="0" sz="2800" spc="-4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observasi</a:t>
            </a:r>
            <a:r>
              <a:rPr dirty="0" sz="2800" spc="-1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lapang,</a:t>
            </a:r>
            <a:r>
              <a:rPr dirty="0" sz="2800" spc="-3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seringkali</a:t>
            </a:r>
            <a:r>
              <a:rPr dirty="0" sz="2800" spc="-4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kondisi</a:t>
            </a:r>
            <a:r>
              <a:rPr dirty="0" sz="2800" spc="-6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tersebut</a:t>
            </a:r>
            <a:r>
              <a:rPr dirty="0" sz="2800" spc="-5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tidak</a:t>
            </a:r>
            <a:r>
              <a:rPr dirty="0" sz="2800" spc="-55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secara </a:t>
            </a:r>
            <a:r>
              <a:rPr dirty="0" sz="2800">
                <a:latin typeface="Arial"/>
                <a:cs typeface="Arial"/>
              </a:rPr>
              <a:t>penuh</a:t>
            </a:r>
            <a:r>
              <a:rPr dirty="0" sz="2800" spc="-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terpenuhi.</a:t>
            </a:r>
            <a:r>
              <a:rPr dirty="0" sz="2800" spc="-4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Ini</a:t>
            </a:r>
            <a:r>
              <a:rPr dirty="0" sz="2800" spc="-2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menjadi</a:t>
            </a:r>
            <a:r>
              <a:rPr dirty="0" sz="2800" spc="-1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tolak</a:t>
            </a:r>
            <a:r>
              <a:rPr dirty="0" sz="2800" spc="-1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ukur</a:t>
            </a:r>
            <a:r>
              <a:rPr dirty="0" sz="2800" spc="-4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dalam</a:t>
            </a:r>
            <a:r>
              <a:rPr dirty="0" sz="2800" spc="-2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mendapatkan</a:t>
            </a:r>
            <a:r>
              <a:rPr dirty="0" sz="2800" spc="-15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model </a:t>
            </a:r>
            <a:r>
              <a:rPr dirty="0" sz="2800">
                <a:latin typeface="Arial"/>
                <a:cs typeface="Arial"/>
              </a:rPr>
              <a:t>yang</a:t>
            </a:r>
            <a:r>
              <a:rPr dirty="0" sz="2800" spc="-25">
                <a:latin typeface="Arial"/>
                <a:cs typeface="Arial"/>
              </a:rPr>
              <a:t> </a:t>
            </a:r>
            <a:r>
              <a:rPr dirty="0" sz="2800" spc="-10" i="1">
                <a:latin typeface="Arial"/>
                <a:cs typeface="Arial"/>
              </a:rPr>
              <a:t>robust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Char char="•"/>
            </a:pPr>
            <a:endParaRPr sz="2900">
              <a:latin typeface="Arial"/>
              <a:cs typeface="Arial"/>
            </a:endParaRPr>
          </a:p>
          <a:p>
            <a:pPr marL="482600" marR="17780" indent="-457834">
              <a:lnSpc>
                <a:spcPct val="100299"/>
              </a:lnSpc>
              <a:buChar char="•"/>
              <a:tabLst>
                <a:tab pos="482600" algn="l"/>
                <a:tab pos="483234" algn="l"/>
                <a:tab pos="8500745" algn="l"/>
              </a:tabLst>
            </a:pPr>
            <a:r>
              <a:rPr dirty="0" sz="2800">
                <a:latin typeface="Arial"/>
                <a:cs typeface="Arial"/>
              </a:rPr>
              <a:t>Dengan</a:t>
            </a:r>
            <a:r>
              <a:rPr dirty="0" sz="2800" spc="-2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kondisi</a:t>
            </a:r>
            <a:r>
              <a:rPr dirty="0" sz="2800" spc="-3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Gauss-Markov</a:t>
            </a:r>
            <a:r>
              <a:rPr dirty="0" sz="2800" spc="-7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dipenuhi,</a:t>
            </a:r>
            <a:r>
              <a:rPr dirty="0" sz="2800" spc="-3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maka</a:t>
            </a:r>
            <a:r>
              <a:rPr dirty="0" sz="2800" spc="-3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penduga</a:t>
            </a:r>
            <a:r>
              <a:rPr dirty="0" sz="2800" spc="-20">
                <a:latin typeface="Arial"/>
                <a:cs typeface="Arial"/>
              </a:rPr>
              <a:t> </a:t>
            </a:r>
            <a:r>
              <a:rPr dirty="0" sz="2800" spc="-25">
                <a:latin typeface="Arial"/>
                <a:cs typeface="Arial"/>
              </a:rPr>
              <a:t>OLS </a:t>
            </a:r>
            <a:r>
              <a:rPr dirty="0" sz="2800">
                <a:latin typeface="Arial"/>
                <a:cs typeface="Arial"/>
              </a:rPr>
              <a:t>bersifat</a:t>
            </a:r>
            <a:r>
              <a:rPr dirty="0" sz="2800" spc="-50"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FF0000"/>
                </a:solidFill>
                <a:latin typeface="Arial"/>
                <a:cs typeface="Arial"/>
              </a:rPr>
              <a:t>BLUE</a:t>
            </a:r>
            <a:r>
              <a:rPr dirty="0" sz="2800">
                <a:latin typeface="Arial"/>
                <a:cs typeface="Arial"/>
              </a:rPr>
              <a:t>:</a:t>
            </a:r>
            <a:r>
              <a:rPr dirty="0" sz="2800" spc="-20">
                <a:latin typeface="Arial"/>
                <a:cs typeface="Arial"/>
              </a:rPr>
              <a:t> </a:t>
            </a:r>
            <a:r>
              <a:rPr dirty="0" sz="2800" b="1" i="1">
                <a:latin typeface="Arial"/>
                <a:cs typeface="Arial"/>
              </a:rPr>
              <a:t>Best</a:t>
            </a:r>
            <a:r>
              <a:rPr dirty="0" sz="2800" i="1">
                <a:latin typeface="Arial"/>
                <a:cs typeface="Arial"/>
              </a:rPr>
              <a:t>,</a:t>
            </a:r>
            <a:r>
              <a:rPr dirty="0" sz="2800" spc="-25" i="1">
                <a:latin typeface="Arial"/>
                <a:cs typeface="Arial"/>
              </a:rPr>
              <a:t> </a:t>
            </a:r>
            <a:r>
              <a:rPr dirty="0" sz="2800" i="1">
                <a:latin typeface="Arial"/>
                <a:cs typeface="Arial"/>
              </a:rPr>
              <a:t>Linear</a:t>
            </a:r>
            <a:r>
              <a:rPr dirty="0" sz="2800">
                <a:latin typeface="Arial"/>
                <a:cs typeface="Arial"/>
              </a:rPr>
              <a:t>,</a:t>
            </a:r>
            <a:r>
              <a:rPr dirty="0" sz="2800" spc="-20">
                <a:latin typeface="Arial"/>
                <a:cs typeface="Arial"/>
              </a:rPr>
              <a:t> </a:t>
            </a:r>
            <a:r>
              <a:rPr dirty="0" sz="2800" b="1" i="1">
                <a:latin typeface="Arial"/>
                <a:cs typeface="Arial"/>
              </a:rPr>
              <a:t>Unbiased </a:t>
            </a:r>
            <a:r>
              <a:rPr dirty="0" sz="2800" spc="-10">
                <a:latin typeface="Arial"/>
                <a:cs typeface="Arial"/>
              </a:rPr>
              <a:t>estimator.</a:t>
            </a:r>
            <a:r>
              <a:rPr dirty="0" sz="2800">
                <a:latin typeface="Arial"/>
                <a:cs typeface="Arial"/>
              </a:rPr>
              <a:t>	Artinya</a:t>
            </a:r>
            <a:r>
              <a:rPr dirty="0" sz="2800" spc="-55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penduga </a:t>
            </a:r>
            <a:r>
              <a:rPr dirty="0" sz="2800">
                <a:latin typeface="Arial"/>
                <a:cs typeface="Arial"/>
              </a:rPr>
              <a:t>varians</a:t>
            </a:r>
            <a:r>
              <a:rPr dirty="0" sz="2800" spc="-1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yang</a:t>
            </a:r>
            <a:r>
              <a:rPr dirty="0" sz="2800" spc="-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minimum (efisien),</a:t>
            </a:r>
            <a:r>
              <a:rPr dirty="0" sz="2800" spc="-5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serta</a:t>
            </a:r>
            <a:r>
              <a:rPr dirty="0" sz="2800" spc="-6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untuk</a:t>
            </a:r>
            <a:r>
              <a:rPr dirty="0" sz="2800" spc="-5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sampel</a:t>
            </a:r>
            <a:r>
              <a:rPr dirty="0" sz="2800" spc="-1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yang</a:t>
            </a:r>
            <a:r>
              <a:rPr dirty="0" sz="2800" spc="5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berulang </a:t>
            </a:r>
            <a:r>
              <a:rPr dirty="0" sz="2800">
                <a:latin typeface="Arial"/>
                <a:cs typeface="Arial"/>
              </a:rPr>
              <a:t>penduga</a:t>
            </a:r>
            <a:r>
              <a:rPr dirty="0" sz="2800" spc="-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(b</a:t>
            </a:r>
            <a:r>
              <a:rPr dirty="0" baseline="-19519" sz="2775">
                <a:latin typeface="Arial"/>
                <a:cs typeface="Arial"/>
              </a:rPr>
              <a:t>2</a:t>
            </a:r>
            <a:r>
              <a:rPr dirty="0" sz="2800">
                <a:latin typeface="Arial"/>
                <a:cs typeface="Arial"/>
              </a:rPr>
              <a:t>) secara</a:t>
            </a:r>
            <a:r>
              <a:rPr dirty="0" sz="2800" spc="-5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rata-rata</a:t>
            </a:r>
            <a:r>
              <a:rPr dirty="0" sz="2800" spc="-1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sama</a:t>
            </a:r>
            <a:r>
              <a:rPr dirty="0" sz="2800" spc="-2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dengan </a:t>
            </a:r>
            <a:r>
              <a:rPr dirty="0" sz="2800" spc="-25">
                <a:latin typeface="Symbol"/>
                <a:cs typeface="Symbol"/>
              </a:rPr>
              <a:t></a:t>
            </a:r>
            <a:r>
              <a:rPr dirty="0" baseline="-19519" sz="2775" spc="-37">
                <a:latin typeface="Arial"/>
                <a:cs typeface="Arial"/>
              </a:rPr>
              <a:t>2</a:t>
            </a:r>
            <a:r>
              <a:rPr dirty="0" sz="2800" spc="-25">
                <a:latin typeface="Arial"/>
                <a:cs typeface="Arial"/>
              </a:rPr>
              <a:t>.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0141" y="492074"/>
            <a:ext cx="5737225" cy="69532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Pengertian</a:t>
            </a:r>
            <a:r>
              <a:rPr dirty="0" spc="-225"/>
              <a:t> </a:t>
            </a:r>
            <a:r>
              <a:rPr dirty="0" spc="-10"/>
              <a:t>Aukorelasi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82041" y="1273505"/>
            <a:ext cx="11102340" cy="46443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0" marR="55880" indent="-457834">
              <a:lnSpc>
                <a:spcPct val="100000"/>
              </a:lnSpc>
              <a:spcBef>
                <a:spcPts val="95"/>
              </a:spcBef>
              <a:buChar char="•"/>
              <a:tabLst>
                <a:tab pos="508000" algn="l"/>
                <a:tab pos="508634" algn="l"/>
              </a:tabLst>
            </a:pPr>
            <a:r>
              <a:rPr dirty="0" sz="2600">
                <a:latin typeface="Arial"/>
                <a:cs typeface="Arial"/>
              </a:rPr>
              <a:t>Kondisi</a:t>
            </a:r>
            <a:r>
              <a:rPr dirty="0" sz="2600" spc="-4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dimana</a:t>
            </a:r>
            <a:r>
              <a:rPr dirty="0" sz="2600" spc="-4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ada</a:t>
            </a:r>
            <a:r>
              <a:rPr dirty="0" sz="2600" spc="-60">
                <a:latin typeface="Arial"/>
                <a:cs typeface="Arial"/>
              </a:rPr>
              <a:t> </a:t>
            </a:r>
            <a:r>
              <a:rPr dirty="0" sz="2600" b="1">
                <a:solidFill>
                  <a:srgbClr val="FF0000"/>
                </a:solidFill>
                <a:latin typeface="Arial"/>
                <a:cs typeface="Arial"/>
              </a:rPr>
              <a:t>korelasi</a:t>
            </a:r>
            <a:r>
              <a:rPr dirty="0" sz="2600" spc="-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600" b="1">
                <a:solidFill>
                  <a:srgbClr val="FF0000"/>
                </a:solidFill>
                <a:latin typeface="Arial"/>
                <a:cs typeface="Arial"/>
              </a:rPr>
              <a:t>antar</a:t>
            </a:r>
            <a:r>
              <a:rPr dirty="0" sz="2600" spc="-6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600" b="1">
                <a:solidFill>
                  <a:srgbClr val="FF0000"/>
                </a:solidFill>
                <a:latin typeface="Arial"/>
                <a:cs typeface="Arial"/>
              </a:rPr>
              <a:t>galat</a:t>
            </a:r>
            <a:r>
              <a:rPr dirty="0" sz="2600">
                <a:latin typeface="Arial"/>
                <a:cs typeface="Arial"/>
              </a:rPr>
              <a:t>.</a:t>
            </a:r>
            <a:r>
              <a:rPr dirty="0" sz="2600" spc="-4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Lazim</a:t>
            </a:r>
            <a:r>
              <a:rPr dirty="0" sz="2600" spc="-7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pada</a:t>
            </a:r>
            <a:r>
              <a:rPr dirty="0" sz="2600" spc="-3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data</a:t>
            </a:r>
            <a:r>
              <a:rPr dirty="0" sz="2600" spc="-5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deret</a:t>
            </a:r>
            <a:r>
              <a:rPr dirty="0" sz="2600" spc="-70">
                <a:latin typeface="Arial"/>
                <a:cs typeface="Arial"/>
              </a:rPr>
              <a:t> </a:t>
            </a:r>
            <a:r>
              <a:rPr dirty="0" sz="2600" spc="-10">
                <a:latin typeface="Arial"/>
                <a:cs typeface="Arial"/>
              </a:rPr>
              <a:t>waktu. </a:t>
            </a:r>
            <a:r>
              <a:rPr dirty="0" sz="2600">
                <a:latin typeface="Arial"/>
                <a:cs typeface="Arial"/>
              </a:rPr>
              <a:t>Grafik</a:t>
            </a:r>
            <a:r>
              <a:rPr dirty="0" sz="2600" spc="-45">
                <a:latin typeface="Arial"/>
                <a:cs typeface="Arial"/>
              </a:rPr>
              <a:t> </a:t>
            </a:r>
            <a:r>
              <a:rPr dirty="0" sz="2600" b="1">
                <a:latin typeface="Arial"/>
                <a:cs typeface="Arial"/>
              </a:rPr>
              <a:t>plot</a:t>
            </a:r>
            <a:r>
              <a:rPr dirty="0" sz="2600" spc="-45" b="1">
                <a:latin typeface="Arial"/>
                <a:cs typeface="Arial"/>
              </a:rPr>
              <a:t> </a:t>
            </a:r>
            <a:r>
              <a:rPr dirty="0" sz="2600" b="1">
                <a:latin typeface="Arial"/>
                <a:cs typeface="Arial"/>
              </a:rPr>
              <a:t>data</a:t>
            </a:r>
            <a:r>
              <a:rPr dirty="0" sz="2600" spc="-45" b="1">
                <a:latin typeface="Arial"/>
                <a:cs typeface="Arial"/>
              </a:rPr>
              <a:t> </a:t>
            </a:r>
            <a:r>
              <a:rPr dirty="0" sz="2600" b="1" i="1">
                <a:latin typeface="Arial"/>
                <a:cs typeface="Arial"/>
              </a:rPr>
              <a:t>residual</a:t>
            </a:r>
            <a:r>
              <a:rPr dirty="0" sz="2600" spc="-20" b="1" i="1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waktu t</a:t>
            </a:r>
            <a:r>
              <a:rPr dirty="0" sz="2600" spc="-6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dengan</a:t>
            </a:r>
            <a:r>
              <a:rPr dirty="0" sz="2600" spc="5">
                <a:latin typeface="Arial"/>
                <a:cs typeface="Arial"/>
              </a:rPr>
              <a:t> </a:t>
            </a:r>
            <a:r>
              <a:rPr dirty="0" sz="2600" spc="-20" i="1">
                <a:latin typeface="Arial"/>
                <a:cs typeface="Arial"/>
              </a:rPr>
              <a:t>lag</a:t>
            </a:r>
            <a:r>
              <a:rPr dirty="0" sz="2600" spc="-20">
                <a:latin typeface="Arial"/>
                <a:cs typeface="Arial"/>
              </a:rPr>
              <a:t>-</a:t>
            </a:r>
            <a:r>
              <a:rPr dirty="0" sz="2600">
                <a:latin typeface="Arial"/>
                <a:cs typeface="Arial"/>
              </a:rPr>
              <a:t>nya </a:t>
            </a:r>
            <a:r>
              <a:rPr dirty="0" sz="2600" spc="-10">
                <a:latin typeface="Arial"/>
                <a:cs typeface="Arial"/>
              </a:rPr>
              <a:t>(t-</a:t>
            </a:r>
            <a:r>
              <a:rPr dirty="0" sz="2600">
                <a:latin typeface="Arial"/>
                <a:cs typeface="Arial"/>
              </a:rPr>
              <a:t>1):</a:t>
            </a:r>
            <a:r>
              <a:rPr dirty="0" sz="2600" spc="-4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Jika</a:t>
            </a:r>
            <a:r>
              <a:rPr dirty="0" sz="2600" spc="-4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ada</a:t>
            </a:r>
            <a:r>
              <a:rPr dirty="0" sz="2600" spc="-45">
                <a:latin typeface="Arial"/>
                <a:cs typeface="Arial"/>
              </a:rPr>
              <a:t> </a:t>
            </a:r>
            <a:r>
              <a:rPr dirty="0" sz="2600" spc="-20">
                <a:latin typeface="Arial"/>
                <a:cs typeface="Arial"/>
              </a:rPr>
              <a:t>pola </a:t>
            </a:r>
            <a:r>
              <a:rPr dirty="0" sz="2600">
                <a:latin typeface="Arial"/>
                <a:cs typeface="Arial"/>
              </a:rPr>
              <a:t>“</a:t>
            </a:r>
            <a:r>
              <a:rPr dirty="0" sz="2600" i="1">
                <a:latin typeface="Arial"/>
                <a:cs typeface="Arial"/>
              </a:rPr>
              <a:t>trend</a:t>
            </a:r>
            <a:r>
              <a:rPr dirty="0" sz="2600">
                <a:latin typeface="Arial"/>
                <a:cs typeface="Arial"/>
              </a:rPr>
              <a:t>”</a:t>
            </a:r>
            <a:r>
              <a:rPr dirty="0" sz="2600" spc="-5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naik</a:t>
            </a:r>
            <a:r>
              <a:rPr dirty="0" sz="2600" spc="-4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atau</a:t>
            </a:r>
            <a:r>
              <a:rPr dirty="0" sz="2600" spc="-6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turun</a:t>
            </a:r>
            <a:r>
              <a:rPr dirty="0" sz="2600" spc="-4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seperti</a:t>
            </a:r>
            <a:r>
              <a:rPr dirty="0" sz="2600" spc="-3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di</a:t>
            </a:r>
            <a:r>
              <a:rPr dirty="0" sz="2600" spc="-8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bawah,</a:t>
            </a:r>
            <a:r>
              <a:rPr dirty="0" sz="2600" spc="-1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maka</a:t>
            </a:r>
            <a:r>
              <a:rPr dirty="0" sz="2600" spc="-4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ada</a:t>
            </a:r>
            <a:r>
              <a:rPr dirty="0" sz="2600" spc="-5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indikasi</a:t>
            </a:r>
            <a:r>
              <a:rPr dirty="0" sz="2600" spc="-35">
                <a:latin typeface="Arial"/>
                <a:cs typeface="Arial"/>
              </a:rPr>
              <a:t> </a:t>
            </a:r>
            <a:r>
              <a:rPr dirty="0" sz="2600" spc="-10">
                <a:latin typeface="Arial"/>
                <a:cs typeface="Arial"/>
              </a:rPr>
              <a:t>autokoerlasi</a:t>
            </a:r>
            <a:endParaRPr sz="2600">
              <a:latin typeface="Arial"/>
              <a:cs typeface="Arial"/>
            </a:endParaRPr>
          </a:p>
          <a:p>
            <a:pPr marL="508000" marR="6451600" indent="-457834">
              <a:lnSpc>
                <a:spcPct val="100000"/>
              </a:lnSpc>
              <a:spcBef>
                <a:spcPts val="2045"/>
              </a:spcBef>
              <a:buChar char="•"/>
              <a:tabLst>
                <a:tab pos="508000" algn="l"/>
                <a:tab pos="508634" algn="l"/>
                <a:tab pos="3376929" algn="l"/>
              </a:tabLst>
            </a:pPr>
            <a:r>
              <a:rPr dirty="0" sz="2600">
                <a:latin typeface="Arial"/>
                <a:cs typeface="Arial"/>
              </a:rPr>
              <a:t>Jadi</a:t>
            </a:r>
            <a:r>
              <a:rPr dirty="0" sz="2600" spc="-6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data</a:t>
            </a:r>
            <a:r>
              <a:rPr dirty="0" sz="2600" spc="-35">
                <a:latin typeface="Arial"/>
                <a:cs typeface="Arial"/>
              </a:rPr>
              <a:t> </a:t>
            </a:r>
            <a:r>
              <a:rPr dirty="0" sz="2600" i="1">
                <a:latin typeface="Arial"/>
                <a:cs typeface="Arial"/>
              </a:rPr>
              <a:t>residual</a:t>
            </a:r>
            <a:r>
              <a:rPr dirty="0" sz="2600" spc="-30" i="1">
                <a:latin typeface="Arial"/>
                <a:cs typeface="Arial"/>
              </a:rPr>
              <a:t> </a:t>
            </a:r>
            <a:r>
              <a:rPr dirty="0" sz="2600" spc="-10">
                <a:latin typeface="Arial"/>
                <a:cs typeface="Arial"/>
              </a:rPr>
              <a:t>disusun </a:t>
            </a:r>
            <a:r>
              <a:rPr dirty="0" sz="2600">
                <a:latin typeface="Arial"/>
                <a:cs typeface="Arial"/>
              </a:rPr>
              <a:t>pada</a:t>
            </a:r>
            <a:r>
              <a:rPr dirty="0" sz="2600" spc="-2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dua</a:t>
            </a:r>
            <a:r>
              <a:rPr dirty="0" sz="2600" spc="-4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kolom</a:t>
            </a:r>
            <a:r>
              <a:rPr dirty="0" sz="2600" spc="-20">
                <a:latin typeface="Arial"/>
                <a:cs typeface="Arial"/>
              </a:rPr>
              <a:t> </a:t>
            </a:r>
            <a:r>
              <a:rPr dirty="0" sz="2600" spc="-10">
                <a:latin typeface="Arial"/>
                <a:cs typeface="Arial"/>
              </a:rPr>
              <a:t>terakhir. </a:t>
            </a:r>
            <a:r>
              <a:rPr dirty="0" sz="2600">
                <a:latin typeface="Arial"/>
                <a:cs typeface="Arial"/>
              </a:rPr>
              <a:t>Misal</a:t>
            </a:r>
            <a:r>
              <a:rPr dirty="0" sz="2600" spc="-2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e</a:t>
            </a:r>
            <a:r>
              <a:rPr dirty="0" baseline="-19607" sz="2550">
                <a:latin typeface="Arial"/>
                <a:cs typeface="Arial"/>
              </a:rPr>
              <a:t>t</a:t>
            </a:r>
            <a:r>
              <a:rPr dirty="0" baseline="-19607" sz="2550" spc="307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pada</a:t>
            </a:r>
            <a:r>
              <a:rPr dirty="0" sz="2600" spc="-25">
                <a:latin typeface="Arial"/>
                <a:cs typeface="Arial"/>
              </a:rPr>
              <a:t> </a:t>
            </a:r>
            <a:r>
              <a:rPr dirty="0" sz="2600" spc="-10">
                <a:latin typeface="Arial"/>
                <a:cs typeface="Arial"/>
              </a:rPr>
              <a:t>kolom </a:t>
            </a:r>
            <a:r>
              <a:rPr dirty="0" sz="2600">
                <a:latin typeface="Arial"/>
                <a:cs typeface="Arial"/>
              </a:rPr>
              <a:t>keempat</a:t>
            </a:r>
            <a:r>
              <a:rPr dirty="0" sz="2600" spc="-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dan </a:t>
            </a:r>
            <a:r>
              <a:rPr dirty="0" sz="2600" spc="-10">
                <a:latin typeface="Arial"/>
                <a:cs typeface="Arial"/>
              </a:rPr>
              <a:t>e</a:t>
            </a:r>
            <a:r>
              <a:rPr dirty="0" baseline="-19607" sz="2550" spc="-15">
                <a:latin typeface="Arial"/>
                <a:cs typeface="Arial"/>
              </a:rPr>
              <a:t>t-</a:t>
            </a:r>
            <a:r>
              <a:rPr dirty="0" baseline="-19607" sz="2550">
                <a:latin typeface="Arial"/>
                <a:cs typeface="Arial"/>
              </a:rPr>
              <a:t>1</a:t>
            </a:r>
            <a:r>
              <a:rPr dirty="0" baseline="-19607" sz="2550" spc="337">
                <a:latin typeface="Arial"/>
                <a:cs typeface="Arial"/>
              </a:rPr>
              <a:t> </a:t>
            </a:r>
            <a:r>
              <a:rPr dirty="0" sz="2600" spc="-10">
                <a:latin typeface="Arial"/>
                <a:cs typeface="Arial"/>
              </a:rPr>
              <a:t>kolom </a:t>
            </a:r>
            <a:r>
              <a:rPr dirty="0" sz="2600">
                <a:latin typeface="Arial"/>
                <a:cs typeface="Arial"/>
              </a:rPr>
              <a:t>kelima.</a:t>
            </a:r>
            <a:r>
              <a:rPr dirty="0" sz="2600" spc="-6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Kedua</a:t>
            </a:r>
            <a:r>
              <a:rPr dirty="0" sz="2600" spc="-2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kolom</a:t>
            </a:r>
            <a:r>
              <a:rPr dirty="0" sz="2600" spc="-70">
                <a:latin typeface="Arial"/>
                <a:cs typeface="Arial"/>
              </a:rPr>
              <a:t> </a:t>
            </a:r>
            <a:r>
              <a:rPr dirty="0" sz="2600" spc="-25">
                <a:latin typeface="Arial"/>
                <a:cs typeface="Arial"/>
              </a:rPr>
              <a:t>ini </a:t>
            </a:r>
            <a:r>
              <a:rPr dirty="0" sz="2600">
                <a:latin typeface="Arial"/>
                <a:cs typeface="Arial"/>
              </a:rPr>
              <a:t>diplot</a:t>
            </a:r>
            <a:r>
              <a:rPr dirty="0" sz="2600" spc="-5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dalam</a:t>
            </a:r>
            <a:r>
              <a:rPr dirty="0" sz="2600" spc="-65">
                <a:latin typeface="Arial"/>
                <a:cs typeface="Arial"/>
              </a:rPr>
              <a:t> </a:t>
            </a:r>
            <a:r>
              <a:rPr dirty="0" sz="2600" spc="-10">
                <a:latin typeface="Arial"/>
                <a:cs typeface="Arial"/>
              </a:rPr>
              <a:t>grafik</a:t>
            </a:r>
            <a:r>
              <a:rPr dirty="0" sz="2600">
                <a:latin typeface="Arial"/>
                <a:cs typeface="Arial"/>
              </a:rPr>
              <a:t>	(kolom</a:t>
            </a:r>
            <a:r>
              <a:rPr dirty="0" sz="2600" spc="-60">
                <a:latin typeface="Arial"/>
                <a:cs typeface="Arial"/>
              </a:rPr>
              <a:t> </a:t>
            </a:r>
            <a:r>
              <a:rPr dirty="0" sz="2600" spc="-50">
                <a:latin typeface="Arial"/>
                <a:cs typeface="Arial"/>
              </a:rPr>
              <a:t>1 </a:t>
            </a:r>
            <a:r>
              <a:rPr dirty="0" sz="2600">
                <a:latin typeface="Arial"/>
                <a:cs typeface="Arial"/>
              </a:rPr>
              <a:t>dan</a:t>
            </a:r>
            <a:r>
              <a:rPr dirty="0" sz="2600" spc="-4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2,</a:t>
            </a:r>
            <a:r>
              <a:rPr dirty="0" sz="2600" spc="-4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3</a:t>
            </a:r>
            <a:r>
              <a:rPr dirty="0" sz="2600" spc="-3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adalah</a:t>
            </a:r>
            <a:r>
              <a:rPr dirty="0" sz="2600" spc="-1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C</a:t>
            </a:r>
            <a:r>
              <a:rPr dirty="0" sz="2600" spc="-3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aktual,</a:t>
            </a:r>
            <a:r>
              <a:rPr dirty="0" sz="2600" spc="-60">
                <a:latin typeface="Arial"/>
                <a:cs typeface="Arial"/>
              </a:rPr>
              <a:t> </a:t>
            </a:r>
            <a:r>
              <a:rPr dirty="0" sz="2600" spc="-50">
                <a:latin typeface="Arial"/>
                <a:cs typeface="Arial"/>
              </a:rPr>
              <a:t>Y </a:t>
            </a:r>
            <a:r>
              <a:rPr dirty="0" sz="2600">
                <a:latin typeface="Arial"/>
                <a:cs typeface="Arial"/>
              </a:rPr>
              <a:t>dan</a:t>
            </a:r>
            <a:r>
              <a:rPr dirty="0" sz="2600" spc="-3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C</a:t>
            </a:r>
            <a:r>
              <a:rPr dirty="0" sz="2600" spc="-2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hasil</a:t>
            </a:r>
            <a:r>
              <a:rPr dirty="0" sz="2600" spc="-30">
                <a:latin typeface="Arial"/>
                <a:cs typeface="Arial"/>
              </a:rPr>
              <a:t> </a:t>
            </a:r>
            <a:r>
              <a:rPr dirty="0" sz="2600" spc="-10">
                <a:latin typeface="Arial"/>
                <a:cs typeface="Arial"/>
              </a:rPr>
              <a:t>dugaan/regresi)</a:t>
            </a:r>
            <a:endParaRPr sz="260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94959" y="2636520"/>
            <a:ext cx="6083808" cy="2965704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6957916" y="6549694"/>
            <a:ext cx="172085" cy="1924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435"/>
              </a:lnSpc>
            </a:pPr>
            <a:r>
              <a:rPr dirty="0" sz="1500" spc="10">
                <a:latin typeface="Calibri"/>
                <a:cs typeface="Calibri"/>
              </a:rPr>
              <a:t>@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15290" y="6308394"/>
            <a:ext cx="6417945" cy="4464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 sz="1500" spc="-10" b="1">
                <a:latin typeface="Calibri"/>
                <a:cs typeface="Calibri"/>
              </a:rPr>
              <a:t>Department</a:t>
            </a:r>
            <a:r>
              <a:rPr dirty="0" sz="1500" spc="-85" b="1">
                <a:latin typeface="Calibri"/>
                <a:cs typeface="Calibri"/>
              </a:rPr>
              <a:t> </a:t>
            </a:r>
            <a:r>
              <a:rPr dirty="0" sz="1500" b="1">
                <a:latin typeface="Calibri"/>
                <a:cs typeface="Calibri"/>
              </a:rPr>
              <a:t>of</a:t>
            </a:r>
            <a:r>
              <a:rPr dirty="0" sz="1500" spc="5" b="1">
                <a:latin typeface="Calibri"/>
                <a:cs typeface="Calibri"/>
              </a:rPr>
              <a:t> </a:t>
            </a:r>
            <a:r>
              <a:rPr dirty="0" sz="1500" b="1">
                <a:latin typeface="Calibri"/>
                <a:cs typeface="Calibri"/>
              </a:rPr>
              <a:t>Economics</a:t>
            </a:r>
            <a:r>
              <a:rPr dirty="0" sz="1500" spc="-25" b="1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| </a:t>
            </a:r>
            <a:r>
              <a:rPr dirty="0" sz="1500" spc="-10">
                <a:latin typeface="Calibri"/>
                <a:cs typeface="Calibri"/>
              </a:rPr>
              <a:t>Faculty</a:t>
            </a:r>
            <a:r>
              <a:rPr dirty="0" sz="1500" spc="-4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of</a:t>
            </a:r>
            <a:r>
              <a:rPr dirty="0" sz="1500" spc="-5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Economics</a:t>
            </a:r>
            <a:r>
              <a:rPr dirty="0" sz="1500" spc="-2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and</a:t>
            </a:r>
            <a:r>
              <a:rPr dirty="0" sz="1500" spc="-5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Management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500">
                <a:latin typeface="Segoe UI Symbol"/>
                <a:cs typeface="Segoe UI Symbol"/>
              </a:rPr>
              <a:t>☎</a:t>
            </a:r>
            <a:r>
              <a:rPr dirty="0" sz="1500" spc="-114">
                <a:latin typeface="Segoe UI Symbol"/>
                <a:cs typeface="Segoe UI Symbol"/>
              </a:rPr>
              <a:t> </a:t>
            </a:r>
            <a:r>
              <a:rPr dirty="0" sz="1500">
                <a:latin typeface="Calibri"/>
                <a:cs typeface="Calibri"/>
              </a:rPr>
              <a:t>+62</a:t>
            </a:r>
            <a:r>
              <a:rPr dirty="0" sz="1500" spc="-4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251</a:t>
            </a:r>
            <a:r>
              <a:rPr dirty="0" sz="1500" spc="-2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8626602</a:t>
            </a:r>
            <a:r>
              <a:rPr dirty="0" sz="1500" spc="245">
                <a:latin typeface="Calibri"/>
                <a:cs typeface="Calibri"/>
              </a:rPr>
              <a:t> </a:t>
            </a:r>
            <a:r>
              <a:rPr dirty="0" sz="1500">
                <a:latin typeface="Segoe UI Symbol"/>
                <a:cs typeface="Segoe UI Symbol"/>
              </a:rPr>
              <a:t>✉</a:t>
            </a:r>
            <a:r>
              <a:rPr dirty="0" sz="1500" spc="-105">
                <a:latin typeface="Segoe UI Symbol"/>
                <a:cs typeface="Segoe UI Symbol"/>
              </a:rPr>
              <a:t> </a:t>
            </a:r>
            <a:r>
              <a:rPr dirty="0" sz="1500">
                <a:latin typeface="Calibri"/>
                <a:cs typeface="Calibri"/>
                <a:hlinkClick r:id="rId3"/>
              </a:rPr>
              <a:t>ilmu_ekonomi@ipb.ac.id</a:t>
            </a:r>
            <a:r>
              <a:rPr dirty="0" sz="1500" spc="250">
                <a:latin typeface="Calibri"/>
                <a:cs typeface="Calibri"/>
              </a:rPr>
              <a:t> </a:t>
            </a:r>
            <a:r>
              <a:rPr dirty="0" sz="1500" b="1">
                <a:latin typeface="Segoe UI Symbol"/>
                <a:cs typeface="Segoe UI Symbol"/>
              </a:rPr>
              <a:t>🌐</a:t>
            </a:r>
            <a:r>
              <a:rPr dirty="0" sz="1500" spc="-100" b="1">
                <a:latin typeface="Segoe UI Symbol"/>
                <a:cs typeface="Segoe UI Symbol"/>
              </a:rPr>
              <a:t> </a:t>
            </a:r>
            <a:r>
              <a:rPr dirty="0" sz="1500" spc="-10">
                <a:latin typeface="Calibri"/>
                <a:cs typeface="Calibri"/>
                <a:hlinkClick r:id="rId4"/>
              </a:rPr>
              <a:t>http://ekonomi.fem.ipb.ac.id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 spc="-10"/>
              <a:t>dept.ieipb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0141" y="303876"/>
            <a:ext cx="10865485" cy="1432560"/>
          </a:xfrm>
          <a:prstGeom prst="rect"/>
        </p:spPr>
        <p:txBody>
          <a:bodyPr wrap="square" lIns="0" tIns="2000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75"/>
              </a:spcBef>
            </a:pPr>
            <a:r>
              <a:rPr dirty="0"/>
              <a:t>Sumber</a:t>
            </a:r>
            <a:r>
              <a:rPr dirty="0" spc="-165"/>
              <a:t> </a:t>
            </a:r>
            <a:r>
              <a:rPr dirty="0" spc="-10"/>
              <a:t>Autokorelasi</a:t>
            </a:r>
          </a:p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dirty="0" sz="2800" b="0">
                <a:solidFill>
                  <a:srgbClr val="000000"/>
                </a:solidFill>
                <a:latin typeface="Arial"/>
                <a:cs typeface="Arial"/>
              </a:rPr>
              <a:t>Ada</a:t>
            </a:r>
            <a:r>
              <a:rPr dirty="0" sz="2800" spc="-65" b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800" b="0">
                <a:solidFill>
                  <a:srgbClr val="000000"/>
                </a:solidFill>
                <a:latin typeface="Arial"/>
                <a:cs typeface="Arial"/>
              </a:rPr>
              <a:t>beberapa</a:t>
            </a:r>
            <a:r>
              <a:rPr dirty="0" sz="2800" spc="-25" b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800" b="0">
                <a:solidFill>
                  <a:srgbClr val="000000"/>
                </a:solidFill>
                <a:latin typeface="Arial"/>
                <a:cs typeface="Arial"/>
              </a:rPr>
              <a:t>sumber</a:t>
            </a:r>
            <a:r>
              <a:rPr dirty="0" sz="2800" spc="-15" b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800" b="0">
                <a:solidFill>
                  <a:srgbClr val="000000"/>
                </a:solidFill>
                <a:latin typeface="Arial"/>
                <a:cs typeface="Arial"/>
              </a:rPr>
              <a:t>terjadinya</a:t>
            </a:r>
            <a:r>
              <a:rPr dirty="0" sz="2800" spc="-20" b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800" b="0">
                <a:solidFill>
                  <a:srgbClr val="000000"/>
                </a:solidFill>
                <a:latin typeface="Arial"/>
                <a:cs typeface="Arial"/>
              </a:rPr>
              <a:t>autokorelasi</a:t>
            </a:r>
            <a:r>
              <a:rPr dirty="0" sz="2800" spc="-80" b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800" b="0">
                <a:solidFill>
                  <a:srgbClr val="000000"/>
                </a:solidFill>
                <a:latin typeface="Arial"/>
                <a:cs typeface="Arial"/>
              </a:rPr>
              <a:t>dalam</a:t>
            </a:r>
            <a:r>
              <a:rPr dirty="0" sz="2800" spc="-35" b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800" b="0">
                <a:solidFill>
                  <a:srgbClr val="000000"/>
                </a:solidFill>
                <a:latin typeface="Arial"/>
                <a:cs typeface="Arial"/>
              </a:rPr>
              <a:t>ekonomi,</a:t>
            </a:r>
            <a:r>
              <a:rPr dirty="0" sz="2800" spc="-30" b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800" spc="-10" b="0">
                <a:solidFill>
                  <a:srgbClr val="000000"/>
                </a:solidFill>
                <a:latin typeface="Arial"/>
                <a:cs typeface="Arial"/>
              </a:rPr>
              <a:t>misal: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957916" y="6549694"/>
            <a:ext cx="172085" cy="1924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435"/>
              </a:lnSpc>
            </a:pPr>
            <a:r>
              <a:rPr dirty="0" sz="1500" spc="10">
                <a:latin typeface="Calibri"/>
                <a:cs typeface="Calibri"/>
              </a:rPr>
              <a:t>@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15290" y="6308394"/>
            <a:ext cx="6417945" cy="4464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 sz="1500" spc="-10" b="1">
                <a:latin typeface="Calibri"/>
                <a:cs typeface="Calibri"/>
              </a:rPr>
              <a:t>Department</a:t>
            </a:r>
            <a:r>
              <a:rPr dirty="0" sz="1500" spc="-85" b="1">
                <a:latin typeface="Calibri"/>
                <a:cs typeface="Calibri"/>
              </a:rPr>
              <a:t> </a:t>
            </a:r>
            <a:r>
              <a:rPr dirty="0" sz="1500" b="1">
                <a:latin typeface="Calibri"/>
                <a:cs typeface="Calibri"/>
              </a:rPr>
              <a:t>of</a:t>
            </a:r>
            <a:r>
              <a:rPr dirty="0" sz="1500" spc="5" b="1">
                <a:latin typeface="Calibri"/>
                <a:cs typeface="Calibri"/>
              </a:rPr>
              <a:t> </a:t>
            </a:r>
            <a:r>
              <a:rPr dirty="0" sz="1500" b="1">
                <a:latin typeface="Calibri"/>
                <a:cs typeface="Calibri"/>
              </a:rPr>
              <a:t>Economics</a:t>
            </a:r>
            <a:r>
              <a:rPr dirty="0" sz="1500" spc="-25" b="1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| </a:t>
            </a:r>
            <a:r>
              <a:rPr dirty="0" sz="1500" spc="-10">
                <a:latin typeface="Calibri"/>
                <a:cs typeface="Calibri"/>
              </a:rPr>
              <a:t>Faculty</a:t>
            </a:r>
            <a:r>
              <a:rPr dirty="0" sz="1500" spc="-4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of</a:t>
            </a:r>
            <a:r>
              <a:rPr dirty="0" sz="1500" spc="-5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Economics</a:t>
            </a:r>
            <a:r>
              <a:rPr dirty="0" sz="1500" spc="-2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and</a:t>
            </a:r>
            <a:r>
              <a:rPr dirty="0" sz="1500" spc="-5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Management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500">
                <a:latin typeface="Segoe UI Symbol"/>
                <a:cs typeface="Segoe UI Symbol"/>
              </a:rPr>
              <a:t>☎</a:t>
            </a:r>
            <a:r>
              <a:rPr dirty="0" sz="1500" spc="-114">
                <a:latin typeface="Segoe UI Symbol"/>
                <a:cs typeface="Segoe UI Symbol"/>
              </a:rPr>
              <a:t> </a:t>
            </a:r>
            <a:r>
              <a:rPr dirty="0" sz="1500">
                <a:latin typeface="Calibri"/>
                <a:cs typeface="Calibri"/>
              </a:rPr>
              <a:t>+62</a:t>
            </a:r>
            <a:r>
              <a:rPr dirty="0" sz="1500" spc="-4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251</a:t>
            </a:r>
            <a:r>
              <a:rPr dirty="0" sz="1500" spc="-2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8626602</a:t>
            </a:r>
            <a:r>
              <a:rPr dirty="0" sz="1500" spc="245">
                <a:latin typeface="Calibri"/>
                <a:cs typeface="Calibri"/>
              </a:rPr>
              <a:t> </a:t>
            </a:r>
            <a:r>
              <a:rPr dirty="0" sz="1500">
                <a:latin typeface="Segoe UI Symbol"/>
                <a:cs typeface="Segoe UI Symbol"/>
              </a:rPr>
              <a:t>✉</a:t>
            </a:r>
            <a:r>
              <a:rPr dirty="0" sz="1500" spc="-105">
                <a:latin typeface="Segoe UI Symbol"/>
                <a:cs typeface="Segoe UI Symbol"/>
              </a:rPr>
              <a:t> </a:t>
            </a:r>
            <a:r>
              <a:rPr dirty="0" sz="1500">
                <a:latin typeface="Calibri"/>
                <a:cs typeface="Calibri"/>
                <a:hlinkClick r:id="rId2"/>
              </a:rPr>
              <a:t>ilmu_ekonomi@ipb.ac.id</a:t>
            </a:r>
            <a:r>
              <a:rPr dirty="0" sz="1500" spc="250">
                <a:latin typeface="Calibri"/>
                <a:cs typeface="Calibri"/>
              </a:rPr>
              <a:t> </a:t>
            </a:r>
            <a:r>
              <a:rPr dirty="0" sz="1500" b="1">
                <a:latin typeface="Segoe UI Symbol"/>
                <a:cs typeface="Segoe UI Symbol"/>
              </a:rPr>
              <a:t>🌐</a:t>
            </a:r>
            <a:r>
              <a:rPr dirty="0" sz="1500" spc="-100" b="1">
                <a:latin typeface="Segoe UI Symbol"/>
                <a:cs typeface="Segoe UI Symbol"/>
              </a:rPr>
              <a:t> </a:t>
            </a:r>
            <a:r>
              <a:rPr dirty="0" sz="1500" spc="-10">
                <a:latin typeface="Calibri"/>
                <a:cs typeface="Calibri"/>
                <a:hlinkClick r:id="rId3"/>
              </a:rPr>
              <a:t>http://ekonomi.fem.ipb.ac.id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 spc="-10"/>
              <a:t>dept.ieipb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20141" y="2135835"/>
            <a:ext cx="11283950" cy="344233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469900" indent="-457834">
              <a:lnSpc>
                <a:spcPct val="100000"/>
              </a:lnSpc>
              <a:spcBef>
                <a:spcPts val="110"/>
              </a:spcBef>
              <a:buChar char="•"/>
              <a:tabLst>
                <a:tab pos="469900" algn="l"/>
                <a:tab pos="470534" algn="l"/>
                <a:tab pos="1838960" algn="l"/>
              </a:tabLst>
            </a:pPr>
            <a:r>
              <a:rPr dirty="0" sz="2800" spc="-10">
                <a:latin typeface="Arial"/>
                <a:cs typeface="Arial"/>
              </a:rPr>
              <a:t>Inersia:</a:t>
            </a:r>
            <a:r>
              <a:rPr dirty="0" sz="2800">
                <a:latin typeface="Arial"/>
                <a:cs typeface="Arial"/>
              </a:rPr>
              <a:t>	inflasi,</a:t>
            </a:r>
            <a:r>
              <a:rPr dirty="0" sz="2800" spc="-8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suku</a:t>
            </a:r>
            <a:r>
              <a:rPr dirty="0" sz="2800" spc="-10">
                <a:latin typeface="Arial"/>
                <a:cs typeface="Arial"/>
              </a:rPr>
              <a:t> bunga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Arial"/>
              <a:buChar char="•"/>
            </a:pPr>
            <a:endParaRPr sz="2900">
              <a:latin typeface="Arial"/>
              <a:cs typeface="Arial"/>
            </a:endParaRPr>
          </a:p>
          <a:p>
            <a:pPr marL="469900" marR="62230" indent="-457834">
              <a:lnSpc>
                <a:spcPct val="100000"/>
              </a:lnSpc>
              <a:buChar char="•"/>
              <a:tabLst>
                <a:tab pos="469900" algn="l"/>
                <a:tab pos="470534" algn="l"/>
              </a:tabLst>
            </a:pPr>
            <a:r>
              <a:rPr dirty="0" sz="2800">
                <a:latin typeface="Arial"/>
                <a:cs typeface="Arial"/>
              </a:rPr>
              <a:t>Fenomena </a:t>
            </a:r>
            <a:r>
              <a:rPr dirty="0" sz="2800" i="1">
                <a:latin typeface="Arial"/>
                <a:cs typeface="Arial"/>
              </a:rPr>
              <a:t>Cobweb</a:t>
            </a:r>
            <a:r>
              <a:rPr dirty="0" sz="2800">
                <a:latin typeface="Arial"/>
                <a:cs typeface="Arial"/>
              </a:rPr>
              <a:t>:</a:t>
            </a:r>
            <a:r>
              <a:rPr dirty="0" sz="2800" spc="-3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respon</a:t>
            </a:r>
            <a:r>
              <a:rPr dirty="0" sz="2800" spc="-2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penawaran</a:t>
            </a:r>
            <a:r>
              <a:rPr dirty="0" sz="2800" spc="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terhadap</a:t>
            </a:r>
            <a:r>
              <a:rPr dirty="0" sz="2800" spc="-4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harga</a:t>
            </a:r>
            <a:r>
              <a:rPr dirty="0" sz="2800" spc="-2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di</a:t>
            </a:r>
            <a:r>
              <a:rPr dirty="0" sz="2800" spc="-45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pertanian </a:t>
            </a:r>
            <a:r>
              <a:rPr dirty="0" sz="2800">
                <a:latin typeface="Arial"/>
                <a:cs typeface="Arial"/>
              </a:rPr>
              <a:t>ada</a:t>
            </a:r>
            <a:r>
              <a:rPr dirty="0" sz="2800" spc="-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jeda</a:t>
            </a:r>
            <a:r>
              <a:rPr dirty="0" sz="2800" spc="-25">
                <a:latin typeface="Arial"/>
                <a:cs typeface="Arial"/>
              </a:rPr>
              <a:t> </a:t>
            </a:r>
            <a:r>
              <a:rPr dirty="0" sz="2800" spc="-20">
                <a:latin typeface="Arial"/>
                <a:cs typeface="Arial"/>
              </a:rPr>
              <a:t>waktu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Char char="•"/>
            </a:pPr>
            <a:endParaRPr sz="29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Char char="•"/>
              <a:tabLst>
                <a:tab pos="469900" algn="l"/>
                <a:tab pos="470534" algn="l"/>
              </a:tabLst>
            </a:pPr>
            <a:r>
              <a:rPr dirty="0" sz="2800">
                <a:latin typeface="Arial"/>
                <a:cs typeface="Arial"/>
              </a:rPr>
              <a:t>Keputusan</a:t>
            </a:r>
            <a:r>
              <a:rPr dirty="0" sz="2800" spc="-6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konsumsi,</a:t>
            </a:r>
            <a:r>
              <a:rPr dirty="0" sz="2800" spc="-7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investasi:</a:t>
            </a:r>
            <a:r>
              <a:rPr dirty="0" sz="2800" spc="-2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ada</a:t>
            </a:r>
            <a:r>
              <a:rPr dirty="0" sz="2800" spc="-3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pengaruh</a:t>
            </a:r>
            <a:r>
              <a:rPr dirty="0" sz="2800" spc="-2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kondisi</a:t>
            </a:r>
            <a:r>
              <a:rPr dirty="0" sz="2800" spc="-40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sebelumnya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Arial"/>
              <a:buChar char="•"/>
            </a:pPr>
            <a:endParaRPr sz="29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Char char="•"/>
              <a:tabLst>
                <a:tab pos="469900" algn="l"/>
                <a:tab pos="470534" algn="l"/>
              </a:tabLst>
            </a:pPr>
            <a:r>
              <a:rPr dirty="0" sz="2800">
                <a:latin typeface="Arial"/>
                <a:cs typeface="Arial"/>
              </a:rPr>
              <a:t>Kesalahan</a:t>
            </a:r>
            <a:r>
              <a:rPr dirty="0" sz="2800" spc="-3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dalam</a:t>
            </a:r>
            <a:r>
              <a:rPr dirty="0" sz="2800" spc="-2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spesifikasi</a:t>
            </a:r>
            <a:r>
              <a:rPr dirty="0" sz="2800" spc="-8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model</a:t>
            </a:r>
            <a:r>
              <a:rPr dirty="0" sz="2800" spc="-1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dan</a:t>
            </a:r>
            <a:r>
              <a:rPr dirty="0" sz="2800" spc="-1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variabel</a:t>
            </a:r>
            <a:r>
              <a:rPr dirty="0" sz="2800" spc="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penting</a:t>
            </a:r>
            <a:r>
              <a:rPr dirty="0" sz="2800" spc="-25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dikeluarkan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0141" y="492074"/>
            <a:ext cx="6724650" cy="69532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0"/>
              <a:t>Konsekuensi</a:t>
            </a:r>
            <a:r>
              <a:rPr dirty="0" spc="-180"/>
              <a:t> </a:t>
            </a:r>
            <a:r>
              <a:rPr dirty="0" spc="-10"/>
              <a:t>Autokorelasi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62839" y="1270457"/>
            <a:ext cx="10823575" cy="47847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1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2800">
                <a:latin typeface="Arial"/>
                <a:cs typeface="Arial"/>
              </a:rPr>
              <a:t>Penduga</a:t>
            </a:r>
            <a:r>
              <a:rPr dirty="0" sz="2800" spc="-2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OLS</a:t>
            </a:r>
            <a:r>
              <a:rPr dirty="0" sz="2800" spc="-5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tetap</a:t>
            </a:r>
            <a:r>
              <a:rPr dirty="0" sz="2800" spc="-45">
                <a:latin typeface="Arial"/>
                <a:cs typeface="Arial"/>
              </a:rPr>
              <a:t> </a:t>
            </a:r>
            <a:r>
              <a:rPr dirty="0" sz="2800" spc="-10" i="1">
                <a:latin typeface="Arial"/>
                <a:cs typeface="Arial"/>
              </a:rPr>
              <a:t>unbiased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Char char="•"/>
            </a:pPr>
            <a:endParaRPr sz="2900">
              <a:latin typeface="Arial"/>
              <a:cs typeface="Arial"/>
            </a:endParaRPr>
          </a:p>
          <a:p>
            <a:pPr marL="469900" marR="163195" indent="-457200">
              <a:lnSpc>
                <a:spcPct val="1000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2800" spc="-10">
                <a:latin typeface="Arial"/>
                <a:cs typeface="Arial"/>
              </a:rPr>
              <a:t>Varians</a:t>
            </a:r>
            <a:r>
              <a:rPr dirty="0" sz="2800" spc="-50">
                <a:latin typeface="Arial"/>
                <a:cs typeface="Arial"/>
              </a:rPr>
              <a:t> </a:t>
            </a:r>
            <a:r>
              <a:rPr dirty="0" sz="2800" i="1">
                <a:latin typeface="Arial"/>
                <a:cs typeface="Arial"/>
              </a:rPr>
              <a:t>residual</a:t>
            </a:r>
            <a:r>
              <a:rPr dirty="0" sz="2800" spc="-60" i="1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akan</a:t>
            </a:r>
            <a:r>
              <a:rPr dirty="0" sz="2800" spc="-50">
                <a:latin typeface="Arial"/>
                <a:cs typeface="Arial"/>
              </a:rPr>
              <a:t> </a:t>
            </a:r>
            <a:r>
              <a:rPr dirty="0" sz="2800" i="1">
                <a:latin typeface="Arial"/>
                <a:cs typeface="Arial"/>
              </a:rPr>
              <a:t>underestimate</a:t>
            </a:r>
            <a:r>
              <a:rPr dirty="0" sz="2800">
                <a:latin typeface="Arial"/>
                <a:cs typeface="Arial"/>
              </a:rPr>
              <a:t>,</a:t>
            </a:r>
            <a:r>
              <a:rPr dirty="0" sz="2800" spc="-7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sehingga</a:t>
            </a:r>
            <a:r>
              <a:rPr dirty="0" sz="2800" spc="-55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pengambilan </a:t>
            </a:r>
            <a:r>
              <a:rPr dirty="0" sz="2800">
                <a:latin typeface="Arial"/>
                <a:cs typeface="Arial"/>
              </a:rPr>
              <a:t>kesimpulan</a:t>
            </a:r>
            <a:r>
              <a:rPr dirty="0" sz="2800" spc="-4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dari</a:t>
            </a:r>
            <a:r>
              <a:rPr dirty="0" sz="2800" spc="-1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uji</a:t>
            </a:r>
            <a:r>
              <a:rPr dirty="0" sz="2800" spc="-2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statistika</a:t>
            </a:r>
            <a:r>
              <a:rPr dirty="0" sz="2800" spc="-6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seperti</a:t>
            </a:r>
            <a:r>
              <a:rPr dirty="0" sz="2800" spc="-4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uji</a:t>
            </a:r>
            <a:r>
              <a:rPr dirty="0" sz="2800" spc="-3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individual</a:t>
            </a:r>
            <a:r>
              <a:rPr dirty="0" sz="2800" spc="4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(uji</a:t>
            </a:r>
            <a:r>
              <a:rPr dirty="0" sz="2800" spc="-3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t),</a:t>
            </a:r>
            <a:r>
              <a:rPr dirty="0" sz="2800" spc="-45">
                <a:latin typeface="Arial"/>
                <a:cs typeface="Arial"/>
              </a:rPr>
              <a:t> </a:t>
            </a:r>
            <a:r>
              <a:rPr dirty="0" sz="2800" spc="-20">
                <a:latin typeface="Arial"/>
                <a:cs typeface="Arial"/>
              </a:rPr>
              <a:t>yang </a:t>
            </a:r>
            <a:r>
              <a:rPr dirty="0" sz="2800">
                <a:latin typeface="Arial"/>
                <a:cs typeface="Arial"/>
              </a:rPr>
              <a:t>digunakan</a:t>
            </a:r>
            <a:r>
              <a:rPr dirty="0" sz="2800" spc="-3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untuk</a:t>
            </a:r>
            <a:r>
              <a:rPr dirty="0" sz="2800" spc="-1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melihat</a:t>
            </a:r>
            <a:r>
              <a:rPr dirty="0" sz="2800" spc="-2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signifikansi</a:t>
            </a:r>
            <a:r>
              <a:rPr dirty="0" sz="2800" spc="-6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koefisien,</a:t>
            </a:r>
            <a:r>
              <a:rPr dirty="0" sz="2800" spc="-70">
                <a:latin typeface="Arial"/>
                <a:cs typeface="Arial"/>
              </a:rPr>
              <a:t> </a:t>
            </a:r>
            <a:r>
              <a:rPr dirty="0" sz="2800" b="1">
                <a:latin typeface="Arial"/>
                <a:cs typeface="Arial"/>
              </a:rPr>
              <a:t>akan</a:t>
            </a:r>
            <a:r>
              <a:rPr dirty="0" sz="2800" spc="-15" b="1">
                <a:latin typeface="Arial"/>
                <a:cs typeface="Arial"/>
              </a:rPr>
              <a:t> </a:t>
            </a:r>
            <a:r>
              <a:rPr dirty="0" sz="2800" spc="-10" b="1" i="1">
                <a:latin typeface="Arial"/>
                <a:cs typeface="Arial"/>
              </a:rPr>
              <a:t>misleading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900">
              <a:latin typeface="Arial"/>
              <a:cs typeface="Arial"/>
            </a:endParaRPr>
          </a:p>
          <a:p>
            <a:pPr marL="502920" marR="5080">
              <a:lnSpc>
                <a:spcPct val="100000"/>
              </a:lnSpc>
            </a:pPr>
            <a:r>
              <a:rPr dirty="0" sz="2800">
                <a:latin typeface="Arial"/>
                <a:cs typeface="Arial"/>
              </a:rPr>
              <a:t>Ingat,</a:t>
            </a:r>
            <a:r>
              <a:rPr dirty="0" sz="2800" spc="-4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nilai</a:t>
            </a:r>
            <a:r>
              <a:rPr dirty="0" sz="2800" spc="-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t-hitung</a:t>
            </a:r>
            <a:r>
              <a:rPr dirty="0" sz="2800" spc="-5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diperoleh</a:t>
            </a:r>
            <a:r>
              <a:rPr dirty="0" sz="2800" spc="-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dari</a:t>
            </a:r>
            <a:r>
              <a:rPr dirty="0" sz="2800" spc="-1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hasil</a:t>
            </a:r>
            <a:r>
              <a:rPr dirty="0" sz="2800" spc="-2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bagi</a:t>
            </a:r>
            <a:r>
              <a:rPr dirty="0" sz="2800" spc="-2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nilai</a:t>
            </a:r>
            <a:r>
              <a:rPr dirty="0" sz="2800" spc="-1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koefisien</a:t>
            </a:r>
            <a:r>
              <a:rPr dirty="0" sz="2800" spc="-35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dugaan </a:t>
            </a:r>
            <a:r>
              <a:rPr dirty="0" sz="2800">
                <a:latin typeface="Arial"/>
                <a:cs typeface="Arial"/>
              </a:rPr>
              <a:t>dengan</a:t>
            </a:r>
            <a:r>
              <a:rPr dirty="0" sz="2800" spc="-15">
                <a:latin typeface="Arial"/>
                <a:cs typeface="Arial"/>
              </a:rPr>
              <a:t> </a:t>
            </a:r>
            <a:r>
              <a:rPr dirty="0" sz="2800" b="1" i="1">
                <a:latin typeface="Arial"/>
                <a:cs typeface="Arial"/>
              </a:rPr>
              <a:t>standard</a:t>
            </a:r>
            <a:r>
              <a:rPr dirty="0" sz="2800" spc="-20" b="1" i="1">
                <a:latin typeface="Arial"/>
                <a:cs typeface="Arial"/>
              </a:rPr>
              <a:t> </a:t>
            </a:r>
            <a:r>
              <a:rPr dirty="0" sz="2800" b="1" i="1">
                <a:latin typeface="Arial"/>
                <a:cs typeface="Arial"/>
              </a:rPr>
              <a:t>error</a:t>
            </a:r>
            <a:r>
              <a:rPr dirty="0" sz="2800" spc="-45" b="1" i="1">
                <a:latin typeface="Arial"/>
                <a:cs typeface="Arial"/>
              </a:rPr>
              <a:t> </a:t>
            </a:r>
            <a:r>
              <a:rPr dirty="0" sz="2800" b="1" i="1">
                <a:latin typeface="Arial"/>
                <a:cs typeface="Arial"/>
              </a:rPr>
              <a:t>of</a:t>
            </a:r>
            <a:r>
              <a:rPr dirty="0" sz="2800" spc="-10" b="1" i="1">
                <a:latin typeface="Arial"/>
                <a:cs typeface="Arial"/>
              </a:rPr>
              <a:t> </a:t>
            </a:r>
            <a:r>
              <a:rPr dirty="0" sz="2800" b="1" i="1">
                <a:latin typeface="Arial"/>
                <a:cs typeface="Arial"/>
              </a:rPr>
              <a:t>coefficient</a:t>
            </a:r>
            <a:r>
              <a:rPr dirty="0" sz="2800" spc="-10" b="1" i="1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(se).</a:t>
            </a:r>
            <a:r>
              <a:rPr dirty="0" sz="2800" spc="-4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Nilai</a:t>
            </a:r>
            <a:r>
              <a:rPr dirty="0" sz="2800" spc="-1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se</a:t>
            </a:r>
            <a:r>
              <a:rPr dirty="0" sz="2800" spc="-3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ini</a:t>
            </a:r>
            <a:r>
              <a:rPr dirty="0" sz="2800" spc="-35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diperoleh </a:t>
            </a:r>
            <a:r>
              <a:rPr dirty="0" sz="2800">
                <a:latin typeface="Arial"/>
                <a:cs typeface="Arial"/>
              </a:rPr>
              <a:t>dari</a:t>
            </a:r>
            <a:r>
              <a:rPr dirty="0" sz="2800" spc="-2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formula</a:t>
            </a:r>
            <a:r>
              <a:rPr dirty="0" sz="2800" spc="-5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yang</a:t>
            </a:r>
            <a:r>
              <a:rPr dirty="0" sz="2800" spc="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mengandung komponen</a:t>
            </a:r>
            <a:r>
              <a:rPr dirty="0" sz="2800" spc="-1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simpangan</a:t>
            </a:r>
            <a:r>
              <a:rPr dirty="0" sz="2800" spc="-5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baku</a:t>
            </a:r>
            <a:r>
              <a:rPr dirty="0" sz="2800" spc="-35">
                <a:latin typeface="Arial"/>
                <a:cs typeface="Arial"/>
              </a:rPr>
              <a:t> </a:t>
            </a:r>
            <a:r>
              <a:rPr dirty="0" sz="2800" spc="-20">
                <a:latin typeface="Arial"/>
                <a:cs typeface="Arial"/>
              </a:rPr>
              <a:t>dari </a:t>
            </a:r>
            <a:r>
              <a:rPr dirty="0" sz="2800" spc="-10" i="1">
                <a:latin typeface="Arial"/>
                <a:cs typeface="Arial"/>
              </a:rPr>
              <a:t>residual</a:t>
            </a:r>
            <a:endParaRPr sz="2800">
              <a:latin typeface="Arial"/>
              <a:cs typeface="Arial"/>
            </a:endParaRPr>
          </a:p>
          <a:p>
            <a:pPr marL="2755900">
              <a:lnSpc>
                <a:spcPct val="100000"/>
              </a:lnSpc>
              <a:spcBef>
                <a:spcPts val="10"/>
              </a:spcBef>
            </a:pPr>
            <a:r>
              <a:rPr dirty="0" sz="3200" spc="-30" b="1" i="1">
                <a:latin typeface="Arial"/>
                <a:cs typeface="Arial"/>
              </a:rPr>
              <a:t>t-</a:t>
            </a:r>
            <a:r>
              <a:rPr dirty="0" sz="3200" b="1" i="1">
                <a:latin typeface="Arial"/>
                <a:cs typeface="Arial"/>
              </a:rPr>
              <a:t>hitung</a:t>
            </a:r>
            <a:r>
              <a:rPr dirty="0" sz="3200" spc="-60" b="1" i="1">
                <a:latin typeface="Arial"/>
                <a:cs typeface="Arial"/>
              </a:rPr>
              <a:t> </a:t>
            </a:r>
            <a:r>
              <a:rPr dirty="0" sz="3200" b="1" i="1">
                <a:latin typeface="Arial"/>
                <a:cs typeface="Arial"/>
              </a:rPr>
              <a:t>=</a:t>
            </a:r>
            <a:r>
              <a:rPr dirty="0" sz="3200" spc="-100" b="1" i="1">
                <a:latin typeface="Arial"/>
                <a:cs typeface="Arial"/>
              </a:rPr>
              <a:t> </a:t>
            </a:r>
            <a:r>
              <a:rPr dirty="0" sz="3200" b="1" i="1">
                <a:latin typeface="Arial"/>
                <a:cs typeface="Arial"/>
              </a:rPr>
              <a:t>4,82,</a:t>
            </a:r>
            <a:r>
              <a:rPr dirty="0" sz="3200" spc="-90" b="1" i="1">
                <a:latin typeface="Arial"/>
                <a:cs typeface="Arial"/>
              </a:rPr>
              <a:t> </a:t>
            </a:r>
            <a:r>
              <a:rPr dirty="0" sz="3200" b="1" i="1">
                <a:latin typeface="Arial"/>
                <a:cs typeface="Arial"/>
              </a:rPr>
              <a:t>apakah</a:t>
            </a:r>
            <a:r>
              <a:rPr dirty="0" sz="3200" spc="-110" b="1" i="1">
                <a:latin typeface="Arial"/>
                <a:cs typeface="Arial"/>
              </a:rPr>
              <a:t> </a:t>
            </a:r>
            <a:r>
              <a:rPr dirty="0" sz="3200" b="1" i="1">
                <a:latin typeface="Arial"/>
                <a:cs typeface="Arial"/>
              </a:rPr>
              <a:t>koefisien</a:t>
            </a:r>
            <a:r>
              <a:rPr dirty="0" sz="3200" spc="-80" b="1" i="1">
                <a:latin typeface="Arial"/>
                <a:cs typeface="Arial"/>
              </a:rPr>
              <a:t> </a:t>
            </a:r>
            <a:r>
              <a:rPr dirty="0" sz="3200" spc="-10" b="1" i="1">
                <a:latin typeface="Arial"/>
                <a:cs typeface="Arial"/>
              </a:rPr>
              <a:t>nyata?</a:t>
            </a:r>
            <a:endParaRPr sz="3200">
              <a:latin typeface="Arial"/>
              <a:cs typeface="Arial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2228088" y="5504688"/>
            <a:ext cx="695325" cy="567055"/>
            <a:chOff x="2228088" y="5504688"/>
            <a:chExt cx="695325" cy="567055"/>
          </a:xfrm>
        </p:grpSpPr>
        <p:sp>
          <p:nvSpPr>
            <p:cNvPr id="5" name="object 5" descr=""/>
            <p:cNvSpPr/>
            <p:nvPr/>
          </p:nvSpPr>
          <p:spPr>
            <a:xfrm>
              <a:off x="2234184" y="5510784"/>
              <a:ext cx="683260" cy="554990"/>
            </a:xfrm>
            <a:custGeom>
              <a:avLst/>
              <a:gdLst/>
              <a:ahLst/>
              <a:cxnLst/>
              <a:rect l="l" t="t" r="r" b="b"/>
              <a:pathLst>
                <a:path w="683260" h="554989">
                  <a:moveTo>
                    <a:pt x="405384" y="0"/>
                  </a:moveTo>
                  <a:lnTo>
                    <a:pt x="405384" y="138683"/>
                  </a:lnTo>
                  <a:lnTo>
                    <a:pt x="0" y="138683"/>
                  </a:lnTo>
                  <a:lnTo>
                    <a:pt x="0" y="416051"/>
                  </a:lnTo>
                  <a:lnTo>
                    <a:pt x="405384" y="416051"/>
                  </a:lnTo>
                  <a:lnTo>
                    <a:pt x="405384" y="554735"/>
                  </a:lnTo>
                  <a:lnTo>
                    <a:pt x="682752" y="277367"/>
                  </a:lnTo>
                  <a:lnTo>
                    <a:pt x="405384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2234184" y="5510784"/>
              <a:ext cx="683260" cy="554990"/>
            </a:xfrm>
            <a:custGeom>
              <a:avLst/>
              <a:gdLst/>
              <a:ahLst/>
              <a:cxnLst/>
              <a:rect l="l" t="t" r="r" b="b"/>
              <a:pathLst>
                <a:path w="683260" h="554989">
                  <a:moveTo>
                    <a:pt x="0" y="138683"/>
                  </a:moveTo>
                  <a:lnTo>
                    <a:pt x="405384" y="138683"/>
                  </a:lnTo>
                  <a:lnTo>
                    <a:pt x="405384" y="0"/>
                  </a:lnTo>
                  <a:lnTo>
                    <a:pt x="682752" y="277367"/>
                  </a:lnTo>
                  <a:lnTo>
                    <a:pt x="405384" y="554735"/>
                  </a:lnTo>
                  <a:lnTo>
                    <a:pt x="405384" y="416051"/>
                  </a:lnTo>
                  <a:lnTo>
                    <a:pt x="0" y="416051"/>
                  </a:lnTo>
                  <a:lnTo>
                    <a:pt x="0" y="138683"/>
                  </a:lnTo>
                  <a:close/>
                </a:path>
              </a:pathLst>
            </a:custGeom>
            <a:ln w="12192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6957916" y="6549694"/>
            <a:ext cx="172085" cy="1924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435"/>
              </a:lnSpc>
            </a:pPr>
            <a:r>
              <a:rPr dirty="0" sz="1500" spc="10">
                <a:latin typeface="Calibri"/>
                <a:cs typeface="Calibri"/>
              </a:rPr>
              <a:t>@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15290" y="6308394"/>
            <a:ext cx="6417945" cy="4464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 sz="1500" spc="-10" b="1">
                <a:latin typeface="Calibri"/>
                <a:cs typeface="Calibri"/>
              </a:rPr>
              <a:t>Department</a:t>
            </a:r>
            <a:r>
              <a:rPr dirty="0" sz="1500" spc="-85" b="1">
                <a:latin typeface="Calibri"/>
                <a:cs typeface="Calibri"/>
              </a:rPr>
              <a:t> </a:t>
            </a:r>
            <a:r>
              <a:rPr dirty="0" sz="1500" b="1">
                <a:latin typeface="Calibri"/>
                <a:cs typeface="Calibri"/>
              </a:rPr>
              <a:t>of</a:t>
            </a:r>
            <a:r>
              <a:rPr dirty="0" sz="1500" spc="5" b="1">
                <a:latin typeface="Calibri"/>
                <a:cs typeface="Calibri"/>
              </a:rPr>
              <a:t> </a:t>
            </a:r>
            <a:r>
              <a:rPr dirty="0" sz="1500" b="1">
                <a:latin typeface="Calibri"/>
                <a:cs typeface="Calibri"/>
              </a:rPr>
              <a:t>Economics</a:t>
            </a:r>
            <a:r>
              <a:rPr dirty="0" sz="1500" spc="-25" b="1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| </a:t>
            </a:r>
            <a:r>
              <a:rPr dirty="0" sz="1500" spc="-10">
                <a:latin typeface="Calibri"/>
                <a:cs typeface="Calibri"/>
              </a:rPr>
              <a:t>Faculty</a:t>
            </a:r>
            <a:r>
              <a:rPr dirty="0" sz="1500" spc="-4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of</a:t>
            </a:r>
            <a:r>
              <a:rPr dirty="0" sz="1500" spc="-5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Economics</a:t>
            </a:r>
            <a:r>
              <a:rPr dirty="0" sz="1500" spc="-2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and</a:t>
            </a:r>
            <a:r>
              <a:rPr dirty="0" sz="1500" spc="-5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Management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500">
                <a:latin typeface="Segoe UI Symbol"/>
                <a:cs typeface="Segoe UI Symbol"/>
              </a:rPr>
              <a:t>☎</a:t>
            </a:r>
            <a:r>
              <a:rPr dirty="0" sz="1500" spc="-114">
                <a:latin typeface="Segoe UI Symbol"/>
                <a:cs typeface="Segoe UI Symbol"/>
              </a:rPr>
              <a:t> </a:t>
            </a:r>
            <a:r>
              <a:rPr dirty="0" sz="1500">
                <a:latin typeface="Calibri"/>
                <a:cs typeface="Calibri"/>
              </a:rPr>
              <a:t>+62</a:t>
            </a:r>
            <a:r>
              <a:rPr dirty="0" sz="1500" spc="-4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251</a:t>
            </a:r>
            <a:r>
              <a:rPr dirty="0" sz="1500" spc="-2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8626602</a:t>
            </a:r>
            <a:r>
              <a:rPr dirty="0" sz="1500" spc="245">
                <a:latin typeface="Calibri"/>
                <a:cs typeface="Calibri"/>
              </a:rPr>
              <a:t> </a:t>
            </a:r>
            <a:r>
              <a:rPr dirty="0" sz="1500">
                <a:latin typeface="Segoe UI Symbol"/>
                <a:cs typeface="Segoe UI Symbol"/>
              </a:rPr>
              <a:t>✉</a:t>
            </a:r>
            <a:r>
              <a:rPr dirty="0" sz="1500" spc="-105">
                <a:latin typeface="Segoe UI Symbol"/>
                <a:cs typeface="Segoe UI Symbol"/>
              </a:rPr>
              <a:t> </a:t>
            </a:r>
            <a:r>
              <a:rPr dirty="0" sz="1500">
                <a:latin typeface="Calibri"/>
                <a:cs typeface="Calibri"/>
                <a:hlinkClick r:id="rId2"/>
              </a:rPr>
              <a:t>ilmu_ekonomi@ipb.ac.id</a:t>
            </a:r>
            <a:r>
              <a:rPr dirty="0" sz="1500" spc="250">
                <a:latin typeface="Calibri"/>
                <a:cs typeface="Calibri"/>
              </a:rPr>
              <a:t> </a:t>
            </a:r>
            <a:r>
              <a:rPr dirty="0" sz="1500" b="1">
                <a:latin typeface="Segoe UI Symbol"/>
                <a:cs typeface="Segoe UI Symbol"/>
              </a:rPr>
              <a:t>🌐</a:t>
            </a:r>
            <a:r>
              <a:rPr dirty="0" sz="1500" spc="-100" b="1">
                <a:latin typeface="Segoe UI Symbol"/>
                <a:cs typeface="Segoe UI Symbol"/>
              </a:rPr>
              <a:t> </a:t>
            </a:r>
            <a:r>
              <a:rPr dirty="0" sz="1500" spc="-10">
                <a:latin typeface="Calibri"/>
                <a:cs typeface="Calibri"/>
                <a:hlinkClick r:id="rId3"/>
              </a:rPr>
              <a:t>http://ekonomi.fem.ipb.ac.id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 spc="-10"/>
              <a:t>dept.ieipb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0141" y="492074"/>
            <a:ext cx="6419850" cy="69532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Mendeteksi</a:t>
            </a:r>
            <a:r>
              <a:rPr dirty="0" spc="-165"/>
              <a:t> </a:t>
            </a:r>
            <a:r>
              <a:rPr dirty="0" spc="-20"/>
              <a:t>Autokorelasi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12039" y="1305255"/>
            <a:ext cx="11532870" cy="25882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520700" indent="-457200">
              <a:lnSpc>
                <a:spcPct val="100000"/>
              </a:lnSpc>
              <a:spcBef>
                <a:spcPts val="110"/>
              </a:spcBef>
              <a:buChar char="•"/>
              <a:tabLst>
                <a:tab pos="520065" algn="l"/>
                <a:tab pos="520700" algn="l"/>
              </a:tabLst>
            </a:pPr>
            <a:r>
              <a:rPr dirty="0" sz="2800">
                <a:latin typeface="Arial"/>
                <a:cs typeface="Arial"/>
              </a:rPr>
              <a:t>Uji </a:t>
            </a:r>
            <a:r>
              <a:rPr dirty="0" sz="2800" spc="-10" b="1">
                <a:solidFill>
                  <a:srgbClr val="FF0000"/>
                </a:solidFill>
                <a:latin typeface="Arial"/>
                <a:cs typeface="Arial"/>
              </a:rPr>
              <a:t>Breusch-</a:t>
            </a:r>
            <a:r>
              <a:rPr dirty="0" sz="2800" b="1">
                <a:solidFill>
                  <a:srgbClr val="FF0000"/>
                </a:solidFill>
                <a:latin typeface="Arial"/>
                <a:cs typeface="Arial"/>
              </a:rPr>
              <a:t>Godfrey</a:t>
            </a:r>
            <a:r>
              <a:rPr dirty="0" sz="2800" spc="-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FF0000"/>
                </a:solidFill>
                <a:latin typeface="Arial"/>
                <a:cs typeface="Arial"/>
              </a:rPr>
              <a:t>(1978)</a:t>
            </a:r>
            <a:r>
              <a:rPr dirty="0" sz="2800" b="1">
                <a:latin typeface="Arial"/>
                <a:cs typeface="Arial"/>
              </a:rPr>
              <a:t>; </a:t>
            </a:r>
            <a:r>
              <a:rPr dirty="0" sz="2800">
                <a:latin typeface="Arial"/>
                <a:cs typeface="Arial"/>
              </a:rPr>
              <a:t>disebut</a:t>
            </a:r>
            <a:r>
              <a:rPr dirty="0" sz="2800" spc="-3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juga</a:t>
            </a:r>
            <a:r>
              <a:rPr dirty="0" sz="2800" spc="-5"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FF0000"/>
                </a:solidFill>
                <a:latin typeface="Arial"/>
                <a:cs typeface="Arial"/>
              </a:rPr>
              <a:t>tes</a:t>
            </a:r>
            <a:r>
              <a:rPr dirty="0" sz="2800" spc="-25" b="1">
                <a:solidFill>
                  <a:srgbClr val="FF0000"/>
                </a:solidFill>
                <a:latin typeface="Arial"/>
                <a:cs typeface="Arial"/>
              </a:rPr>
              <a:t> LM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"/>
              <a:buChar char="•"/>
            </a:pPr>
            <a:endParaRPr sz="2800">
              <a:latin typeface="Arial"/>
              <a:cs typeface="Arial"/>
            </a:endParaRPr>
          </a:p>
          <a:p>
            <a:pPr marL="520700" indent="-457200">
              <a:lnSpc>
                <a:spcPct val="100000"/>
              </a:lnSpc>
              <a:buChar char="•"/>
              <a:tabLst>
                <a:tab pos="520065" algn="l"/>
                <a:tab pos="520700" algn="l"/>
              </a:tabLst>
            </a:pPr>
            <a:r>
              <a:rPr dirty="0" sz="2800">
                <a:latin typeface="Arial"/>
                <a:cs typeface="Arial"/>
              </a:rPr>
              <a:t>Misal</a:t>
            </a:r>
            <a:r>
              <a:rPr dirty="0" sz="2800" spc="-15">
                <a:latin typeface="Arial"/>
                <a:cs typeface="Arial"/>
              </a:rPr>
              <a:t> </a:t>
            </a:r>
            <a:r>
              <a:rPr dirty="0" sz="2800" b="1">
                <a:latin typeface="Arial"/>
                <a:cs typeface="Arial"/>
              </a:rPr>
              <a:t>AR(p):</a:t>
            </a:r>
            <a:r>
              <a:rPr dirty="0" sz="2800" spc="80" b="1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e</a:t>
            </a:r>
            <a:r>
              <a:rPr dirty="0" baseline="-19519" sz="2775">
                <a:latin typeface="Arial"/>
                <a:cs typeface="Arial"/>
              </a:rPr>
              <a:t>t</a:t>
            </a:r>
            <a:r>
              <a:rPr dirty="0" baseline="-19519" sz="2775" spc="37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=</a:t>
            </a:r>
            <a:r>
              <a:rPr dirty="0" sz="2800" spc="-20">
                <a:latin typeface="Arial"/>
                <a:cs typeface="Arial"/>
              </a:rPr>
              <a:t> </a:t>
            </a:r>
            <a:r>
              <a:rPr dirty="0" sz="2950" spc="-25" i="1">
                <a:latin typeface="Symbol"/>
                <a:cs typeface="Symbol"/>
              </a:rPr>
              <a:t></a:t>
            </a:r>
            <a:r>
              <a:rPr dirty="0" baseline="-19519" sz="2775" spc="-37" i="1">
                <a:latin typeface="Arial"/>
                <a:cs typeface="Arial"/>
              </a:rPr>
              <a:t>1</a:t>
            </a:r>
            <a:r>
              <a:rPr dirty="0" sz="2800" spc="-25" i="1">
                <a:latin typeface="Arial"/>
                <a:cs typeface="Arial"/>
              </a:rPr>
              <a:t>e</a:t>
            </a:r>
            <a:r>
              <a:rPr dirty="0" baseline="-19519" sz="2775" spc="-37">
                <a:latin typeface="Arial"/>
                <a:cs typeface="Arial"/>
              </a:rPr>
              <a:t>t-</a:t>
            </a:r>
            <a:r>
              <a:rPr dirty="0" baseline="-19519" sz="2775">
                <a:latin typeface="Arial"/>
                <a:cs typeface="Arial"/>
              </a:rPr>
              <a:t>1</a:t>
            </a:r>
            <a:r>
              <a:rPr dirty="0" baseline="-19519" sz="2775" spc="352">
                <a:latin typeface="Arial"/>
                <a:cs typeface="Arial"/>
              </a:rPr>
              <a:t> </a:t>
            </a:r>
            <a:r>
              <a:rPr dirty="0" sz="2800" i="1">
                <a:latin typeface="Arial"/>
                <a:cs typeface="Arial"/>
              </a:rPr>
              <a:t>+</a:t>
            </a:r>
            <a:r>
              <a:rPr dirty="0" sz="2800" spc="-5" i="1">
                <a:latin typeface="Arial"/>
                <a:cs typeface="Arial"/>
              </a:rPr>
              <a:t> </a:t>
            </a:r>
            <a:r>
              <a:rPr dirty="0" sz="2950" spc="-25" i="1">
                <a:latin typeface="Symbol"/>
                <a:cs typeface="Symbol"/>
              </a:rPr>
              <a:t></a:t>
            </a:r>
            <a:r>
              <a:rPr dirty="0" baseline="-19519" sz="2775" spc="-37" i="1">
                <a:latin typeface="Arial"/>
                <a:cs typeface="Arial"/>
              </a:rPr>
              <a:t>2</a:t>
            </a:r>
            <a:r>
              <a:rPr dirty="0" sz="2800" spc="-25" i="1">
                <a:latin typeface="Arial"/>
                <a:cs typeface="Arial"/>
              </a:rPr>
              <a:t>e</a:t>
            </a:r>
            <a:r>
              <a:rPr dirty="0" baseline="-19519" sz="2775" spc="-37">
                <a:latin typeface="Arial"/>
                <a:cs typeface="Arial"/>
              </a:rPr>
              <a:t>t-</a:t>
            </a:r>
            <a:r>
              <a:rPr dirty="0" baseline="-19519" sz="2775">
                <a:latin typeface="Arial"/>
                <a:cs typeface="Arial"/>
              </a:rPr>
              <a:t>2</a:t>
            </a:r>
            <a:r>
              <a:rPr dirty="0" baseline="-19519" sz="2775" spc="352">
                <a:latin typeface="Arial"/>
                <a:cs typeface="Arial"/>
              </a:rPr>
              <a:t> </a:t>
            </a:r>
            <a:r>
              <a:rPr dirty="0" sz="2800" i="1">
                <a:latin typeface="Arial"/>
                <a:cs typeface="Arial"/>
              </a:rPr>
              <a:t>+ </a:t>
            </a:r>
            <a:r>
              <a:rPr dirty="0" sz="2800" b="1" i="1">
                <a:latin typeface="Arial"/>
                <a:cs typeface="Arial"/>
              </a:rPr>
              <a:t>-</a:t>
            </a:r>
            <a:r>
              <a:rPr dirty="0" sz="2800" spc="-15" b="1" i="1">
                <a:latin typeface="Arial"/>
                <a:cs typeface="Arial"/>
              </a:rPr>
              <a:t> </a:t>
            </a:r>
            <a:r>
              <a:rPr dirty="0" sz="2800" b="1" i="1">
                <a:latin typeface="Arial"/>
                <a:cs typeface="Arial"/>
              </a:rPr>
              <a:t>-</a:t>
            </a:r>
            <a:r>
              <a:rPr dirty="0" sz="2800" spc="-15" b="1" i="1">
                <a:latin typeface="Arial"/>
                <a:cs typeface="Arial"/>
              </a:rPr>
              <a:t> </a:t>
            </a:r>
            <a:r>
              <a:rPr dirty="0" sz="2800" b="1" i="1">
                <a:latin typeface="Arial"/>
                <a:cs typeface="Arial"/>
              </a:rPr>
              <a:t>-</a:t>
            </a:r>
            <a:r>
              <a:rPr dirty="0" sz="2800" spc="5" b="1" i="1">
                <a:latin typeface="Arial"/>
                <a:cs typeface="Arial"/>
              </a:rPr>
              <a:t> </a:t>
            </a:r>
            <a:r>
              <a:rPr dirty="0" sz="2800" i="1">
                <a:latin typeface="Arial"/>
                <a:cs typeface="Arial"/>
              </a:rPr>
              <a:t>+</a:t>
            </a:r>
            <a:r>
              <a:rPr dirty="0" sz="2800" spc="-20" i="1">
                <a:latin typeface="Arial"/>
                <a:cs typeface="Arial"/>
              </a:rPr>
              <a:t> </a:t>
            </a:r>
            <a:r>
              <a:rPr dirty="0" sz="2950" spc="-25" i="1">
                <a:latin typeface="Symbol"/>
                <a:cs typeface="Symbol"/>
              </a:rPr>
              <a:t></a:t>
            </a:r>
            <a:r>
              <a:rPr dirty="0" baseline="-19519" sz="2775" spc="-37" i="1">
                <a:latin typeface="Arial"/>
                <a:cs typeface="Arial"/>
              </a:rPr>
              <a:t>p</a:t>
            </a:r>
            <a:r>
              <a:rPr dirty="0" sz="2800" spc="-25" i="1">
                <a:latin typeface="Arial"/>
                <a:cs typeface="Arial"/>
              </a:rPr>
              <a:t>e</a:t>
            </a:r>
            <a:r>
              <a:rPr dirty="0" baseline="-19519" sz="2775" spc="-37">
                <a:latin typeface="Arial"/>
                <a:cs typeface="Arial"/>
              </a:rPr>
              <a:t>t-</a:t>
            </a:r>
            <a:r>
              <a:rPr dirty="0" baseline="-19519" sz="2775">
                <a:latin typeface="Arial"/>
                <a:cs typeface="Arial"/>
              </a:rPr>
              <a:t>p</a:t>
            </a:r>
            <a:r>
              <a:rPr dirty="0" baseline="-19519" sz="2775" spc="382">
                <a:latin typeface="Arial"/>
                <a:cs typeface="Arial"/>
              </a:rPr>
              <a:t> </a:t>
            </a:r>
            <a:r>
              <a:rPr dirty="0" sz="2800" i="1">
                <a:latin typeface="Arial"/>
                <a:cs typeface="Arial"/>
              </a:rPr>
              <a:t>+</a:t>
            </a:r>
            <a:r>
              <a:rPr dirty="0" sz="2800" spc="-25" i="1">
                <a:latin typeface="Arial"/>
                <a:cs typeface="Arial"/>
              </a:rPr>
              <a:t> </a:t>
            </a:r>
            <a:r>
              <a:rPr dirty="0" sz="2800" i="1">
                <a:latin typeface="Arial"/>
                <a:cs typeface="Arial"/>
              </a:rPr>
              <a:t>v</a:t>
            </a:r>
            <a:r>
              <a:rPr dirty="0" baseline="-19519" sz="2775" i="1">
                <a:latin typeface="Arial"/>
                <a:cs typeface="Arial"/>
              </a:rPr>
              <a:t>t</a:t>
            </a:r>
            <a:r>
              <a:rPr dirty="0" baseline="-19519" sz="2775" spc="-44" i="1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dimana </a:t>
            </a:r>
            <a:r>
              <a:rPr dirty="0" sz="2800" i="1">
                <a:latin typeface="Arial"/>
                <a:cs typeface="Arial"/>
              </a:rPr>
              <a:t>v</a:t>
            </a:r>
            <a:r>
              <a:rPr dirty="0" baseline="-19519" sz="2775" i="1">
                <a:latin typeface="Arial"/>
                <a:cs typeface="Arial"/>
              </a:rPr>
              <a:t>t</a:t>
            </a:r>
            <a:r>
              <a:rPr dirty="0" baseline="-19519" sz="2775" spc="345" i="1">
                <a:latin typeface="Arial"/>
                <a:cs typeface="Arial"/>
              </a:rPr>
              <a:t> </a:t>
            </a:r>
            <a:r>
              <a:rPr dirty="0" sz="2950" i="1">
                <a:latin typeface="Symbol"/>
                <a:cs typeface="Symbol"/>
              </a:rPr>
              <a:t></a:t>
            </a:r>
            <a:r>
              <a:rPr dirty="0" sz="2950" spc="50">
                <a:latin typeface="Times New Roman"/>
                <a:cs typeface="Times New Roman"/>
              </a:rPr>
              <a:t> </a:t>
            </a:r>
            <a:r>
              <a:rPr dirty="0" sz="2800" i="1">
                <a:latin typeface="Arial"/>
                <a:cs typeface="Arial"/>
              </a:rPr>
              <a:t>N(0,</a:t>
            </a:r>
            <a:r>
              <a:rPr dirty="0" sz="2800" spc="-5" i="1">
                <a:latin typeface="Arial"/>
                <a:cs typeface="Arial"/>
              </a:rPr>
              <a:t> </a:t>
            </a:r>
            <a:r>
              <a:rPr dirty="0" sz="2950" spc="-20" i="1">
                <a:latin typeface="Symbol"/>
                <a:cs typeface="Symbol"/>
              </a:rPr>
              <a:t></a:t>
            </a:r>
            <a:r>
              <a:rPr dirty="0" baseline="-19519" sz="2775" spc="-30" i="1">
                <a:latin typeface="Arial"/>
                <a:cs typeface="Arial"/>
              </a:rPr>
              <a:t>v</a:t>
            </a:r>
            <a:r>
              <a:rPr dirty="0" baseline="25525" sz="2775" spc="-30" i="1">
                <a:latin typeface="Arial"/>
                <a:cs typeface="Arial"/>
              </a:rPr>
              <a:t>2</a:t>
            </a:r>
            <a:r>
              <a:rPr dirty="0" sz="2800" spc="-20" i="1">
                <a:latin typeface="Arial"/>
                <a:cs typeface="Arial"/>
              </a:rPr>
              <a:t>)</a:t>
            </a:r>
            <a:endParaRPr sz="2800">
              <a:latin typeface="Arial"/>
              <a:cs typeface="Arial"/>
            </a:endParaRPr>
          </a:p>
          <a:p>
            <a:pPr marL="520700" indent="-457200">
              <a:lnSpc>
                <a:spcPct val="100000"/>
              </a:lnSpc>
              <a:spcBef>
                <a:spcPts val="3310"/>
              </a:spcBef>
              <a:buChar char="•"/>
              <a:tabLst>
                <a:tab pos="520065" algn="l"/>
                <a:tab pos="520700" algn="l"/>
              </a:tabLst>
            </a:pPr>
            <a:r>
              <a:rPr dirty="0" sz="2800">
                <a:latin typeface="Arial"/>
                <a:cs typeface="Arial"/>
              </a:rPr>
              <a:t>Prosedur</a:t>
            </a:r>
            <a:r>
              <a:rPr dirty="0" sz="2800" spc="-20">
                <a:latin typeface="Arial"/>
                <a:cs typeface="Arial"/>
              </a:rPr>
              <a:t> uji:</a:t>
            </a:r>
            <a:endParaRPr sz="2800">
              <a:latin typeface="Arial"/>
              <a:cs typeface="Arial"/>
            </a:endParaRPr>
          </a:p>
          <a:p>
            <a:pPr lvl="1" marL="1374140" indent="-396875">
              <a:lnSpc>
                <a:spcPct val="100000"/>
              </a:lnSpc>
              <a:buAutoNum type="arabicPeriod"/>
              <a:tabLst>
                <a:tab pos="1374775" algn="l"/>
              </a:tabLst>
            </a:pPr>
            <a:r>
              <a:rPr dirty="0" sz="2800">
                <a:latin typeface="Arial"/>
                <a:cs typeface="Arial"/>
              </a:rPr>
              <a:t>Estimasi</a:t>
            </a:r>
            <a:r>
              <a:rPr dirty="0" sz="2800" spc="-7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persamaan</a:t>
            </a:r>
            <a:r>
              <a:rPr dirty="0" sz="2800" spc="-1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di</a:t>
            </a:r>
            <a:r>
              <a:rPr dirty="0" sz="2800" spc="-35">
                <a:latin typeface="Arial"/>
                <a:cs typeface="Arial"/>
              </a:rPr>
              <a:t> </a:t>
            </a:r>
            <a:r>
              <a:rPr dirty="0" sz="2800" spc="-20">
                <a:latin typeface="Arial"/>
                <a:cs typeface="Arial"/>
              </a:rPr>
              <a:t>atas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726173" y="4150614"/>
            <a:ext cx="144780" cy="3111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850" spc="10">
                <a:latin typeface="Arial"/>
                <a:cs typeface="Arial"/>
              </a:rPr>
              <a:t>k</a:t>
            </a:r>
            <a:endParaRPr sz="185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152144" y="3927111"/>
            <a:ext cx="7860030" cy="47688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  <a:tabLst>
                <a:tab pos="5772150" algn="l"/>
              </a:tabLst>
            </a:pPr>
            <a:r>
              <a:rPr dirty="0" sz="2800">
                <a:latin typeface="Arial"/>
                <a:cs typeface="Arial"/>
              </a:rPr>
              <a:t>2.</a:t>
            </a:r>
            <a:r>
              <a:rPr dirty="0" sz="2800" spc="-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Bandingkan</a:t>
            </a:r>
            <a:r>
              <a:rPr dirty="0" sz="2800" spc="-1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(</a:t>
            </a:r>
            <a:r>
              <a:rPr dirty="0" sz="2800" i="1">
                <a:latin typeface="Arial"/>
                <a:cs typeface="Arial"/>
              </a:rPr>
              <a:t>T</a:t>
            </a:r>
            <a:r>
              <a:rPr dirty="0" sz="2800" spc="-30" i="1">
                <a:latin typeface="Arial"/>
                <a:cs typeface="Arial"/>
              </a:rPr>
              <a:t> </a:t>
            </a:r>
            <a:r>
              <a:rPr dirty="0" sz="2800" i="1">
                <a:latin typeface="Arial"/>
                <a:cs typeface="Arial"/>
              </a:rPr>
              <a:t>-</a:t>
            </a:r>
            <a:r>
              <a:rPr dirty="0" sz="2800" spc="10" i="1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p).</a:t>
            </a:r>
            <a:r>
              <a:rPr dirty="0" sz="2800" i="1">
                <a:latin typeface="Arial"/>
                <a:cs typeface="Arial"/>
              </a:rPr>
              <a:t>R</a:t>
            </a:r>
            <a:r>
              <a:rPr dirty="0" baseline="25525" sz="2775">
                <a:latin typeface="Arial"/>
                <a:cs typeface="Arial"/>
              </a:rPr>
              <a:t>2</a:t>
            </a:r>
            <a:r>
              <a:rPr dirty="0" baseline="25525" sz="2775" spc="359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dengan</a:t>
            </a:r>
            <a:r>
              <a:rPr dirty="0" sz="2800" spc="10">
                <a:latin typeface="Arial"/>
                <a:cs typeface="Arial"/>
              </a:rPr>
              <a:t> </a:t>
            </a:r>
            <a:r>
              <a:rPr dirty="0" sz="2950" spc="-25" i="1">
                <a:latin typeface="Symbol"/>
                <a:cs typeface="Symbol"/>
              </a:rPr>
              <a:t></a:t>
            </a:r>
            <a:r>
              <a:rPr dirty="0" baseline="25525" sz="2775" spc="-37" i="1">
                <a:latin typeface="Arial"/>
                <a:cs typeface="Arial"/>
              </a:rPr>
              <a:t>2</a:t>
            </a:r>
            <a:r>
              <a:rPr dirty="0" baseline="25525" sz="2775" i="1">
                <a:latin typeface="Arial"/>
                <a:cs typeface="Arial"/>
              </a:rPr>
              <a:t>	</a:t>
            </a:r>
            <a:r>
              <a:rPr dirty="0" sz="2800">
                <a:latin typeface="Arial"/>
                <a:cs typeface="Arial"/>
              </a:rPr>
              <a:t>dimana</a:t>
            </a:r>
            <a:r>
              <a:rPr dirty="0" sz="2800" spc="-1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k</a:t>
            </a:r>
            <a:r>
              <a:rPr dirty="0" sz="2800" spc="-1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=</a:t>
            </a:r>
            <a:r>
              <a:rPr dirty="0" sz="2800" spc="-30">
                <a:latin typeface="Arial"/>
                <a:cs typeface="Arial"/>
              </a:rPr>
              <a:t> </a:t>
            </a:r>
            <a:r>
              <a:rPr dirty="0" sz="2800" spc="-50">
                <a:latin typeface="Arial"/>
                <a:cs typeface="Arial"/>
              </a:rPr>
              <a:t>p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323715" y="4653788"/>
            <a:ext cx="144780" cy="3111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850" spc="10">
                <a:latin typeface="Arial"/>
                <a:cs typeface="Arial"/>
              </a:rPr>
              <a:t>k</a:t>
            </a:r>
            <a:endParaRPr sz="185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152144" y="4430285"/>
            <a:ext cx="8513445" cy="47688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  <a:tabLst>
                <a:tab pos="3366770" algn="l"/>
              </a:tabLst>
            </a:pPr>
            <a:r>
              <a:rPr dirty="0" sz="2800">
                <a:latin typeface="Arial"/>
                <a:cs typeface="Arial"/>
              </a:rPr>
              <a:t>3.</a:t>
            </a:r>
            <a:r>
              <a:rPr dirty="0" sz="2800" spc="-3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Bila</a:t>
            </a:r>
            <a:r>
              <a:rPr dirty="0" sz="2800" spc="-50">
                <a:latin typeface="Arial"/>
                <a:cs typeface="Arial"/>
              </a:rPr>
              <a:t> </a:t>
            </a:r>
            <a:r>
              <a:rPr dirty="0" sz="2800" spc="-40">
                <a:latin typeface="Arial"/>
                <a:cs typeface="Arial"/>
              </a:rPr>
              <a:t>(</a:t>
            </a:r>
            <a:r>
              <a:rPr dirty="0" sz="2800" spc="-40" i="1">
                <a:latin typeface="Arial"/>
                <a:cs typeface="Arial"/>
              </a:rPr>
              <a:t>T-</a:t>
            </a:r>
            <a:r>
              <a:rPr dirty="0" sz="2800" spc="-15" i="1">
                <a:latin typeface="Arial"/>
                <a:cs typeface="Arial"/>
              </a:rPr>
              <a:t> </a:t>
            </a:r>
            <a:r>
              <a:rPr dirty="0" sz="2800" i="1">
                <a:latin typeface="Arial"/>
                <a:cs typeface="Arial"/>
              </a:rPr>
              <a:t>p</a:t>
            </a:r>
            <a:r>
              <a:rPr dirty="0" sz="2800">
                <a:latin typeface="Arial"/>
                <a:cs typeface="Arial"/>
              </a:rPr>
              <a:t>).</a:t>
            </a:r>
            <a:r>
              <a:rPr dirty="0" sz="2800" i="1">
                <a:latin typeface="Arial"/>
                <a:cs typeface="Arial"/>
              </a:rPr>
              <a:t>R</a:t>
            </a:r>
            <a:r>
              <a:rPr dirty="0" baseline="25525" sz="2775">
                <a:latin typeface="Arial"/>
                <a:cs typeface="Arial"/>
              </a:rPr>
              <a:t>2</a:t>
            </a:r>
            <a:r>
              <a:rPr dirty="0" baseline="25525" sz="2775" spc="31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&gt;</a:t>
            </a:r>
            <a:r>
              <a:rPr dirty="0" sz="2800" spc="-25">
                <a:latin typeface="Arial"/>
                <a:cs typeface="Arial"/>
              </a:rPr>
              <a:t> </a:t>
            </a:r>
            <a:r>
              <a:rPr dirty="0" sz="2950" spc="-25" i="1">
                <a:latin typeface="Symbol"/>
                <a:cs typeface="Symbol"/>
              </a:rPr>
              <a:t></a:t>
            </a:r>
            <a:r>
              <a:rPr dirty="0" baseline="25525" sz="2775" spc="-37" i="1">
                <a:latin typeface="Arial"/>
                <a:cs typeface="Arial"/>
              </a:rPr>
              <a:t>2</a:t>
            </a:r>
            <a:r>
              <a:rPr dirty="0" baseline="25525" sz="2775" i="1">
                <a:latin typeface="Arial"/>
                <a:cs typeface="Arial"/>
              </a:rPr>
              <a:t>	</a:t>
            </a:r>
            <a:r>
              <a:rPr dirty="0" sz="2800">
                <a:latin typeface="Arial"/>
                <a:cs typeface="Arial"/>
              </a:rPr>
              <a:t>maka</a:t>
            </a:r>
            <a:r>
              <a:rPr dirty="0" sz="2800" spc="-5">
                <a:latin typeface="Arial"/>
                <a:cs typeface="Arial"/>
              </a:rPr>
              <a:t> </a:t>
            </a:r>
            <a:r>
              <a:rPr dirty="0" sz="2800" b="1">
                <a:latin typeface="Arial"/>
                <a:cs typeface="Arial"/>
              </a:rPr>
              <a:t>tolak</a:t>
            </a:r>
            <a:r>
              <a:rPr dirty="0" sz="2800" spc="-15" b="1">
                <a:latin typeface="Arial"/>
                <a:cs typeface="Arial"/>
              </a:rPr>
              <a:t> </a:t>
            </a:r>
            <a:r>
              <a:rPr dirty="0" sz="2800" b="1">
                <a:latin typeface="Arial"/>
                <a:cs typeface="Arial"/>
              </a:rPr>
              <a:t>H</a:t>
            </a:r>
            <a:r>
              <a:rPr dirty="0" sz="2800" spc="229" b="1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:</a:t>
            </a:r>
            <a:r>
              <a:rPr dirty="0" sz="2800" spc="-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ada</a:t>
            </a:r>
            <a:r>
              <a:rPr dirty="0" sz="2800" spc="5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autokorelasi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725033" y="4596331"/>
            <a:ext cx="4436110" cy="1310005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 marL="952500">
              <a:lnSpc>
                <a:spcPct val="100000"/>
              </a:lnSpc>
              <a:spcBef>
                <a:spcPts val="575"/>
              </a:spcBef>
            </a:pPr>
            <a:r>
              <a:rPr dirty="0" sz="1850" spc="10" b="1">
                <a:latin typeface="Arial"/>
                <a:cs typeface="Arial"/>
              </a:rPr>
              <a:t>0</a:t>
            </a:r>
            <a:endParaRPr sz="1850">
              <a:latin typeface="Arial"/>
              <a:cs typeface="Arial"/>
            </a:endParaRPr>
          </a:p>
          <a:p>
            <a:pPr marL="38100" marR="30480">
              <a:lnSpc>
                <a:spcPct val="100000"/>
              </a:lnSpc>
              <a:spcBef>
                <a:spcPts val="690"/>
              </a:spcBef>
            </a:pPr>
            <a:r>
              <a:rPr dirty="0" sz="2800" b="1">
                <a:latin typeface="Arial"/>
                <a:cs typeface="Arial"/>
              </a:rPr>
              <a:t>H</a:t>
            </a:r>
            <a:r>
              <a:rPr dirty="0" baseline="-19519" sz="2775" b="1">
                <a:latin typeface="Arial"/>
                <a:cs typeface="Arial"/>
              </a:rPr>
              <a:t>o</a:t>
            </a:r>
            <a:r>
              <a:rPr dirty="0" sz="2800" b="1">
                <a:latin typeface="Arial"/>
                <a:cs typeface="Arial"/>
              </a:rPr>
              <a:t>:</a:t>
            </a:r>
            <a:r>
              <a:rPr dirty="0" sz="2800" spc="-20" b="1">
                <a:latin typeface="Arial"/>
                <a:cs typeface="Arial"/>
              </a:rPr>
              <a:t> </a:t>
            </a:r>
            <a:r>
              <a:rPr dirty="0" sz="2800" b="1">
                <a:latin typeface="Arial"/>
                <a:cs typeface="Arial"/>
              </a:rPr>
              <a:t>tidak</a:t>
            </a:r>
            <a:r>
              <a:rPr dirty="0" sz="2800" spc="-25" b="1">
                <a:latin typeface="Arial"/>
                <a:cs typeface="Arial"/>
              </a:rPr>
              <a:t> </a:t>
            </a:r>
            <a:r>
              <a:rPr dirty="0" sz="2800" b="1">
                <a:latin typeface="Arial"/>
                <a:cs typeface="Arial"/>
              </a:rPr>
              <a:t>ada</a:t>
            </a:r>
            <a:r>
              <a:rPr dirty="0" sz="2800" spc="5" b="1">
                <a:latin typeface="Arial"/>
                <a:cs typeface="Arial"/>
              </a:rPr>
              <a:t> </a:t>
            </a:r>
            <a:r>
              <a:rPr dirty="0" sz="2800" spc="-10" b="1">
                <a:latin typeface="Arial"/>
                <a:cs typeface="Arial"/>
              </a:rPr>
              <a:t>autokorelasi </a:t>
            </a:r>
            <a:r>
              <a:rPr dirty="0" sz="2800" b="1">
                <a:latin typeface="Arial"/>
                <a:cs typeface="Arial"/>
              </a:rPr>
              <a:t>H</a:t>
            </a:r>
            <a:r>
              <a:rPr dirty="0" baseline="-19519" sz="2775" b="1">
                <a:latin typeface="Arial"/>
                <a:cs typeface="Arial"/>
              </a:rPr>
              <a:t>1</a:t>
            </a:r>
            <a:r>
              <a:rPr dirty="0" sz="2800" b="1">
                <a:latin typeface="Arial"/>
                <a:cs typeface="Arial"/>
              </a:rPr>
              <a:t>: ada</a:t>
            </a:r>
            <a:r>
              <a:rPr dirty="0" sz="2800" spc="-5" b="1">
                <a:latin typeface="Arial"/>
                <a:cs typeface="Arial"/>
              </a:rPr>
              <a:t> </a:t>
            </a:r>
            <a:r>
              <a:rPr dirty="0" sz="2800" spc="-10" b="1">
                <a:latin typeface="Arial"/>
                <a:cs typeface="Arial"/>
              </a:rPr>
              <a:t>autokorelasi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4888991" y="5196840"/>
            <a:ext cx="685800" cy="567055"/>
            <a:chOff x="4888991" y="5196840"/>
            <a:chExt cx="685800" cy="567055"/>
          </a:xfrm>
        </p:grpSpPr>
        <p:sp>
          <p:nvSpPr>
            <p:cNvPr id="10" name="object 10" descr=""/>
            <p:cNvSpPr/>
            <p:nvPr/>
          </p:nvSpPr>
          <p:spPr>
            <a:xfrm>
              <a:off x="4895087" y="5202936"/>
              <a:ext cx="673735" cy="554990"/>
            </a:xfrm>
            <a:custGeom>
              <a:avLst/>
              <a:gdLst/>
              <a:ahLst/>
              <a:cxnLst/>
              <a:rect l="l" t="t" r="r" b="b"/>
              <a:pathLst>
                <a:path w="673735" h="554989">
                  <a:moveTo>
                    <a:pt x="396239" y="0"/>
                  </a:moveTo>
                  <a:lnTo>
                    <a:pt x="396239" y="138683"/>
                  </a:lnTo>
                  <a:lnTo>
                    <a:pt x="0" y="138683"/>
                  </a:lnTo>
                  <a:lnTo>
                    <a:pt x="0" y="416051"/>
                  </a:lnTo>
                  <a:lnTo>
                    <a:pt x="396239" y="416051"/>
                  </a:lnTo>
                  <a:lnTo>
                    <a:pt x="396239" y="554735"/>
                  </a:lnTo>
                  <a:lnTo>
                    <a:pt x="673608" y="277367"/>
                  </a:lnTo>
                  <a:lnTo>
                    <a:pt x="396239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895087" y="5202936"/>
              <a:ext cx="673735" cy="554990"/>
            </a:xfrm>
            <a:custGeom>
              <a:avLst/>
              <a:gdLst/>
              <a:ahLst/>
              <a:cxnLst/>
              <a:rect l="l" t="t" r="r" b="b"/>
              <a:pathLst>
                <a:path w="673735" h="554989">
                  <a:moveTo>
                    <a:pt x="0" y="138683"/>
                  </a:moveTo>
                  <a:lnTo>
                    <a:pt x="396239" y="138683"/>
                  </a:lnTo>
                  <a:lnTo>
                    <a:pt x="396239" y="0"/>
                  </a:lnTo>
                  <a:lnTo>
                    <a:pt x="673608" y="277367"/>
                  </a:lnTo>
                  <a:lnTo>
                    <a:pt x="396239" y="554735"/>
                  </a:lnTo>
                  <a:lnTo>
                    <a:pt x="396239" y="416051"/>
                  </a:lnTo>
                  <a:lnTo>
                    <a:pt x="0" y="416051"/>
                  </a:lnTo>
                  <a:lnTo>
                    <a:pt x="0" y="138683"/>
                  </a:lnTo>
                  <a:close/>
                </a:path>
              </a:pathLst>
            </a:custGeom>
            <a:ln w="12192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6957916" y="6549694"/>
            <a:ext cx="172085" cy="1924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435"/>
              </a:lnSpc>
            </a:pPr>
            <a:r>
              <a:rPr dirty="0" sz="1500" spc="10">
                <a:latin typeface="Calibri"/>
                <a:cs typeface="Calibri"/>
              </a:rPr>
              <a:t>@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215290" y="6308394"/>
            <a:ext cx="6417945" cy="4464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 sz="1500" spc="-10" b="1">
                <a:latin typeface="Calibri"/>
                <a:cs typeface="Calibri"/>
              </a:rPr>
              <a:t>Department</a:t>
            </a:r>
            <a:r>
              <a:rPr dirty="0" sz="1500" spc="-85" b="1">
                <a:latin typeface="Calibri"/>
                <a:cs typeface="Calibri"/>
              </a:rPr>
              <a:t> </a:t>
            </a:r>
            <a:r>
              <a:rPr dirty="0" sz="1500" b="1">
                <a:latin typeface="Calibri"/>
                <a:cs typeface="Calibri"/>
              </a:rPr>
              <a:t>of</a:t>
            </a:r>
            <a:r>
              <a:rPr dirty="0" sz="1500" spc="5" b="1">
                <a:latin typeface="Calibri"/>
                <a:cs typeface="Calibri"/>
              </a:rPr>
              <a:t> </a:t>
            </a:r>
            <a:r>
              <a:rPr dirty="0" sz="1500" b="1">
                <a:latin typeface="Calibri"/>
                <a:cs typeface="Calibri"/>
              </a:rPr>
              <a:t>Economics</a:t>
            </a:r>
            <a:r>
              <a:rPr dirty="0" sz="1500" spc="-25" b="1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| </a:t>
            </a:r>
            <a:r>
              <a:rPr dirty="0" sz="1500" spc="-10">
                <a:latin typeface="Calibri"/>
                <a:cs typeface="Calibri"/>
              </a:rPr>
              <a:t>Faculty</a:t>
            </a:r>
            <a:r>
              <a:rPr dirty="0" sz="1500" spc="-4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of</a:t>
            </a:r>
            <a:r>
              <a:rPr dirty="0" sz="1500" spc="-5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Economics</a:t>
            </a:r>
            <a:r>
              <a:rPr dirty="0" sz="1500" spc="-2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and</a:t>
            </a:r>
            <a:r>
              <a:rPr dirty="0" sz="1500" spc="-5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Management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500">
                <a:latin typeface="Segoe UI Symbol"/>
                <a:cs typeface="Segoe UI Symbol"/>
              </a:rPr>
              <a:t>☎</a:t>
            </a:r>
            <a:r>
              <a:rPr dirty="0" sz="1500" spc="-114">
                <a:latin typeface="Segoe UI Symbol"/>
                <a:cs typeface="Segoe UI Symbol"/>
              </a:rPr>
              <a:t> </a:t>
            </a:r>
            <a:r>
              <a:rPr dirty="0" sz="1500">
                <a:latin typeface="Calibri"/>
                <a:cs typeface="Calibri"/>
              </a:rPr>
              <a:t>+62</a:t>
            </a:r>
            <a:r>
              <a:rPr dirty="0" sz="1500" spc="-4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251</a:t>
            </a:r>
            <a:r>
              <a:rPr dirty="0" sz="1500" spc="-2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8626602</a:t>
            </a:r>
            <a:r>
              <a:rPr dirty="0" sz="1500" spc="245">
                <a:latin typeface="Calibri"/>
                <a:cs typeface="Calibri"/>
              </a:rPr>
              <a:t> </a:t>
            </a:r>
            <a:r>
              <a:rPr dirty="0" sz="1500">
                <a:latin typeface="Segoe UI Symbol"/>
                <a:cs typeface="Segoe UI Symbol"/>
              </a:rPr>
              <a:t>✉</a:t>
            </a:r>
            <a:r>
              <a:rPr dirty="0" sz="1500" spc="-105">
                <a:latin typeface="Segoe UI Symbol"/>
                <a:cs typeface="Segoe UI Symbol"/>
              </a:rPr>
              <a:t> </a:t>
            </a:r>
            <a:r>
              <a:rPr dirty="0" sz="1500">
                <a:latin typeface="Calibri"/>
                <a:cs typeface="Calibri"/>
                <a:hlinkClick r:id="rId2"/>
              </a:rPr>
              <a:t>ilmu_ekonomi@ipb.ac.id</a:t>
            </a:r>
            <a:r>
              <a:rPr dirty="0" sz="1500" spc="250">
                <a:latin typeface="Calibri"/>
                <a:cs typeface="Calibri"/>
              </a:rPr>
              <a:t> </a:t>
            </a:r>
            <a:r>
              <a:rPr dirty="0" sz="1500" b="1">
                <a:latin typeface="Segoe UI Symbol"/>
                <a:cs typeface="Segoe UI Symbol"/>
              </a:rPr>
              <a:t>🌐</a:t>
            </a:r>
            <a:r>
              <a:rPr dirty="0" sz="1500" spc="-100" b="1">
                <a:latin typeface="Segoe UI Symbol"/>
                <a:cs typeface="Segoe UI Symbol"/>
              </a:rPr>
              <a:t> </a:t>
            </a:r>
            <a:r>
              <a:rPr dirty="0" sz="1500" spc="-10">
                <a:latin typeface="Calibri"/>
                <a:cs typeface="Calibri"/>
                <a:hlinkClick r:id="rId3"/>
              </a:rPr>
              <a:t>http://ekonomi.fem.ipb.ac.id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 spc="-10"/>
              <a:t>dept.ieipb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0141" y="492074"/>
            <a:ext cx="4971415" cy="69532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Solusi</a:t>
            </a:r>
            <a:r>
              <a:rPr dirty="0" spc="-85"/>
              <a:t> </a:t>
            </a:r>
            <a:r>
              <a:rPr dirty="0" spc="-25"/>
              <a:t>Autokorelasi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6957916" y="6549694"/>
            <a:ext cx="172085" cy="1924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435"/>
              </a:lnSpc>
            </a:pPr>
            <a:r>
              <a:rPr dirty="0" sz="1500" spc="10">
                <a:latin typeface="Calibri"/>
                <a:cs typeface="Calibri"/>
              </a:rPr>
              <a:t>@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15290" y="6308394"/>
            <a:ext cx="6417945" cy="4464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 sz="1500" spc="-10" b="1">
                <a:latin typeface="Calibri"/>
                <a:cs typeface="Calibri"/>
              </a:rPr>
              <a:t>Department</a:t>
            </a:r>
            <a:r>
              <a:rPr dirty="0" sz="1500" spc="-85" b="1">
                <a:latin typeface="Calibri"/>
                <a:cs typeface="Calibri"/>
              </a:rPr>
              <a:t> </a:t>
            </a:r>
            <a:r>
              <a:rPr dirty="0" sz="1500" b="1">
                <a:latin typeface="Calibri"/>
                <a:cs typeface="Calibri"/>
              </a:rPr>
              <a:t>of</a:t>
            </a:r>
            <a:r>
              <a:rPr dirty="0" sz="1500" spc="5" b="1">
                <a:latin typeface="Calibri"/>
                <a:cs typeface="Calibri"/>
              </a:rPr>
              <a:t> </a:t>
            </a:r>
            <a:r>
              <a:rPr dirty="0" sz="1500" b="1">
                <a:latin typeface="Calibri"/>
                <a:cs typeface="Calibri"/>
              </a:rPr>
              <a:t>Economics</a:t>
            </a:r>
            <a:r>
              <a:rPr dirty="0" sz="1500" spc="-25" b="1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| </a:t>
            </a:r>
            <a:r>
              <a:rPr dirty="0" sz="1500" spc="-10">
                <a:latin typeface="Calibri"/>
                <a:cs typeface="Calibri"/>
              </a:rPr>
              <a:t>Faculty</a:t>
            </a:r>
            <a:r>
              <a:rPr dirty="0" sz="1500" spc="-4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of</a:t>
            </a:r>
            <a:r>
              <a:rPr dirty="0" sz="1500" spc="-5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Economics</a:t>
            </a:r>
            <a:r>
              <a:rPr dirty="0" sz="1500" spc="-2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and</a:t>
            </a:r>
            <a:r>
              <a:rPr dirty="0" sz="1500" spc="-5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Management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500">
                <a:latin typeface="Segoe UI Symbol"/>
                <a:cs typeface="Segoe UI Symbol"/>
              </a:rPr>
              <a:t>☎</a:t>
            </a:r>
            <a:r>
              <a:rPr dirty="0" sz="1500" spc="-114">
                <a:latin typeface="Segoe UI Symbol"/>
                <a:cs typeface="Segoe UI Symbol"/>
              </a:rPr>
              <a:t> </a:t>
            </a:r>
            <a:r>
              <a:rPr dirty="0" sz="1500">
                <a:latin typeface="Calibri"/>
                <a:cs typeface="Calibri"/>
              </a:rPr>
              <a:t>+62</a:t>
            </a:r>
            <a:r>
              <a:rPr dirty="0" sz="1500" spc="-4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251</a:t>
            </a:r>
            <a:r>
              <a:rPr dirty="0" sz="1500" spc="-2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8626602</a:t>
            </a:r>
            <a:r>
              <a:rPr dirty="0" sz="1500" spc="245">
                <a:latin typeface="Calibri"/>
                <a:cs typeface="Calibri"/>
              </a:rPr>
              <a:t> </a:t>
            </a:r>
            <a:r>
              <a:rPr dirty="0" sz="1500">
                <a:latin typeface="Segoe UI Symbol"/>
                <a:cs typeface="Segoe UI Symbol"/>
              </a:rPr>
              <a:t>✉</a:t>
            </a:r>
            <a:r>
              <a:rPr dirty="0" sz="1500" spc="-105">
                <a:latin typeface="Segoe UI Symbol"/>
                <a:cs typeface="Segoe UI Symbol"/>
              </a:rPr>
              <a:t> </a:t>
            </a:r>
            <a:r>
              <a:rPr dirty="0" sz="1500">
                <a:latin typeface="Calibri"/>
                <a:cs typeface="Calibri"/>
                <a:hlinkClick r:id="rId2"/>
              </a:rPr>
              <a:t>ilmu_ekonomi@ipb.ac.id</a:t>
            </a:r>
            <a:r>
              <a:rPr dirty="0" sz="1500" spc="250">
                <a:latin typeface="Calibri"/>
                <a:cs typeface="Calibri"/>
              </a:rPr>
              <a:t> </a:t>
            </a:r>
            <a:r>
              <a:rPr dirty="0" sz="1500" b="1">
                <a:latin typeface="Segoe UI Symbol"/>
                <a:cs typeface="Segoe UI Symbol"/>
              </a:rPr>
              <a:t>🌐</a:t>
            </a:r>
            <a:r>
              <a:rPr dirty="0" sz="1500" spc="-100" b="1">
                <a:latin typeface="Segoe UI Symbol"/>
                <a:cs typeface="Segoe UI Symbol"/>
              </a:rPr>
              <a:t> </a:t>
            </a:r>
            <a:r>
              <a:rPr dirty="0" sz="1500" spc="-10">
                <a:latin typeface="Calibri"/>
                <a:cs typeface="Calibri"/>
                <a:hlinkClick r:id="rId3"/>
              </a:rPr>
              <a:t>http://ekonomi.fem.ipb.ac.id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 spc="-10"/>
              <a:t>dept.ieipb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20141" y="1409522"/>
            <a:ext cx="11341735" cy="21615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469900" indent="-457834">
              <a:lnSpc>
                <a:spcPct val="100000"/>
              </a:lnSpc>
              <a:spcBef>
                <a:spcPts val="110"/>
              </a:spcBef>
              <a:buChar char="•"/>
              <a:tabLst>
                <a:tab pos="469900" algn="l"/>
                <a:tab pos="470534" algn="l"/>
              </a:tabLst>
            </a:pPr>
            <a:r>
              <a:rPr dirty="0" sz="2800">
                <a:latin typeface="Arial"/>
                <a:cs typeface="Arial"/>
              </a:rPr>
              <a:t>Menambahkan</a:t>
            </a:r>
            <a:r>
              <a:rPr dirty="0" sz="2800" spc="-3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variabel</a:t>
            </a:r>
            <a:r>
              <a:rPr dirty="0" sz="2800" spc="-10">
                <a:latin typeface="Arial"/>
                <a:cs typeface="Arial"/>
              </a:rPr>
              <a:t> </a:t>
            </a:r>
            <a:r>
              <a:rPr dirty="0" sz="2800" i="1">
                <a:latin typeface="Arial"/>
                <a:cs typeface="Arial"/>
              </a:rPr>
              <a:t>dummy</a:t>
            </a:r>
            <a:r>
              <a:rPr dirty="0" sz="2800" spc="-25" i="1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waktu;</a:t>
            </a:r>
            <a:r>
              <a:rPr dirty="0" sz="2800" spc="-5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lag</a:t>
            </a:r>
            <a:r>
              <a:rPr dirty="0" sz="2800" spc="-6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dari</a:t>
            </a:r>
            <a:r>
              <a:rPr dirty="0" sz="2800" spc="-3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variabel</a:t>
            </a:r>
            <a:r>
              <a:rPr dirty="0" sz="2800" spc="-10">
                <a:latin typeface="Arial"/>
                <a:cs typeface="Arial"/>
              </a:rPr>
              <a:t> dependen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Char char="•"/>
            </a:pPr>
            <a:endParaRPr sz="29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Font typeface="Arial"/>
              <a:buChar char="•"/>
              <a:tabLst>
                <a:tab pos="469900" algn="l"/>
                <a:tab pos="470534" algn="l"/>
              </a:tabLst>
            </a:pPr>
            <a:r>
              <a:rPr dirty="0" sz="2800" i="1">
                <a:latin typeface="Arial"/>
                <a:cs typeface="Arial"/>
              </a:rPr>
              <a:t>First-differenced</a:t>
            </a:r>
            <a:r>
              <a:rPr dirty="0" sz="2800" spc="-85" i="1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model:</a:t>
            </a:r>
            <a:r>
              <a:rPr dirty="0" sz="2800" spc="-1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dibahas</a:t>
            </a:r>
            <a:r>
              <a:rPr dirty="0" sz="2800" spc="1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pada</a:t>
            </a:r>
            <a:r>
              <a:rPr dirty="0" sz="2800" spc="-2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saat</a:t>
            </a:r>
            <a:r>
              <a:rPr dirty="0" sz="2800" spc="-4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diskusi</a:t>
            </a:r>
            <a:r>
              <a:rPr dirty="0" sz="2800" spc="-3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model</a:t>
            </a:r>
            <a:r>
              <a:rPr dirty="0" sz="2800" spc="-5">
                <a:latin typeface="Arial"/>
                <a:cs typeface="Arial"/>
              </a:rPr>
              <a:t> </a:t>
            </a:r>
            <a:r>
              <a:rPr dirty="0" sz="2800" spc="-10" i="1">
                <a:latin typeface="Arial"/>
                <a:cs typeface="Arial"/>
              </a:rPr>
              <a:t>time-series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Arial"/>
              <a:buChar char="•"/>
            </a:pPr>
            <a:endParaRPr sz="29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Char char="•"/>
              <a:tabLst>
                <a:tab pos="469900" algn="l"/>
                <a:tab pos="470534" algn="l"/>
              </a:tabLst>
            </a:pPr>
            <a:r>
              <a:rPr dirty="0" sz="2800">
                <a:latin typeface="Arial"/>
                <a:cs typeface="Arial"/>
              </a:rPr>
              <a:t>Menggunakan</a:t>
            </a:r>
            <a:r>
              <a:rPr dirty="0" sz="2800" spc="-2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FGLS</a:t>
            </a:r>
            <a:r>
              <a:rPr dirty="0" sz="2800" spc="-5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(</a:t>
            </a:r>
            <a:r>
              <a:rPr dirty="0" sz="2800" i="1">
                <a:latin typeface="Arial"/>
                <a:cs typeface="Arial"/>
              </a:rPr>
              <a:t>feasible</a:t>
            </a:r>
            <a:r>
              <a:rPr dirty="0" sz="2800" spc="-70" i="1">
                <a:latin typeface="Arial"/>
                <a:cs typeface="Arial"/>
              </a:rPr>
              <a:t> </a:t>
            </a:r>
            <a:r>
              <a:rPr dirty="0" sz="2800" i="1">
                <a:latin typeface="Arial"/>
                <a:cs typeface="Arial"/>
              </a:rPr>
              <a:t>generalized</a:t>
            </a:r>
            <a:r>
              <a:rPr dirty="0" sz="2800" spc="65" i="1">
                <a:latin typeface="Arial"/>
                <a:cs typeface="Arial"/>
              </a:rPr>
              <a:t> </a:t>
            </a:r>
            <a:r>
              <a:rPr dirty="0" sz="2800" i="1">
                <a:latin typeface="Arial"/>
                <a:cs typeface="Arial"/>
              </a:rPr>
              <a:t>least</a:t>
            </a:r>
            <a:r>
              <a:rPr dirty="0" sz="2800" spc="-45" i="1">
                <a:latin typeface="Arial"/>
                <a:cs typeface="Arial"/>
              </a:rPr>
              <a:t> </a:t>
            </a:r>
            <a:r>
              <a:rPr dirty="0" sz="2800" spc="-10" i="1">
                <a:latin typeface="Arial"/>
                <a:cs typeface="Arial"/>
              </a:rPr>
              <a:t>squares</a:t>
            </a:r>
            <a:r>
              <a:rPr dirty="0" sz="2800" spc="-10">
                <a:latin typeface="Arial"/>
                <a:cs typeface="Arial"/>
              </a:rPr>
              <a:t>)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0141" y="492074"/>
            <a:ext cx="7837170" cy="69532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Pengertian</a:t>
            </a:r>
            <a:r>
              <a:rPr dirty="0" spc="-225"/>
              <a:t> </a:t>
            </a:r>
            <a:r>
              <a:rPr dirty="0" spc="-10"/>
              <a:t>Homoskedastisitas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0663" y="3221735"/>
            <a:ext cx="4328160" cy="2779776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282041" y="1273505"/>
            <a:ext cx="11249025" cy="46691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0" marR="43180" indent="-457834">
              <a:lnSpc>
                <a:spcPct val="100000"/>
              </a:lnSpc>
              <a:spcBef>
                <a:spcPts val="95"/>
              </a:spcBef>
              <a:buChar char="•"/>
              <a:tabLst>
                <a:tab pos="508000" algn="l"/>
                <a:tab pos="508634" algn="l"/>
              </a:tabLst>
            </a:pPr>
            <a:r>
              <a:rPr dirty="0" sz="2600">
                <a:latin typeface="Arial"/>
                <a:cs typeface="Arial"/>
              </a:rPr>
              <a:t>Homoskedastisitas</a:t>
            </a:r>
            <a:r>
              <a:rPr dirty="0" sz="2600" spc="-4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adalah</a:t>
            </a:r>
            <a:r>
              <a:rPr dirty="0" sz="2600" spc="-7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kondisi</a:t>
            </a:r>
            <a:r>
              <a:rPr dirty="0" sz="2600" spc="-7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dimana</a:t>
            </a:r>
            <a:r>
              <a:rPr dirty="0" sz="2600" spc="-8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varians</a:t>
            </a:r>
            <a:r>
              <a:rPr dirty="0" sz="2600" spc="-6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dari</a:t>
            </a:r>
            <a:r>
              <a:rPr dirty="0" sz="2600" spc="-10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galat</a:t>
            </a:r>
            <a:r>
              <a:rPr dirty="0" sz="2600" spc="-100">
                <a:latin typeface="Arial"/>
                <a:cs typeface="Arial"/>
              </a:rPr>
              <a:t> </a:t>
            </a:r>
            <a:r>
              <a:rPr dirty="0" sz="2600" spc="-10">
                <a:latin typeface="Arial"/>
                <a:cs typeface="Arial"/>
              </a:rPr>
              <a:t>diasumsikan </a:t>
            </a:r>
            <a:r>
              <a:rPr dirty="0" sz="2600" b="1">
                <a:solidFill>
                  <a:srgbClr val="FF0000"/>
                </a:solidFill>
                <a:latin typeface="Arial"/>
                <a:cs typeface="Arial"/>
              </a:rPr>
              <a:t>konstan</a:t>
            </a:r>
            <a:r>
              <a:rPr dirty="0" sz="2600">
                <a:latin typeface="Arial"/>
                <a:cs typeface="Arial"/>
              </a:rPr>
              <a:t>.</a:t>
            </a:r>
            <a:r>
              <a:rPr dirty="0" sz="2600" spc="-8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Pada</a:t>
            </a:r>
            <a:r>
              <a:rPr dirty="0" sz="2600" spc="-8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beberapa</a:t>
            </a:r>
            <a:r>
              <a:rPr dirty="0" sz="2600" spc="-7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referensi</a:t>
            </a:r>
            <a:r>
              <a:rPr dirty="0" sz="2600" spc="-8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disebutkan</a:t>
            </a:r>
            <a:r>
              <a:rPr dirty="0" sz="2600" spc="-6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awalnya</a:t>
            </a:r>
            <a:r>
              <a:rPr dirty="0" sz="2600" spc="-4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dibahas</a:t>
            </a:r>
            <a:r>
              <a:rPr dirty="0" sz="2600" spc="-65">
                <a:latin typeface="Arial"/>
                <a:cs typeface="Arial"/>
              </a:rPr>
              <a:t> </a:t>
            </a:r>
            <a:r>
              <a:rPr dirty="0" sz="2600" spc="-20">
                <a:latin typeface="Arial"/>
                <a:cs typeface="Arial"/>
              </a:rPr>
              <a:t>pada </a:t>
            </a:r>
            <a:r>
              <a:rPr dirty="0" sz="2600">
                <a:latin typeface="Arial"/>
                <a:cs typeface="Arial"/>
              </a:rPr>
              <a:t>mode</a:t>
            </a:r>
            <a:r>
              <a:rPr dirty="0" sz="2600" spc="-5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dengan</a:t>
            </a:r>
            <a:r>
              <a:rPr dirty="0" sz="2600" spc="-6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data</a:t>
            </a:r>
            <a:r>
              <a:rPr dirty="0" sz="2600" spc="-5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kerat</a:t>
            </a:r>
            <a:r>
              <a:rPr dirty="0" sz="2600" spc="-7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lintang,</a:t>
            </a:r>
            <a:r>
              <a:rPr dirty="0" sz="2600" spc="-2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namun</a:t>
            </a:r>
            <a:r>
              <a:rPr dirty="0" sz="2600" spc="-7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dalam</a:t>
            </a:r>
            <a:r>
              <a:rPr dirty="0" sz="2600" spc="-50">
                <a:latin typeface="Arial"/>
                <a:cs typeface="Arial"/>
              </a:rPr>
              <a:t> </a:t>
            </a:r>
            <a:r>
              <a:rPr dirty="0" sz="2600" spc="-10">
                <a:latin typeface="Arial"/>
                <a:cs typeface="Arial"/>
              </a:rPr>
              <a:t>perkembangan </a:t>
            </a:r>
            <a:r>
              <a:rPr dirty="0" sz="2600">
                <a:latin typeface="Arial"/>
                <a:cs typeface="Arial"/>
              </a:rPr>
              <a:t>ekonometrika,</a:t>
            </a:r>
            <a:r>
              <a:rPr dirty="0" sz="2600" spc="-4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isu</a:t>
            </a:r>
            <a:r>
              <a:rPr dirty="0" sz="2600" spc="-8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penting</a:t>
            </a:r>
            <a:r>
              <a:rPr dirty="0" sz="2600" spc="-4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dalam</a:t>
            </a:r>
            <a:r>
              <a:rPr dirty="0" sz="2600" spc="-8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model</a:t>
            </a:r>
            <a:r>
              <a:rPr dirty="0" sz="2600" spc="-6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deret</a:t>
            </a:r>
            <a:r>
              <a:rPr dirty="0" sz="2600" spc="-8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waktu</a:t>
            </a:r>
            <a:r>
              <a:rPr dirty="0" sz="2600" spc="-40">
                <a:latin typeface="Arial"/>
                <a:cs typeface="Arial"/>
              </a:rPr>
              <a:t> </a:t>
            </a:r>
            <a:r>
              <a:rPr dirty="0" sz="2600" spc="-10">
                <a:latin typeface="Arial"/>
                <a:cs typeface="Arial"/>
              </a:rPr>
              <a:t>(GARCH)</a:t>
            </a:r>
            <a:endParaRPr sz="2600">
              <a:latin typeface="Arial"/>
              <a:cs typeface="Arial"/>
            </a:endParaRPr>
          </a:p>
          <a:p>
            <a:pPr marL="642620">
              <a:lnSpc>
                <a:spcPct val="100000"/>
              </a:lnSpc>
              <a:spcBef>
                <a:spcPts val="750"/>
              </a:spcBef>
            </a:pPr>
            <a:r>
              <a:rPr dirty="0" sz="2800" spc="-25">
                <a:latin typeface="Calibri"/>
                <a:cs typeface="Calibri"/>
              </a:rPr>
              <a:t>e</a:t>
            </a:r>
            <a:r>
              <a:rPr dirty="0" baseline="-19519" sz="2775" spc="-37">
                <a:latin typeface="Calibri"/>
                <a:cs typeface="Calibri"/>
              </a:rPr>
              <a:t>i</a:t>
            </a:r>
            <a:endParaRPr baseline="-19519" sz="2775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900">
              <a:latin typeface="Calibri"/>
              <a:cs typeface="Calibri"/>
            </a:endParaRPr>
          </a:p>
          <a:p>
            <a:pPr lvl="1" marL="5918835" marR="892810" indent="-457200">
              <a:lnSpc>
                <a:spcPct val="100000"/>
              </a:lnSpc>
              <a:buChar char="•"/>
              <a:tabLst>
                <a:tab pos="5918835" algn="l"/>
                <a:tab pos="5919470" algn="l"/>
              </a:tabLst>
            </a:pPr>
            <a:r>
              <a:rPr dirty="0" sz="2600">
                <a:latin typeface="Arial"/>
                <a:cs typeface="Arial"/>
              </a:rPr>
              <a:t>Pada</a:t>
            </a:r>
            <a:r>
              <a:rPr dirty="0" sz="2600" spc="-4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gambar</a:t>
            </a:r>
            <a:r>
              <a:rPr dirty="0" sz="2600" spc="-3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terlihat</a:t>
            </a:r>
            <a:r>
              <a:rPr dirty="0" sz="2600" spc="-4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plot</a:t>
            </a:r>
            <a:r>
              <a:rPr dirty="0" sz="2600" spc="-65">
                <a:latin typeface="Arial"/>
                <a:cs typeface="Arial"/>
              </a:rPr>
              <a:t> </a:t>
            </a:r>
            <a:r>
              <a:rPr dirty="0" sz="2600" spc="-20">
                <a:latin typeface="Arial"/>
                <a:cs typeface="Arial"/>
              </a:rPr>
              <a:t>data </a:t>
            </a:r>
            <a:r>
              <a:rPr dirty="0" sz="2600" i="1">
                <a:latin typeface="Arial"/>
                <a:cs typeface="Arial"/>
              </a:rPr>
              <a:t>residual</a:t>
            </a:r>
            <a:r>
              <a:rPr dirty="0" sz="2600" spc="-75" i="1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terhadap</a:t>
            </a:r>
            <a:r>
              <a:rPr dirty="0" sz="2600" spc="-50">
                <a:latin typeface="Arial"/>
                <a:cs typeface="Arial"/>
              </a:rPr>
              <a:t> </a:t>
            </a:r>
            <a:r>
              <a:rPr dirty="0" sz="2600" spc="-10">
                <a:latin typeface="Arial"/>
                <a:cs typeface="Arial"/>
              </a:rPr>
              <a:t>observasi (rumahtangga)</a:t>
            </a:r>
            <a:endParaRPr sz="2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200">
              <a:latin typeface="Arial"/>
              <a:cs typeface="Arial"/>
            </a:endParaRPr>
          </a:p>
          <a:p>
            <a:pPr algn="ctr" marR="1398270">
              <a:lnSpc>
                <a:spcPct val="100000"/>
              </a:lnSpc>
            </a:pPr>
            <a:r>
              <a:rPr dirty="0" sz="2800">
                <a:latin typeface="Calibri"/>
                <a:cs typeface="Calibri"/>
              </a:rPr>
              <a:t>i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1990344" y="3057144"/>
            <a:ext cx="1828800" cy="524510"/>
          </a:xfrm>
          <a:custGeom>
            <a:avLst/>
            <a:gdLst/>
            <a:ahLst/>
            <a:cxnLst/>
            <a:rect l="l" t="t" r="r" b="b"/>
            <a:pathLst>
              <a:path w="1828800" h="524510">
                <a:moveTo>
                  <a:pt x="1828800" y="0"/>
                </a:moveTo>
                <a:lnTo>
                  <a:pt x="0" y="0"/>
                </a:lnTo>
                <a:lnTo>
                  <a:pt x="0" y="524255"/>
                </a:lnTo>
                <a:lnTo>
                  <a:pt x="1828800" y="524255"/>
                </a:lnTo>
                <a:lnTo>
                  <a:pt x="18288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6957916" y="6549694"/>
            <a:ext cx="172085" cy="1924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435"/>
              </a:lnSpc>
            </a:pPr>
            <a:r>
              <a:rPr dirty="0" sz="1500" spc="10">
                <a:latin typeface="Calibri"/>
                <a:cs typeface="Calibri"/>
              </a:rPr>
              <a:t>@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15290" y="6308394"/>
            <a:ext cx="6417945" cy="4464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 sz="1500" spc="-10" b="1">
                <a:latin typeface="Calibri"/>
                <a:cs typeface="Calibri"/>
              </a:rPr>
              <a:t>Department</a:t>
            </a:r>
            <a:r>
              <a:rPr dirty="0" sz="1500" spc="-85" b="1">
                <a:latin typeface="Calibri"/>
                <a:cs typeface="Calibri"/>
              </a:rPr>
              <a:t> </a:t>
            </a:r>
            <a:r>
              <a:rPr dirty="0" sz="1500" b="1">
                <a:latin typeface="Calibri"/>
                <a:cs typeface="Calibri"/>
              </a:rPr>
              <a:t>of</a:t>
            </a:r>
            <a:r>
              <a:rPr dirty="0" sz="1500" spc="5" b="1">
                <a:latin typeface="Calibri"/>
                <a:cs typeface="Calibri"/>
              </a:rPr>
              <a:t> </a:t>
            </a:r>
            <a:r>
              <a:rPr dirty="0" sz="1500" b="1">
                <a:latin typeface="Calibri"/>
                <a:cs typeface="Calibri"/>
              </a:rPr>
              <a:t>Economics</a:t>
            </a:r>
            <a:r>
              <a:rPr dirty="0" sz="1500" spc="-25" b="1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| </a:t>
            </a:r>
            <a:r>
              <a:rPr dirty="0" sz="1500" spc="-10">
                <a:latin typeface="Calibri"/>
                <a:cs typeface="Calibri"/>
              </a:rPr>
              <a:t>Faculty</a:t>
            </a:r>
            <a:r>
              <a:rPr dirty="0" sz="1500" spc="-4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of</a:t>
            </a:r>
            <a:r>
              <a:rPr dirty="0" sz="1500" spc="-5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Economics</a:t>
            </a:r>
            <a:r>
              <a:rPr dirty="0" sz="1500" spc="-2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and</a:t>
            </a:r>
            <a:r>
              <a:rPr dirty="0" sz="1500" spc="-5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Management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500">
                <a:latin typeface="Segoe UI Symbol"/>
                <a:cs typeface="Segoe UI Symbol"/>
              </a:rPr>
              <a:t>☎</a:t>
            </a:r>
            <a:r>
              <a:rPr dirty="0" sz="1500" spc="-114">
                <a:latin typeface="Segoe UI Symbol"/>
                <a:cs typeface="Segoe UI Symbol"/>
              </a:rPr>
              <a:t> </a:t>
            </a:r>
            <a:r>
              <a:rPr dirty="0" sz="1500">
                <a:latin typeface="Calibri"/>
                <a:cs typeface="Calibri"/>
              </a:rPr>
              <a:t>+62</a:t>
            </a:r>
            <a:r>
              <a:rPr dirty="0" sz="1500" spc="-4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251</a:t>
            </a:r>
            <a:r>
              <a:rPr dirty="0" sz="1500" spc="-2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8626602</a:t>
            </a:r>
            <a:r>
              <a:rPr dirty="0" sz="1500" spc="245">
                <a:latin typeface="Calibri"/>
                <a:cs typeface="Calibri"/>
              </a:rPr>
              <a:t> </a:t>
            </a:r>
            <a:r>
              <a:rPr dirty="0" sz="1500">
                <a:latin typeface="Segoe UI Symbol"/>
                <a:cs typeface="Segoe UI Symbol"/>
              </a:rPr>
              <a:t>✉</a:t>
            </a:r>
            <a:r>
              <a:rPr dirty="0" sz="1500" spc="-105">
                <a:latin typeface="Segoe UI Symbol"/>
                <a:cs typeface="Segoe UI Symbol"/>
              </a:rPr>
              <a:t> </a:t>
            </a:r>
            <a:r>
              <a:rPr dirty="0" sz="1500">
                <a:latin typeface="Calibri"/>
                <a:cs typeface="Calibri"/>
                <a:hlinkClick r:id="rId3"/>
              </a:rPr>
              <a:t>ilmu_ekonomi@ipb.ac.id</a:t>
            </a:r>
            <a:r>
              <a:rPr dirty="0" sz="1500" spc="250">
                <a:latin typeface="Calibri"/>
                <a:cs typeface="Calibri"/>
              </a:rPr>
              <a:t> </a:t>
            </a:r>
            <a:r>
              <a:rPr dirty="0" sz="1500" b="1">
                <a:latin typeface="Segoe UI Symbol"/>
                <a:cs typeface="Segoe UI Symbol"/>
              </a:rPr>
              <a:t>🌐</a:t>
            </a:r>
            <a:r>
              <a:rPr dirty="0" sz="1500" spc="-100" b="1">
                <a:latin typeface="Segoe UI Symbol"/>
                <a:cs typeface="Segoe UI Symbol"/>
              </a:rPr>
              <a:t> </a:t>
            </a:r>
            <a:r>
              <a:rPr dirty="0" sz="1500" spc="-10">
                <a:latin typeface="Calibri"/>
                <a:cs typeface="Calibri"/>
                <a:hlinkClick r:id="rId4"/>
              </a:rPr>
              <a:t>http://ekonomi.fem.ipb.ac.id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 spc="-10"/>
              <a:t>dept.ieipb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0141" y="303876"/>
            <a:ext cx="9478645" cy="1432560"/>
          </a:xfrm>
          <a:prstGeom prst="rect"/>
        </p:spPr>
        <p:txBody>
          <a:bodyPr wrap="square" lIns="0" tIns="2000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75"/>
              </a:spcBef>
            </a:pPr>
            <a:r>
              <a:rPr dirty="0"/>
              <a:t>Sumber</a:t>
            </a:r>
            <a:r>
              <a:rPr dirty="0" spc="-165"/>
              <a:t> </a:t>
            </a:r>
            <a:r>
              <a:rPr dirty="0" spc="-10"/>
              <a:t>Heteroskedastisitas</a:t>
            </a:r>
          </a:p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dirty="0" sz="2800" b="0">
                <a:solidFill>
                  <a:srgbClr val="000000"/>
                </a:solidFill>
                <a:latin typeface="Arial"/>
                <a:cs typeface="Arial"/>
              </a:rPr>
              <a:t>Beberapa</a:t>
            </a:r>
            <a:r>
              <a:rPr dirty="0" sz="2800" spc="-65" b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800" b="0">
                <a:solidFill>
                  <a:srgbClr val="000000"/>
                </a:solidFill>
                <a:latin typeface="Arial"/>
                <a:cs typeface="Arial"/>
              </a:rPr>
              <a:t>penyebab</a:t>
            </a:r>
            <a:r>
              <a:rPr dirty="0" sz="2800" spc="-30" b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800" b="0">
                <a:solidFill>
                  <a:srgbClr val="000000"/>
                </a:solidFill>
                <a:latin typeface="Arial"/>
                <a:cs typeface="Arial"/>
              </a:rPr>
              <a:t>munculnya</a:t>
            </a:r>
            <a:r>
              <a:rPr dirty="0" sz="2800" spc="-25" b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800" b="0">
                <a:solidFill>
                  <a:srgbClr val="000000"/>
                </a:solidFill>
                <a:latin typeface="Arial"/>
                <a:cs typeface="Arial"/>
              </a:rPr>
              <a:t>heteroskedastisitas</a:t>
            </a:r>
            <a:r>
              <a:rPr dirty="0" sz="2800" spc="-125" b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800" spc="-10" b="0">
                <a:solidFill>
                  <a:srgbClr val="000000"/>
                </a:solidFill>
                <a:latin typeface="Arial"/>
                <a:cs typeface="Arial"/>
              </a:rPr>
              <a:t>adalah: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957916" y="6549694"/>
            <a:ext cx="172085" cy="1924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435"/>
              </a:lnSpc>
            </a:pPr>
            <a:r>
              <a:rPr dirty="0" sz="1500" spc="10">
                <a:latin typeface="Calibri"/>
                <a:cs typeface="Calibri"/>
              </a:rPr>
              <a:t>@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15290" y="6308394"/>
            <a:ext cx="6417945" cy="4464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 sz="1500" spc="-10" b="1">
                <a:latin typeface="Calibri"/>
                <a:cs typeface="Calibri"/>
              </a:rPr>
              <a:t>Department</a:t>
            </a:r>
            <a:r>
              <a:rPr dirty="0" sz="1500" spc="-85" b="1">
                <a:latin typeface="Calibri"/>
                <a:cs typeface="Calibri"/>
              </a:rPr>
              <a:t> </a:t>
            </a:r>
            <a:r>
              <a:rPr dirty="0" sz="1500" b="1">
                <a:latin typeface="Calibri"/>
                <a:cs typeface="Calibri"/>
              </a:rPr>
              <a:t>of</a:t>
            </a:r>
            <a:r>
              <a:rPr dirty="0" sz="1500" spc="5" b="1">
                <a:latin typeface="Calibri"/>
                <a:cs typeface="Calibri"/>
              </a:rPr>
              <a:t> </a:t>
            </a:r>
            <a:r>
              <a:rPr dirty="0" sz="1500" b="1">
                <a:latin typeface="Calibri"/>
                <a:cs typeface="Calibri"/>
              </a:rPr>
              <a:t>Economics</a:t>
            </a:r>
            <a:r>
              <a:rPr dirty="0" sz="1500" spc="-25" b="1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| </a:t>
            </a:r>
            <a:r>
              <a:rPr dirty="0" sz="1500" spc="-10">
                <a:latin typeface="Calibri"/>
                <a:cs typeface="Calibri"/>
              </a:rPr>
              <a:t>Faculty</a:t>
            </a:r>
            <a:r>
              <a:rPr dirty="0" sz="1500" spc="-4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of</a:t>
            </a:r>
            <a:r>
              <a:rPr dirty="0" sz="1500" spc="-5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Economics</a:t>
            </a:r>
            <a:r>
              <a:rPr dirty="0" sz="1500" spc="-2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and</a:t>
            </a:r>
            <a:r>
              <a:rPr dirty="0" sz="1500" spc="-5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Management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500">
                <a:latin typeface="Segoe UI Symbol"/>
                <a:cs typeface="Segoe UI Symbol"/>
              </a:rPr>
              <a:t>☎</a:t>
            </a:r>
            <a:r>
              <a:rPr dirty="0" sz="1500" spc="-114">
                <a:latin typeface="Segoe UI Symbol"/>
                <a:cs typeface="Segoe UI Symbol"/>
              </a:rPr>
              <a:t> </a:t>
            </a:r>
            <a:r>
              <a:rPr dirty="0" sz="1500">
                <a:latin typeface="Calibri"/>
                <a:cs typeface="Calibri"/>
              </a:rPr>
              <a:t>+62</a:t>
            </a:r>
            <a:r>
              <a:rPr dirty="0" sz="1500" spc="-4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251</a:t>
            </a:r>
            <a:r>
              <a:rPr dirty="0" sz="1500" spc="-2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8626602</a:t>
            </a:r>
            <a:r>
              <a:rPr dirty="0" sz="1500" spc="245">
                <a:latin typeface="Calibri"/>
                <a:cs typeface="Calibri"/>
              </a:rPr>
              <a:t> </a:t>
            </a:r>
            <a:r>
              <a:rPr dirty="0" sz="1500">
                <a:latin typeface="Segoe UI Symbol"/>
                <a:cs typeface="Segoe UI Symbol"/>
              </a:rPr>
              <a:t>✉</a:t>
            </a:r>
            <a:r>
              <a:rPr dirty="0" sz="1500" spc="-105">
                <a:latin typeface="Segoe UI Symbol"/>
                <a:cs typeface="Segoe UI Symbol"/>
              </a:rPr>
              <a:t> </a:t>
            </a:r>
            <a:r>
              <a:rPr dirty="0" sz="1500">
                <a:latin typeface="Calibri"/>
                <a:cs typeface="Calibri"/>
                <a:hlinkClick r:id="rId2"/>
              </a:rPr>
              <a:t>ilmu_ekonomi@ipb.ac.id</a:t>
            </a:r>
            <a:r>
              <a:rPr dirty="0" sz="1500" spc="250">
                <a:latin typeface="Calibri"/>
                <a:cs typeface="Calibri"/>
              </a:rPr>
              <a:t> </a:t>
            </a:r>
            <a:r>
              <a:rPr dirty="0" sz="1500" b="1">
                <a:latin typeface="Segoe UI Symbol"/>
                <a:cs typeface="Segoe UI Symbol"/>
              </a:rPr>
              <a:t>🌐</a:t>
            </a:r>
            <a:r>
              <a:rPr dirty="0" sz="1500" spc="-100" b="1">
                <a:latin typeface="Segoe UI Symbol"/>
                <a:cs typeface="Segoe UI Symbol"/>
              </a:rPr>
              <a:t> </a:t>
            </a:r>
            <a:r>
              <a:rPr dirty="0" sz="1500" spc="-10">
                <a:latin typeface="Calibri"/>
                <a:cs typeface="Calibri"/>
                <a:hlinkClick r:id="rId3"/>
              </a:rPr>
              <a:t>http://ekonomi.fem.ipb.ac.id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 spc="-10"/>
              <a:t>dept.ieipb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20141" y="2135835"/>
            <a:ext cx="10862945" cy="386905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469900" indent="-457834">
              <a:lnSpc>
                <a:spcPct val="100000"/>
              </a:lnSpc>
              <a:spcBef>
                <a:spcPts val="110"/>
              </a:spcBef>
              <a:buChar char="•"/>
              <a:tabLst>
                <a:tab pos="469900" algn="l"/>
                <a:tab pos="470534" algn="l"/>
              </a:tabLst>
            </a:pPr>
            <a:r>
              <a:rPr dirty="0" sz="2800" spc="-10">
                <a:latin typeface="Arial"/>
                <a:cs typeface="Arial"/>
              </a:rPr>
              <a:t>Variasi</a:t>
            </a:r>
            <a:r>
              <a:rPr dirty="0" sz="2800" spc="-6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data</a:t>
            </a:r>
            <a:r>
              <a:rPr dirty="0" sz="2800" spc="-6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yang</a:t>
            </a:r>
            <a:r>
              <a:rPr dirty="0" sz="2800" spc="-1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besar</a:t>
            </a:r>
            <a:r>
              <a:rPr dirty="0" sz="2800" spc="-5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antar</a:t>
            </a:r>
            <a:r>
              <a:rPr dirty="0" sz="2800" spc="-6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observai</a:t>
            </a:r>
            <a:r>
              <a:rPr dirty="0" sz="2800" spc="-4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baik</a:t>
            </a:r>
            <a:r>
              <a:rPr dirty="0" sz="2800" spc="-5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individu</a:t>
            </a:r>
            <a:r>
              <a:rPr dirty="0" sz="2800" spc="-1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atau</a:t>
            </a:r>
            <a:r>
              <a:rPr dirty="0" sz="2800" spc="-50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waktu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Arial"/>
              <a:buChar char="•"/>
            </a:pPr>
            <a:endParaRPr sz="2900">
              <a:latin typeface="Arial"/>
              <a:cs typeface="Arial"/>
            </a:endParaRPr>
          </a:p>
          <a:p>
            <a:pPr algn="just" marL="469900" marR="75565" indent="-457834">
              <a:lnSpc>
                <a:spcPct val="100000"/>
              </a:lnSpc>
              <a:buChar char="•"/>
              <a:tabLst>
                <a:tab pos="470534" algn="l"/>
              </a:tabLst>
            </a:pPr>
            <a:r>
              <a:rPr dirty="0" sz="2800">
                <a:latin typeface="Arial"/>
                <a:cs typeface="Arial"/>
              </a:rPr>
              <a:t>Di</a:t>
            </a:r>
            <a:r>
              <a:rPr dirty="0" sz="2800" spc="-1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Indonesia,</a:t>
            </a:r>
            <a:r>
              <a:rPr dirty="0" sz="2800" spc="-2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kesenjangangan</a:t>
            </a:r>
            <a:r>
              <a:rPr dirty="0" sz="2800" spc="-4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tingkat</a:t>
            </a:r>
            <a:r>
              <a:rPr dirty="0" sz="2800" spc="-5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pendaoatan</a:t>
            </a:r>
            <a:r>
              <a:rPr dirty="0" sz="2800" spc="-1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regional</a:t>
            </a:r>
            <a:r>
              <a:rPr dirty="0" sz="2800" spc="-5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bruto, </a:t>
            </a:r>
            <a:r>
              <a:rPr dirty="0" sz="2800">
                <a:latin typeface="Arial"/>
                <a:cs typeface="Arial"/>
              </a:rPr>
              <a:t>dana</a:t>
            </a:r>
            <a:r>
              <a:rPr dirty="0" sz="2800" spc="-3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transfer</a:t>
            </a:r>
            <a:r>
              <a:rPr dirty="0" sz="2800" spc="-7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dll.</a:t>
            </a:r>
            <a:r>
              <a:rPr dirty="0" sz="2800" spc="-2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Dalam</a:t>
            </a:r>
            <a:r>
              <a:rPr dirty="0" sz="2800" spc="-2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data</a:t>
            </a:r>
            <a:r>
              <a:rPr dirty="0" sz="2800" spc="-3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deret</a:t>
            </a:r>
            <a:r>
              <a:rPr dirty="0" sz="2800" spc="-2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waktu,</a:t>
            </a:r>
            <a:r>
              <a:rPr dirty="0" sz="2800" spc="-2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ada</a:t>
            </a:r>
            <a:r>
              <a:rPr dirty="0" sz="2800" spc="-1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variasi</a:t>
            </a:r>
            <a:r>
              <a:rPr dirty="0" sz="2800" spc="-2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yang</a:t>
            </a:r>
            <a:r>
              <a:rPr dirty="0" sz="2800" spc="10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besar </a:t>
            </a:r>
            <a:r>
              <a:rPr dirty="0" sz="2800">
                <a:latin typeface="Arial"/>
                <a:cs typeface="Arial"/>
              </a:rPr>
              <a:t>antara</a:t>
            </a:r>
            <a:r>
              <a:rPr dirty="0" sz="2800" spc="-3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awal</a:t>
            </a:r>
            <a:r>
              <a:rPr dirty="0" sz="2800" spc="1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waktu</a:t>
            </a:r>
            <a:r>
              <a:rPr dirty="0" sz="2800" spc="-3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dengan</a:t>
            </a:r>
            <a:r>
              <a:rPr dirty="0" sz="2800" spc="-1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kondisi</a:t>
            </a:r>
            <a:r>
              <a:rPr dirty="0" sz="2800" spc="-25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terkini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Arial"/>
              <a:buChar char="•"/>
            </a:pPr>
            <a:endParaRPr sz="29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Char char="•"/>
              <a:tabLst>
                <a:tab pos="469900" algn="l"/>
                <a:tab pos="470534" algn="l"/>
              </a:tabLst>
            </a:pPr>
            <a:r>
              <a:rPr dirty="0" sz="2800">
                <a:latin typeface="Arial"/>
                <a:cs typeface="Arial"/>
              </a:rPr>
              <a:t>Sering</a:t>
            </a:r>
            <a:r>
              <a:rPr dirty="0" sz="2800" spc="-3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jadi</a:t>
            </a:r>
            <a:r>
              <a:rPr dirty="0" sz="2800" spc="-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contoh</a:t>
            </a:r>
            <a:r>
              <a:rPr dirty="0" sz="2800" spc="-4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pada</a:t>
            </a:r>
            <a:r>
              <a:rPr dirty="0" sz="2800" spc="-1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fungsi</a:t>
            </a:r>
            <a:r>
              <a:rPr dirty="0" sz="2800" spc="-3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konsumsi:</a:t>
            </a:r>
            <a:r>
              <a:rPr dirty="0" sz="2800" spc="-40"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FF0000"/>
                </a:solidFill>
                <a:latin typeface="Arial"/>
                <a:cs typeface="Arial"/>
              </a:rPr>
              <a:t>pendapatan</a:t>
            </a:r>
            <a:r>
              <a:rPr dirty="0" sz="28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800" spc="-10" b="1">
                <a:solidFill>
                  <a:srgbClr val="FF0000"/>
                </a:solidFill>
                <a:latin typeface="Arial"/>
                <a:cs typeface="Arial"/>
              </a:rPr>
              <a:t>bervariasi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Char char="•"/>
            </a:pPr>
            <a:endParaRPr sz="29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Char char="•"/>
              <a:tabLst>
                <a:tab pos="469900" algn="l"/>
                <a:tab pos="470534" algn="l"/>
              </a:tabLst>
            </a:pPr>
            <a:r>
              <a:rPr dirty="0" sz="2800">
                <a:latin typeface="Arial"/>
                <a:cs typeface="Arial"/>
              </a:rPr>
              <a:t>Kesalahan</a:t>
            </a:r>
            <a:r>
              <a:rPr dirty="0" sz="2800" spc="-4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dalam</a:t>
            </a:r>
            <a:r>
              <a:rPr dirty="0" sz="2800" spc="-2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spesifikasi</a:t>
            </a:r>
            <a:r>
              <a:rPr dirty="0" sz="2800" spc="-8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model:</a:t>
            </a:r>
            <a:r>
              <a:rPr dirty="0" sz="2800" spc="5">
                <a:latin typeface="Arial"/>
                <a:cs typeface="Arial"/>
              </a:rPr>
              <a:t> </a:t>
            </a:r>
            <a:r>
              <a:rPr dirty="0" sz="2800" i="1">
                <a:latin typeface="Arial"/>
                <a:cs typeface="Arial"/>
              </a:rPr>
              <a:t>omitted</a:t>
            </a:r>
            <a:r>
              <a:rPr dirty="0" sz="2800" spc="-55" i="1">
                <a:latin typeface="Arial"/>
                <a:cs typeface="Arial"/>
              </a:rPr>
              <a:t> </a:t>
            </a:r>
            <a:r>
              <a:rPr dirty="0" sz="2800" spc="-10" i="1">
                <a:latin typeface="Arial"/>
                <a:cs typeface="Arial"/>
              </a:rPr>
              <a:t>variable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0952" y="664540"/>
            <a:ext cx="10763250" cy="63690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3234690" algn="l"/>
              </a:tabLst>
            </a:pPr>
            <a:r>
              <a:rPr dirty="0" sz="4000" spc="-10"/>
              <a:t>Konsekuensi</a:t>
            </a:r>
            <a:r>
              <a:rPr dirty="0" sz="4000"/>
              <a:t>	dan</a:t>
            </a:r>
            <a:r>
              <a:rPr dirty="0" sz="4000" spc="-75"/>
              <a:t> </a:t>
            </a:r>
            <a:r>
              <a:rPr dirty="0" sz="4000"/>
              <a:t>Deteksi</a:t>
            </a:r>
            <a:r>
              <a:rPr dirty="0" sz="4000" spc="-90"/>
              <a:t> </a:t>
            </a:r>
            <a:r>
              <a:rPr dirty="0" sz="4000" spc="-10"/>
              <a:t>Heteroskedastisitas</a:t>
            </a:r>
            <a:endParaRPr sz="4000"/>
          </a:p>
        </p:txBody>
      </p:sp>
      <p:sp>
        <p:nvSpPr>
          <p:cNvPr id="4" name="object 4" descr=""/>
          <p:cNvSpPr txBox="1"/>
          <p:nvPr/>
        </p:nvSpPr>
        <p:spPr>
          <a:xfrm>
            <a:off x="6957916" y="6549694"/>
            <a:ext cx="172085" cy="1924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435"/>
              </a:lnSpc>
            </a:pPr>
            <a:r>
              <a:rPr dirty="0" sz="1500" spc="10">
                <a:latin typeface="Calibri"/>
                <a:cs typeface="Calibri"/>
              </a:rPr>
              <a:t>@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15290" y="6308394"/>
            <a:ext cx="6417945" cy="4464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 sz="1500" spc="-10" b="1">
                <a:latin typeface="Calibri"/>
                <a:cs typeface="Calibri"/>
              </a:rPr>
              <a:t>Department</a:t>
            </a:r>
            <a:r>
              <a:rPr dirty="0" sz="1500" spc="-85" b="1">
                <a:latin typeface="Calibri"/>
                <a:cs typeface="Calibri"/>
              </a:rPr>
              <a:t> </a:t>
            </a:r>
            <a:r>
              <a:rPr dirty="0" sz="1500" b="1">
                <a:latin typeface="Calibri"/>
                <a:cs typeface="Calibri"/>
              </a:rPr>
              <a:t>of</a:t>
            </a:r>
            <a:r>
              <a:rPr dirty="0" sz="1500" spc="5" b="1">
                <a:latin typeface="Calibri"/>
                <a:cs typeface="Calibri"/>
              </a:rPr>
              <a:t> </a:t>
            </a:r>
            <a:r>
              <a:rPr dirty="0" sz="1500" b="1">
                <a:latin typeface="Calibri"/>
                <a:cs typeface="Calibri"/>
              </a:rPr>
              <a:t>Economics</a:t>
            </a:r>
            <a:r>
              <a:rPr dirty="0" sz="1500" spc="-25" b="1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| </a:t>
            </a:r>
            <a:r>
              <a:rPr dirty="0" sz="1500" spc="-10">
                <a:latin typeface="Calibri"/>
                <a:cs typeface="Calibri"/>
              </a:rPr>
              <a:t>Faculty</a:t>
            </a:r>
            <a:r>
              <a:rPr dirty="0" sz="1500" spc="-4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of</a:t>
            </a:r>
            <a:r>
              <a:rPr dirty="0" sz="1500" spc="-5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Economics</a:t>
            </a:r>
            <a:r>
              <a:rPr dirty="0" sz="1500" spc="-2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and</a:t>
            </a:r>
            <a:r>
              <a:rPr dirty="0" sz="1500" spc="-5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Management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500">
                <a:latin typeface="Segoe UI Symbol"/>
                <a:cs typeface="Segoe UI Symbol"/>
              </a:rPr>
              <a:t>☎</a:t>
            </a:r>
            <a:r>
              <a:rPr dirty="0" sz="1500" spc="-114">
                <a:latin typeface="Segoe UI Symbol"/>
                <a:cs typeface="Segoe UI Symbol"/>
              </a:rPr>
              <a:t> </a:t>
            </a:r>
            <a:r>
              <a:rPr dirty="0" sz="1500">
                <a:latin typeface="Calibri"/>
                <a:cs typeface="Calibri"/>
              </a:rPr>
              <a:t>+62</a:t>
            </a:r>
            <a:r>
              <a:rPr dirty="0" sz="1500" spc="-4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251</a:t>
            </a:r>
            <a:r>
              <a:rPr dirty="0" sz="1500" spc="-2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8626602</a:t>
            </a:r>
            <a:r>
              <a:rPr dirty="0" sz="1500" spc="245">
                <a:latin typeface="Calibri"/>
                <a:cs typeface="Calibri"/>
              </a:rPr>
              <a:t> </a:t>
            </a:r>
            <a:r>
              <a:rPr dirty="0" sz="1500">
                <a:latin typeface="Segoe UI Symbol"/>
                <a:cs typeface="Segoe UI Symbol"/>
              </a:rPr>
              <a:t>✉</a:t>
            </a:r>
            <a:r>
              <a:rPr dirty="0" sz="1500" spc="-105">
                <a:latin typeface="Segoe UI Symbol"/>
                <a:cs typeface="Segoe UI Symbol"/>
              </a:rPr>
              <a:t> </a:t>
            </a:r>
            <a:r>
              <a:rPr dirty="0" sz="1500">
                <a:latin typeface="Calibri"/>
                <a:cs typeface="Calibri"/>
                <a:hlinkClick r:id="rId2"/>
              </a:rPr>
              <a:t>ilmu_ekonomi@ipb.ac.id</a:t>
            </a:r>
            <a:r>
              <a:rPr dirty="0" sz="1500" spc="250">
                <a:latin typeface="Calibri"/>
                <a:cs typeface="Calibri"/>
              </a:rPr>
              <a:t> </a:t>
            </a:r>
            <a:r>
              <a:rPr dirty="0" sz="1500" b="1">
                <a:latin typeface="Segoe UI Symbol"/>
                <a:cs typeface="Segoe UI Symbol"/>
              </a:rPr>
              <a:t>🌐</a:t>
            </a:r>
            <a:r>
              <a:rPr dirty="0" sz="1500" spc="-100" b="1">
                <a:latin typeface="Segoe UI Symbol"/>
                <a:cs typeface="Segoe UI Symbol"/>
              </a:rPr>
              <a:t> </a:t>
            </a:r>
            <a:r>
              <a:rPr dirty="0" sz="1500" spc="-10">
                <a:latin typeface="Calibri"/>
                <a:cs typeface="Calibri"/>
                <a:hlinkClick r:id="rId3"/>
              </a:rPr>
              <a:t>http://ekonomi.fem.ipb.ac.id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 spc="-10"/>
              <a:t>dept.ieipb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88111" y="1322727"/>
            <a:ext cx="11062335" cy="452374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700"/>
              </a:spcBef>
              <a:buFont typeface="Arial"/>
              <a:buChar char="•"/>
              <a:tabLst>
                <a:tab pos="469265" algn="l"/>
                <a:tab pos="469900" algn="l"/>
              </a:tabLst>
            </a:pPr>
            <a:r>
              <a:rPr dirty="0" sz="2800" b="1">
                <a:solidFill>
                  <a:srgbClr val="FF0000"/>
                </a:solidFill>
                <a:latin typeface="Arial"/>
                <a:cs typeface="Arial"/>
              </a:rPr>
              <a:t>Konsekuensi</a:t>
            </a:r>
            <a:r>
              <a:rPr dirty="0" sz="2800" spc="-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pelanggaran</a:t>
            </a:r>
            <a:r>
              <a:rPr dirty="0" sz="2800" spc="-4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asumsi</a:t>
            </a:r>
            <a:r>
              <a:rPr dirty="0" sz="2800" spc="-60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homoskedastisitas:</a:t>
            </a:r>
            <a:endParaRPr sz="2800">
              <a:latin typeface="Arial"/>
              <a:cs typeface="Arial"/>
            </a:endParaRPr>
          </a:p>
          <a:p>
            <a:pPr marL="527685" indent="-515620">
              <a:lnSpc>
                <a:spcPct val="100000"/>
              </a:lnSpc>
              <a:spcBef>
                <a:spcPts val="605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dirty="0" sz="2800">
                <a:latin typeface="Arial"/>
                <a:cs typeface="Arial"/>
              </a:rPr>
              <a:t>Penduga</a:t>
            </a:r>
            <a:r>
              <a:rPr dirty="0" sz="2800" spc="-2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OLS</a:t>
            </a:r>
            <a:r>
              <a:rPr dirty="0" sz="2800" spc="-4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tetap</a:t>
            </a:r>
            <a:r>
              <a:rPr dirty="0" sz="2800" spc="-30">
                <a:latin typeface="Arial"/>
                <a:cs typeface="Arial"/>
              </a:rPr>
              <a:t> </a:t>
            </a:r>
            <a:r>
              <a:rPr dirty="0" sz="2800" spc="-10" i="1">
                <a:latin typeface="Arial"/>
                <a:cs typeface="Arial"/>
              </a:rPr>
              <a:t>unbiased</a:t>
            </a:r>
            <a:endParaRPr sz="2800">
              <a:latin typeface="Arial"/>
              <a:cs typeface="Arial"/>
            </a:endParaRPr>
          </a:p>
          <a:p>
            <a:pPr marL="527685" marR="343535" indent="-515620">
              <a:lnSpc>
                <a:spcPct val="100000"/>
              </a:lnSpc>
              <a:buAutoNum type="arabicPeriod"/>
              <a:tabLst>
                <a:tab pos="527685" algn="l"/>
                <a:tab pos="528320" algn="l"/>
              </a:tabLst>
            </a:pPr>
            <a:r>
              <a:rPr dirty="0" sz="2800" spc="-20">
                <a:latin typeface="Arial"/>
                <a:cs typeface="Arial"/>
              </a:rPr>
              <a:t>Varians</a:t>
            </a:r>
            <a:r>
              <a:rPr dirty="0" sz="2800" spc="-40">
                <a:latin typeface="Arial"/>
                <a:cs typeface="Arial"/>
              </a:rPr>
              <a:t> </a:t>
            </a:r>
            <a:r>
              <a:rPr dirty="0" sz="2800" i="1">
                <a:latin typeface="Arial"/>
                <a:cs typeface="Arial"/>
              </a:rPr>
              <a:t>residual</a:t>
            </a:r>
            <a:r>
              <a:rPr dirty="0" sz="2800" spc="-40" i="1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akan</a:t>
            </a:r>
            <a:r>
              <a:rPr dirty="0" sz="2800" spc="-50">
                <a:latin typeface="Arial"/>
                <a:cs typeface="Arial"/>
              </a:rPr>
              <a:t> </a:t>
            </a:r>
            <a:r>
              <a:rPr dirty="0" sz="2800" i="1">
                <a:latin typeface="Arial"/>
                <a:cs typeface="Arial"/>
              </a:rPr>
              <a:t>underestimate</a:t>
            </a:r>
            <a:r>
              <a:rPr dirty="0" sz="2800">
                <a:latin typeface="Arial"/>
                <a:cs typeface="Arial"/>
              </a:rPr>
              <a:t>,</a:t>
            </a:r>
            <a:r>
              <a:rPr dirty="0" sz="2800" spc="-5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sehingga</a:t>
            </a:r>
            <a:r>
              <a:rPr dirty="0" sz="2800" spc="-40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pengambilan </a:t>
            </a:r>
            <a:r>
              <a:rPr dirty="0" sz="2800">
                <a:latin typeface="Arial"/>
                <a:cs typeface="Arial"/>
              </a:rPr>
              <a:t>kesimpulan</a:t>
            </a:r>
            <a:r>
              <a:rPr dirty="0" sz="2800" spc="-5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dari</a:t>
            </a:r>
            <a:r>
              <a:rPr dirty="0" sz="2800" spc="-1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uji</a:t>
            </a:r>
            <a:r>
              <a:rPr dirty="0" sz="2800" spc="-2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statistika</a:t>
            </a:r>
            <a:r>
              <a:rPr dirty="0" sz="2800" spc="-5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seperti</a:t>
            </a:r>
            <a:r>
              <a:rPr dirty="0" sz="2800" spc="-4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uji</a:t>
            </a:r>
            <a:r>
              <a:rPr dirty="0" sz="2800" spc="-3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individual</a:t>
            </a:r>
            <a:r>
              <a:rPr dirty="0" sz="2800" spc="3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(uji</a:t>
            </a:r>
            <a:r>
              <a:rPr dirty="0" sz="2800" spc="-2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t),</a:t>
            </a:r>
            <a:r>
              <a:rPr dirty="0" sz="2800" spc="-40">
                <a:latin typeface="Arial"/>
                <a:cs typeface="Arial"/>
              </a:rPr>
              <a:t> </a:t>
            </a:r>
            <a:r>
              <a:rPr dirty="0" sz="2800" spc="-20">
                <a:latin typeface="Arial"/>
                <a:cs typeface="Arial"/>
              </a:rPr>
              <a:t>yang </a:t>
            </a:r>
            <a:r>
              <a:rPr dirty="0" sz="2800">
                <a:latin typeface="Arial"/>
                <a:cs typeface="Arial"/>
              </a:rPr>
              <a:t>digunakan</a:t>
            </a:r>
            <a:r>
              <a:rPr dirty="0" sz="2800" spc="-4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untuk</a:t>
            </a:r>
            <a:r>
              <a:rPr dirty="0" sz="2800" spc="-1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melihat</a:t>
            </a:r>
            <a:r>
              <a:rPr dirty="0" sz="2800" spc="-2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signifikansi</a:t>
            </a:r>
            <a:r>
              <a:rPr dirty="0" sz="2800" spc="-7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koefisien,</a:t>
            </a:r>
            <a:r>
              <a:rPr dirty="0" sz="2800" spc="-60">
                <a:latin typeface="Arial"/>
                <a:cs typeface="Arial"/>
              </a:rPr>
              <a:t> </a:t>
            </a:r>
            <a:r>
              <a:rPr dirty="0" sz="2800" b="1">
                <a:latin typeface="Arial"/>
                <a:cs typeface="Arial"/>
              </a:rPr>
              <a:t>akan</a:t>
            </a:r>
            <a:r>
              <a:rPr dirty="0" sz="2800" spc="-5" b="1">
                <a:latin typeface="Arial"/>
                <a:cs typeface="Arial"/>
              </a:rPr>
              <a:t> </a:t>
            </a:r>
            <a:r>
              <a:rPr dirty="0" sz="2800" spc="-10" b="1" i="1">
                <a:latin typeface="Arial"/>
                <a:cs typeface="Arial"/>
              </a:rPr>
              <a:t>misleading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900">
              <a:latin typeface="Arial"/>
              <a:cs typeface="Arial"/>
            </a:endParaRPr>
          </a:p>
          <a:p>
            <a:pPr algn="just" marL="469900" indent="-457200">
              <a:lnSpc>
                <a:spcPct val="100000"/>
              </a:lnSpc>
              <a:buFont typeface="Arial"/>
              <a:buChar char="•"/>
              <a:tabLst>
                <a:tab pos="469900" algn="l"/>
              </a:tabLst>
            </a:pPr>
            <a:r>
              <a:rPr dirty="0" sz="2800" b="1">
                <a:solidFill>
                  <a:srgbClr val="FF0000"/>
                </a:solidFill>
                <a:latin typeface="Arial"/>
                <a:cs typeface="Arial"/>
              </a:rPr>
              <a:t>Deteksi</a:t>
            </a:r>
            <a:r>
              <a:rPr dirty="0" sz="2800" spc="-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FF0000"/>
                </a:solidFill>
                <a:latin typeface="Arial"/>
                <a:cs typeface="Arial"/>
              </a:rPr>
              <a:t>terhadap</a:t>
            </a:r>
            <a:r>
              <a:rPr dirty="0" sz="2800" spc="-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asumsi</a:t>
            </a:r>
            <a:r>
              <a:rPr dirty="0" sz="2800" spc="-2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homoskedastisitas</a:t>
            </a:r>
            <a:r>
              <a:rPr dirty="0" sz="2800" spc="-60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adalah:</a:t>
            </a:r>
            <a:endParaRPr sz="2800">
              <a:latin typeface="Arial"/>
              <a:cs typeface="Arial"/>
            </a:endParaRPr>
          </a:p>
          <a:p>
            <a:pPr algn="just" marL="497205" marR="5080" indent="-485140">
              <a:lnSpc>
                <a:spcPct val="100000"/>
              </a:lnSpc>
              <a:spcBef>
                <a:spcPts val="600"/>
              </a:spcBef>
            </a:pPr>
            <a:r>
              <a:rPr dirty="0" sz="2800" b="1">
                <a:latin typeface="Arial"/>
                <a:cs typeface="Arial"/>
              </a:rPr>
              <a:t>1.</a:t>
            </a:r>
            <a:r>
              <a:rPr dirty="0" sz="2800" spc="50" b="1">
                <a:latin typeface="Arial"/>
                <a:cs typeface="Arial"/>
              </a:rPr>
              <a:t>  </a:t>
            </a:r>
            <a:r>
              <a:rPr dirty="0" sz="2800" b="1">
                <a:latin typeface="Arial"/>
                <a:cs typeface="Arial"/>
              </a:rPr>
              <a:t>Plot</a:t>
            </a:r>
            <a:r>
              <a:rPr dirty="0" sz="2800" spc="-25" b="1">
                <a:latin typeface="Arial"/>
                <a:cs typeface="Arial"/>
              </a:rPr>
              <a:t> </a:t>
            </a:r>
            <a:r>
              <a:rPr dirty="0" sz="2800" b="1">
                <a:latin typeface="Arial"/>
                <a:cs typeface="Arial"/>
              </a:rPr>
              <a:t>data</a:t>
            </a:r>
            <a:r>
              <a:rPr dirty="0" sz="2800" spc="-10" b="1">
                <a:latin typeface="Arial"/>
                <a:cs typeface="Arial"/>
              </a:rPr>
              <a:t> </a:t>
            </a:r>
            <a:r>
              <a:rPr dirty="0" sz="2800" i="1">
                <a:latin typeface="Arial"/>
                <a:cs typeface="Arial"/>
              </a:rPr>
              <a:t>residual</a:t>
            </a:r>
            <a:r>
              <a:rPr dirty="0" sz="2800" spc="-35" i="1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terhadap</a:t>
            </a:r>
            <a:r>
              <a:rPr dirty="0" sz="2800" spc="-3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observasi:</a:t>
            </a:r>
            <a:r>
              <a:rPr dirty="0" sz="2800" spc="-2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varians</a:t>
            </a:r>
            <a:r>
              <a:rPr dirty="0" sz="2800" spc="-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konstan</a:t>
            </a:r>
            <a:r>
              <a:rPr dirty="0" sz="2800" spc="-5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atau</a:t>
            </a:r>
            <a:r>
              <a:rPr dirty="0" sz="2800" spc="-25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tidak? </a:t>
            </a:r>
            <a:r>
              <a:rPr dirty="0" sz="2800" spc="-30">
                <a:latin typeface="Arial"/>
                <a:cs typeface="Arial"/>
              </a:rPr>
              <a:t>Tentunya</a:t>
            </a:r>
            <a:r>
              <a:rPr dirty="0" sz="2800" spc="-2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dengan</a:t>
            </a:r>
            <a:r>
              <a:rPr dirty="0" sz="2800" spc="-3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prosedur</a:t>
            </a:r>
            <a:r>
              <a:rPr dirty="0" sz="2800" spc="-5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ini,</a:t>
            </a:r>
            <a:r>
              <a:rPr dirty="0" sz="2800" spc="-4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kesimpulan</a:t>
            </a:r>
            <a:r>
              <a:rPr dirty="0" sz="2800" spc="-5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dapat</a:t>
            </a:r>
            <a:r>
              <a:rPr dirty="0" sz="2800" spc="-4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bersifat</a:t>
            </a:r>
            <a:r>
              <a:rPr dirty="0" sz="2800" spc="-65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subyektif </a:t>
            </a:r>
            <a:r>
              <a:rPr dirty="0" sz="2800">
                <a:latin typeface="Arial"/>
                <a:cs typeface="Arial"/>
              </a:rPr>
              <a:t>sehingga</a:t>
            </a:r>
            <a:r>
              <a:rPr dirty="0" sz="2800" spc="-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perlu</a:t>
            </a:r>
            <a:r>
              <a:rPr dirty="0" sz="2800" spc="-3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teknik</a:t>
            </a:r>
            <a:r>
              <a:rPr dirty="0" sz="2800" spc="-30">
                <a:latin typeface="Arial"/>
                <a:cs typeface="Arial"/>
              </a:rPr>
              <a:t> </a:t>
            </a:r>
            <a:r>
              <a:rPr dirty="0" sz="2800" spc="-20">
                <a:latin typeface="Arial"/>
                <a:cs typeface="Arial"/>
              </a:rPr>
              <a:t>lain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0141" y="492074"/>
            <a:ext cx="8227059" cy="69532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Mendeteksi</a:t>
            </a:r>
            <a:r>
              <a:rPr dirty="0" spc="-165"/>
              <a:t> </a:t>
            </a:r>
            <a:r>
              <a:rPr dirty="0" spc="-10"/>
              <a:t>Heteroskedastisitas</a:t>
            </a:r>
          </a:p>
        </p:txBody>
      </p:sp>
      <p:sp>
        <p:nvSpPr>
          <p:cNvPr id="12" name="object 12" descr=""/>
          <p:cNvSpPr txBox="1"/>
          <p:nvPr/>
        </p:nvSpPr>
        <p:spPr>
          <a:xfrm>
            <a:off x="6957916" y="6549694"/>
            <a:ext cx="172085" cy="1924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435"/>
              </a:lnSpc>
            </a:pPr>
            <a:r>
              <a:rPr dirty="0" sz="1500" spc="10">
                <a:latin typeface="Calibri"/>
                <a:cs typeface="Calibri"/>
              </a:rPr>
              <a:t>@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215290" y="6308394"/>
            <a:ext cx="6417945" cy="4464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 sz="1500" spc="-10" b="1">
                <a:latin typeface="Calibri"/>
                <a:cs typeface="Calibri"/>
              </a:rPr>
              <a:t>Department</a:t>
            </a:r>
            <a:r>
              <a:rPr dirty="0" sz="1500" spc="-85" b="1">
                <a:latin typeface="Calibri"/>
                <a:cs typeface="Calibri"/>
              </a:rPr>
              <a:t> </a:t>
            </a:r>
            <a:r>
              <a:rPr dirty="0" sz="1500" b="1">
                <a:latin typeface="Calibri"/>
                <a:cs typeface="Calibri"/>
              </a:rPr>
              <a:t>of</a:t>
            </a:r>
            <a:r>
              <a:rPr dirty="0" sz="1500" spc="5" b="1">
                <a:latin typeface="Calibri"/>
                <a:cs typeface="Calibri"/>
              </a:rPr>
              <a:t> </a:t>
            </a:r>
            <a:r>
              <a:rPr dirty="0" sz="1500" b="1">
                <a:latin typeface="Calibri"/>
                <a:cs typeface="Calibri"/>
              </a:rPr>
              <a:t>Economics</a:t>
            </a:r>
            <a:r>
              <a:rPr dirty="0" sz="1500" spc="-25" b="1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| </a:t>
            </a:r>
            <a:r>
              <a:rPr dirty="0" sz="1500" spc="-10">
                <a:latin typeface="Calibri"/>
                <a:cs typeface="Calibri"/>
              </a:rPr>
              <a:t>Faculty</a:t>
            </a:r>
            <a:r>
              <a:rPr dirty="0" sz="1500" spc="-4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of</a:t>
            </a:r>
            <a:r>
              <a:rPr dirty="0" sz="1500" spc="-5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Economics</a:t>
            </a:r>
            <a:r>
              <a:rPr dirty="0" sz="1500" spc="-2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and</a:t>
            </a:r>
            <a:r>
              <a:rPr dirty="0" sz="1500" spc="-5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Management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500">
                <a:latin typeface="Segoe UI Symbol"/>
                <a:cs typeface="Segoe UI Symbol"/>
              </a:rPr>
              <a:t>☎</a:t>
            </a:r>
            <a:r>
              <a:rPr dirty="0" sz="1500" spc="-114">
                <a:latin typeface="Segoe UI Symbol"/>
                <a:cs typeface="Segoe UI Symbol"/>
              </a:rPr>
              <a:t> </a:t>
            </a:r>
            <a:r>
              <a:rPr dirty="0" sz="1500">
                <a:latin typeface="Calibri"/>
                <a:cs typeface="Calibri"/>
              </a:rPr>
              <a:t>+62</a:t>
            </a:r>
            <a:r>
              <a:rPr dirty="0" sz="1500" spc="-4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251</a:t>
            </a:r>
            <a:r>
              <a:rPr dirty="0" sz="1500" spc="-2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8626602</a:t>
            </a:r>
            <a:r>
              <a:rPr dirty="0" sz="1500" spc="245">
                <a:latin typeface="Calibri"/>
                <a:cs typeface="Calibri"/>
              </a:rPr>
              <a:t> </a:t>
            </a:r>
            <a:r>
              <a:rPr dirty="0" sz="1500">
                <a:latin typeface="Segoe UI Symbol"/>
                <a:cs typeface="Segoe UI Symbol"/>
              </a:rPr>
              <a:t>✉</a:t>
            </a:r>
            <a:r>
              <a:rPr dirty="0" sz="1500" spc="-105">
                <a:latin typeface="Segoe UI Symbol"/>
                <a:cs typeface="Segoe UI Symbol"/>
              </a:rPr>
              <a:t> </a:t>
            </a:r>
            <a:r>
              <a:rPr dirty="0" sz="1500">
                <a:latin typeface="Calibri"/>
                <a:cs typeface="Calibri"/>
                <a:hlinkClick r:id="rId2"/>
              </a:rPr>
              <a:t>ilmu_ekonomi@ipb.ac.id</a:t>
            </a:r>
            <a:r>
              <a:rPr dirty="0" sz="1500" spc="250">
                <a:latin typeface="Calibri"/>
                <a:cs typeface="Calibri"/>
              </a:rPr>
              <a:t> </a:t>
            </a:r>
            <a:r>
              <a:rPr dirty="0" sz="1500" b="1">
                <a:latin typeface="Segoe UI Symbol"/>
                <a:cs typeface="Segoe UI Symbol"/>
              </a:rPr>
              <a:t>🌐</a:t>
            </a:r>
            <a:r>
              <a:rPr dirty="0" sz="1500" spc="-100" b="1">
                <a:latin typeface="Segoe UI Symbol"/>
                <a:cs typeface="Segoe UI Symbol"/>
              </a:rPr>
              <a:t> </a:t>
            </a:r>
            <a:r>
              <a:rPr dirty="0" sz="1500" spc="-10">
                <a:latin typeface="Calibri"/>
                <a:cs typeface="Calibri"/>
                <a:hlinkClick r:id="rId3"/>
              </a:rPr>
              <a:t>http://ekonomi.fem.ipb.ac.id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 spc="-10"/>
              <a:t>dept.ieipb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62839" y="1305255"/>
            <a:ext cx="3070225" cy="4540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800">
                <a:latin typeface="Arial"/>
                <a:cs typeface="Arial"/>
              </a:rPr>
              <a:t>2.</a:t>
            </a:r>
            <a:r>
              <a:rPr dirty="0" sz="2800" spc="-30">
                <a:latin typeface="Arial"/>
                <a:cs typeface="Arial"/>
              </a:rPr>
              <a:t> </a:t>
            </a:r>
            <a:r>
              <a:rPr dirty="0" sz="2800" b="1">
                <a:latin typeface="Arial"/>
                <a:cs typeface="Arial"/>
              </a:rPr>
              <a:t>Uji</a:t>
            </a:r>
            <a:r>
              <a:rPr dirty="0" sz="2800" spc="-30" b="1"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FF0000"/>
                </a:solidFill>
                <a:latin typeface="Arial"/>
                <a:cs typeface="Arial"/>
              </a:rPr>
              <a:t>White</a:t>
            </a:r>
            <a:r>
              <a:rPr dirty="0" sz="2800" spc="-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800" spc="-10" b="1">
                <a:solidFill>
                  <a:srgbClr val="FF0000"/>
                </a:solidFill>
                <a:latin typeface="Arial"/>
                <a:cs typeface="Arial"/>
              </a:rPr>
              <a:t>(1980)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28167" y="2142694"/>
            <a:ext cx="2205990" cy="9042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ts val="3450"/>
              </a:lnSpc>
              <a:spcBef>
                <a:spcPts val="110"/>
              </a:spcBef>
            </a:pPr>
            <a:r>
              <a:rPr dirty="0" sz="2800" b="1">
                <a:latin typeface="Arial"/>
                <a:cs typeface="Arial"/>
              </a:rPr>
              <a:t>H</a:t>
            </a:r>
            <a:r>
              <a:rPr dirty="0" baseline="-19519" sz="2775" b="1">
                <a:latin typeface="Arial"/>
                <a:cs typeface="Arial"/>
              </a:rPr>
              <a:t>o</a:t>
            </a:r>
            <a:r>
              <a:rPr dirty="0" sz="2800" b="1">
                <a:latin typeface="Arial"/>
                <a:cs typeface="Arial"/>
              </a:rPr>
              <a:t>:</a:t>
            </a:r>
            <a:r>
              <a:rPr dirty="0" sz="2800" spc="-5" b="1">
                <a:latin typeface="Arial"/>
                <a:cs typeface="Arial"/>
              </a:rPr>
              <a:t> </a:t>
            </a:r>
            <a:r>
              <a:rPr dirty="0" sz="2800" b="1" i="1">
                <a:latin typeface="Arial"/>
                <a:cs typeface="Arial"/>
              </a:rPr>
              <a:t>V{</a:t>
            </a:r>
            <a:r>
              <a:rPr dirty="0" sz="2950" b="1" i="1">
                <a:latin typeface="Symbol"/>
                <a:cs typeface="Symbol"/>
              </a:rPr>
              <a:t></a:t>
            </a:r>
            <a:r>
              <a:rPr dirty="0" baseline="-19519" sz="2775" b="1" i="1">
                <a:latin typeface="Arial"/>
                <a:cs typeface="Arial"/>
              </a:rPr>
              <a:t>i</a:t>
            </a:r>
            <a:r>
              <a:rPr dirty="0" sz="2800" b="1" i="1">
                <a:latin typeface="Arial"/>
                <a:cs typeface="Arial"/>
              </a:rPr>
              <a:t>}</a:t>
            </a:r>
            <a:r>
              <a:rPr dirty="0" sz="2800" spc="-90" b="1" i="1">
                <a:latin typeface="Arial"/>
                <a:cs typeface="Arial"/>
              </a:rPr>
              <a:t> </a:t>
            </a:r>
            <a:r>
              <a:rPr dirty="0" sz="2800" b="1" i="1">
                <a:latin typeface="Arial"/>
                <a:cs typeface="Arial"/>
              </a:rPr>
              <a:t>=</a:t>
            </a:r>
            <a:r>
              <a:rPr dirty="0" sz="2800" spc="-30" b="1" i="1">
                <a:latin typeface="Arial"/>
                <a:cs typeface="Arial"/>
              </a:rPr>
              <a:t> </a:t>
            </a:r>
            <a:r>
              <a:rPr dirty="0" sz="2800" spc="-25" b="1" i="1">
                <a:latin typeface="Arial"/>
                <a:cs typeface="Arial"/>
              </a:rPr>
              <a:t>σ</a:t>
            </a:r>
            <a:r>
              <a:rPr dirty="0" baseline="25525" sz="2775" spc="-37" b="1" i="1">
                <a:latin typeface="Arial"/>
                <a:cs typeface="Arial"/>
              </a:rPr>
              <a:t>2</a:t>
            </a:r>
            <a:endParaRPr baseline="25525" sz="2775">
              <a:latin typeface="Arial"/>
              <a:cs typeface="Arial"/>
            </a:endParaRPr>
          </a:p>
          <a:p>
            <a:pPr marL="38100">
              <a:lnSpc>
                <a:spcPts val="3450"/>
              </a:lnSpc>
            </a:pPr>
            <a:r>
              <a:rPr dirty="0" sz="2800" b="1">
                <a:latin typeface="Arial"/>
                <a:cs typeface="Arial"/>
              </a:rPr>
              <a:t>H</a:t>
            </a:r>
            <a:r>
              <a:rPr dirty="0" baseline="-19519" sz="2775" b="1">
                <a:latin typeface="Arial"/>
                <a:cs typeface="Arial"/>
              </a:rPr>
              <a:t>1</a:t>
            </a:r>
            <a:r>
              <a:rPr dirty="0" sz="2800" b="1">
                <a:latin typeface="Arial"/>
                <a:cs typeface="Arial"/>
              </a:rPr>
              <a:t>:</a:t>
            </a:r>
            <a:r>
              <a:rPr dirty="0" sz="2800" spc="-5" b="1">
                <a:latin typeface="Arial"/>
                <a:cs typeface="Arial"/>
              </a:rPr>
              <a:t> </a:t>
            </a:r>
            <a:r>
              <a:rPr dirty="0" sz="2800" b="1" i="1">
                <a:latin typeface="Arial"/>
                <a:cs typeface="Arial"/>
              </a:rPr>
              <a:t>V{</a:t>
            </a:r>
            <a:r>
              <a:rPr dirty="0" sz="2950" b="1" i="1">
                <a:latin typeface="Symbol"/>
                <a:cs typeface="Symbol"/>
              </a:rPr>
              <a:t></a:t>
            </a:r>
            <a:r>
              <a:rPr dirty="0" baseline="-19519" sz="2775" b="1" i="1">
                <a:latin typeface="Arial"/>
                <a:cs typeface="Arial"/>
              </a:rPr>
              <a:t>i</a:t>
            </a:r>
            <a:r>
              <a:rPr dirty="0" sz="2800" b="1" i="1">
                <a:latin typeface="Arial"/>
                <a:cs typeface="Arial"/>
              </a:rPr>
              <a:t>}</a:t>
            </a:r>
            <a:r>
              <a:rPr dirty="0" sz="2800" spc="-90" b="1" i="1">
                <a:latin typeface="Arial"/>
                <a:cs typeface="Arial"/>
              </a:rPr>
              <a:t> </a:t>
            </a:r>
            <a:r>
              <a:rPr dirty="0" sz="2800" b="1" i="1">
                <a:latin typeface="Arial"/>
                <a:cs typeface="Arial"/>
              </a:rPr>
              <a:t>=</a:t>
            </a:r>
            <a:r>
              <a:rPr dirty="0" sz="2800" spc="-5" b="1" i="1">
                <a:latin typeface="Arial"/>
                <a:cs typeface="Arial"/>
              </a:rPr>
              <a:t> </a:t>
            </a:r>
            <a:r>
              <a:rPr dirty="0" sz="2800" spc="-25" b="1" i="1">
                <a:latin typeface="Arial"/>
                <a:cs typeface="Arial"/>
              </a:rPr>
              <a:t>σ</a:t>
            </a:r>
            <a:r>
              <a:rPr dirty="0" baseline="25525" sz="2775" spc="-37" b="1" i="1">
                <a:latin typeface="Arial"/>
                <a:cs typeface="Arial"/>
              </a:rPr>
              <a:t>2</a:t>
            </a:r>
            <a:endParaRPr baseline="25525" sz="2775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869438" y="2793619"/>
            <a:ext cx="92075" cy="3111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850" spc="5" b="1" i="1">
                <a:latin typeface="Arial"/>
                <a:cs typeface="Arial"/>
              </a:rPr>
              <a:t>i</a:t>
            </a:r>
            <a:endParaRPr sz="185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24739" y="3168776"/>
            <a:ext cx="11588750" cy="13658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565785" indent="-515620">
              <a:lnSpc>
                <a:spcPct val="100000"/>
              </a:lnSpc>
              <a:spcBef>
                <a:spcPts val="90"/>
              </a:spcBef>
              <a:buChar char="•"/>
              <a:tabLst>
                <a:tab pos="565785" algn="l"/>
                <a:tab pos="566420" algn="l"/>
              </a:tabLst>
            </a:pPr>
            <a:r>
              <a:rPr dirty="0" sz="2600">
                <a:latin typeface="Arial"/>
                <a:cs typeface="Arial"/>
              </a:rPr>
              <a:t>Misalkan</a:t>
            </a:r>
            <a:r>
              <a:rPr dirty="0" sz="2600" spc="-3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ada</a:t>
            </a:r>
            <a:r>
              <a:rPr dirty="0" sz="2600" spc="-7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garis</a:t>
            </a:r>
            <a:r>
              <a:rPr dirty="0" sz="2600" spc="-6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regresi</a:t>
            </a:r>
            <a:r>
              <a:rPr dirty="0" sz="2600" spc="-5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sebagai</a:t>
            </a:r>
            <a:r>
              <a:rPr dirty="0" sz="2600" spc="-50">
                <a:latin typeface="Arial"/>
                <a:cs typeface="Arial"/>
              </a:rPr>
              <a:t> </a:t>
            </a:r>
            <a:r>
              <a:rPr dirty="0" sz="2600" spc="-10">
                <a:latin typeface="Arial"/>
                <a:cs typeface="Arial"/>
              </a:rPr>
              <a:t>berikut:</a:t>
            </a:r>
            <a:endParaRPr sz="2600">
              <a:latin typeface="Arial"/>
              <a:cs typeface="Arial"/>
            </a:endParaRPr>
          </a:p>
          <a:p>
            <a:pPr marL="601980">
              <a:lnSpc>
                <a:spcPct val="100000"/>
              </a:lnSpc>
            </a:pPr>
            <a:r>
              <a:rPr dirty="0" sz="2600" i="1">
                <a:latin typeface="Arial"/>
                <a:cs typeface="Arial"/>
              </a:rPr>
              <a:t>y</a:t>
            </a:r>
            <a:r>
              <a:rPr dirty="0" baseline="-19607" sz="2550" i="1">
                <a:latin typeface="Arial"/>
                <a:cs typeface="Arial"/>
              </a:rPr>
              <a:t>t</a:t>
            </a:r>
            <a:r>
              <a:rPr dirty="0" baseline="-19607" sz="2550" spc="375" i="1">
                <a:latin typeface="Arial"/>
                <a:cs typeface="Arial"/>
              </a:rPr>
              <a:t> </a:t>
            </a:r>
            <a:r>
              <a:rPr dirty="0" sz="2600" i="1">
                <a:latin typeface="Arial"/>
                <a:cs typeface="Arial"/>
              </a:rPr>
              <a:t>=</a:t>
            </a:r>
            <a:r>
              <a:rPr dirty="0" sz="2600" spc="-25" i="1">
                <a:latin typeface="Arial"/>
                <a:cs typeface="Arial"/>
              </a:rPr>
              <a:t> </a:t>
            </a:r>
            <a:r>
              <a:rPr dirty="0" sz="2600" i="1">
                <a:latin typeface="Arial"/>
                <a:cs typeface="Arial"/>
              </a:rPr>
              <a:t>b</a:t>
            </a:r>
            <a:r>
              <a:rPr dirty="0" baseline="-19607" sz="2550">
                <a:latin typeface="Arial"/>
                <a:cs typeface="Arial"/>
              </a:rPr>
              <a:t>0</a:t>
            </a:r>
            <a:r>
              <a:rPr dirty="0" baseline="-19607" sz="2550" spc="375">
                <a:latin typeface="Arial"/>
                <a:cs typeface="Arial"/>
              </a:rPr>
              <a:t> </a:t>
            </a:r>
            <a:r>
              <a:rPr dirty="0" sz="2600" i="1">
                <a:latin typeface="Arial"/>
                <a:cs typeface="Arial"/>
              </a:rPr>
              <a:t>+</a:t>
            </a:r>
            <a:r>
              <a:rPr dirty="0" sz="2600" spc="-25" i="1">
                <a:latin typeface="Arial"/>
                <a:cs typeface="Arial"/>
              </a:rPr>
              <a:t> </a:t>
            </a:r>
            <a:r>
              <a:rPr dirty="0" sz="2600" i="1">
                <a:latin typeface="Arial"/>
                <a:cs typeface="Arial"/>
              </a:rPr>
              <a:t>b</a:t>
            </a:r>
            <a:r>
              <a:rPr dirty="0" baseline="-19607" sz="2550">
                <a:latin typeface="Arial"/>
                <a:cs typeface="Arial"/>
              </a:rPr>
              <a:t>1</a:t>
            </a:r>
            <a:r>
              <a:rPr dirty="0" sz="2600" i="1">
                <a:latin typeface="Arial"/>
                <a:cs typeface="Arial"/>
              </a:rPr>
              <a:t>x</a:t>
            </a:r>
            <a:r>
              <a:rPr dirty="0" baseline="-19607" sz="2550">
                <a:latin typeface="Arial"/>
                <a:cs typeface="Arial"/>
              </a:rPr>
              <a:t>1</a:t>
            </a:r>
            <a:r>
              <a:rPr dirty="0" baseline="-19607" sz="2550" i="1">
                <a:latin typeface="Arial"/>
                <a:cs typeface="Arial"/>
              </a:rPr>
              <a:t>t</a:t>
            </a:r>
            <a:r>
              <a:rPr dirty="0" baseline="-19607" sz="2550" spc="375" i="1">
                <a:latin typeface="Arial"/>
                <a:cs typeface="Arial"/>
              </a:rPr>
              <a:t> </a:t>
            </a:r>
            <a:r>
              <a:rPr dirty="0" sz="2600" i="1">
                <a:latin typeface="Arial"/>
                <a:cs typeface="Arial"/>
              </a:rPr>
              <a:t>+</a:t>
            </a:r>
            <a:r>
              <a:rPr dirty="0" sz="2600" spc="-5" i="1">
                <a:latin typeface="Arial"/>
                <a:cs typeface="Arial"/>
              </a:rPr>
              <a:t> </a:t>
            </a:r>
            <a:r>
              <a:rPr dirty="0" sz="2600" i="1">
                <a:latin typeface="Arial"/>
                <a:cs typeface="Arial"/>
              </a:rPr>
              <a:t>b</a:t>
            </a:r>
            <a:r>
              <a:rPr dirty="0" baseline="-19607" sz="2550">
                <a:latin typeface="Arial"/>
                <a:cs typeface="Arial"/>
              </a:rPr>
              <a:t>2</a:t>
            </a:r>
            <a:r>
              <a:rPr dirty="0" sz="2600" i="1">
                <a:latin typeface="Arial"/>
                <a:cs typeface="Arial"/>
              </a:rPr>
              <a:t>x</a:t>
            </a:r>
            <a:r>
              <a:rPr dirty="0" baseline="-19607" sz="2550">
                <a:latin typeface="Arial"/>
                <a:cs typeface="Arial"/>
              </a:rPr>
              <a:t>2</a:t>
            </a:r>
            <a:r>
              <a:rPr dirty="0" baseline="-19607" sz="2550" i="1">
                <a:latin typeface="Arial"/>
                <a:cs typeface="Arial"/>
              </a:rPr>
              <a:t>t</a:t>
            </a:r>
            <a:r>
              <a:rPr dirty="0" baseline="-19607" sz="2550" spc="375" i="1">
                <a:latin typeface="Arial"/>
                <a:cs typeface="Arial"/>
              </a:rPr>
              <a:t> </a:t>
            </a:r>
            <a:r>
              <a:rPr dirty="0" sz="2600" i="1">
                <a:latin typeface="Arial"/>
                <a:cs typeface="Arial"/>
              </a:rPr>
              <a:t>+</a:t>
            </a:r>
            <a:r>
              <a:rPr dirty="0" sz="2600" spc="-25" i="1">
                <a:latin typeface="Arial"/>
                <a:cs typeface="Arial"/>
              </a:rPr>
              <a:t> </a:t>
            </a:r>
            <a:r>
              <a:rPr dirty="0" sz="2600" spc="-25" b="1" i="1">
                <a:latin typeface="Arial"/>
                <a:cs typeface="Arial"/>
              </a:rPr>
              <a:t>e</a:t>
            </a:r>
            <a:r>
              <a:rPr dirty="0" baseline="-19607" sz="2550" spc="-37" b="1" i="1">
                <a:latin typeface="Arial"/>
                <a:cs typeface="Arial"/>
              </a:rPr>
              <a:t>t</a:t>
            </a:r>
            <a:endParaRPr baseline="-19607" sz="2550">
              <a:latin typeface="Arial"/>
              <a:cs typeface="Arial"/>
            </a:endParaRPr>
          </a:p>
          <a:p>
            <a:pPr marL="565785" indent="-515620">
              <a:lnSpc>
                <a:spcPct val="100000"/>
              </a:lnSpc>
              <a:spcBef>
                <a:spcPts val="1205"/>
              </a:spcBef>
              <a:buChar char="•"/>
              <a:tabLst>
                <a:tab pos="565785" algn="l"/>
                <a:tab pos="566420" algn="l"/>
                <a:tab pos="1958975" algn="l"/>
                <a:tab pos="3117215" algn="l"/>
                <a:tab pos="4458970" algn="l"/>
                <a:tab pos="5876290" algn="l"/>
                <a:tab pos="6577965" algn="l"/>
                <a:tab pos="7733030" algn="l"/>
                <a:tab pos="8138795" algn="l"/>
                <a:tab pos="8912860" algn="l"/>
                <a:tab pos="10370185" algn="l"/>
              </a:tabLst>
            </a:pPr>
            <a:r>
              <a:rPr dirty="0" sz="2600" spc="-10">
                <a:latin typeface="Arial"/>
                <a:cs typeface="Arial"/>
              </a:rPr>
              <a:t>Estimasi</a:t>
            </a:r>
            <a:r>
              <a:rPr dirty="0" sz="2600">
                <a:latin typeface="Arial"/>
                <a:cs typeface="Arial"/>
              </a:rPr>
              <a:t>	</a:t>
            </a:r>
            <a:r>
              <a:rPr dirty="0" sz="2600" spc="-10">
                <a:latin typeface="Arial"/>
                <a:cs typeface="Arial"/>
              </a:rPr>
              <a:t>regresi</a:t>
            </a:r>
            <a:r>
              <a:rPr dirty="0" sz="2600">
                <a:latin typeface="Arial"/>
                <a:cs typeface="Arial"/>
              </a:rPr>
              <a:t>	</a:t>
            </a:r>
            <a:r>
              <a:rPr dirty="0" sz="2600" spc="-10" b="1">
                <a:latin typeface="Arial"/>
                <a:cs typeface="Arial"/>
              </a:rPr>
              <a:t>kuadrat</a:t>
            </a:r>
            <a:r>
              <a:rPr dirty="0" sz="2600" b="1">
                <a:latin typeface="Arial"/>
                <a:cs typeface="Arial"/>
              </a:rPr>
              <a:t>	</a:t>
            </a:r>
            <a:r>
              <a:rPr dirty="0" sz="2600" spc="-10" b="1" i="1">
                <a:latin typeface="Arial"/>
                <a:cs typeface="Arial"/>
              </a:rPr>
              <a:t>residual</a:t>
            </a:r>
            <a:r>
              <a:rPr dirty="0" sz="2600" b="1" i="1">
                <a:latin typeface="Arial"/>
                <a:cs typeface="Arial"/>
              </a:rPr>
              <a:t>	</a:t>
            </a:r>
            <a:r>
              <a:rPr dirty="0" sz="2600" spc="-20">
                <a:latin typeface="Arial"/>
                <a:cs typeface="Arial"/>
              </a:rPr>
              <a:t>dari</a:t>
            </a:r>
            <a:r>
              <a:rPr dirty="0" sz="2600">
                <a:latin typeface="Arial"/>
                <a:cs typeface="Arial"/>
              </a:rPr>
              <a:t>	</a:t>
            </a:r>
            <a:r>
              <a:rPr dirty="0" sz="2600" spc="-10">
                <a:latin typeface="Arial"/>
                <a:cs typeface="Arial"/>
              </a:rPr>
              <a:t>regresi</a:t>
            </a:r>
            <a:r>
              <a:rPr dirty="0" sz="2600">
                <a:latin typeface="Arial"/>
                <a:cs typeface="Arial"/>
              </a:rPr>
              <a:t>	</a:t>
            </a:r>
            <a:r>
              <a:rPr dirty="0" sz="2600" spc="-25">
                <a:latin typeface="Arial"/>
                <a:cs typeface="Arial"/>
              </a:rPr>
              <a:t>di</a:t>
            </a:r>
            <a:r>
              <a:rPr dirty="0" sz="2600">
                <a:latin typeface="Arial"/>
                <a:cs typeface="Arial"/>
              </a:rPr>
              <a:t>	</a:t>
            </a:r>
            <a:r>
              <a:rPr dirty="0" sz="2600" spc="-20">
                <a:latin typeface="Arial"/>
                <a:cs typeface="Arial"/>
              </a:rPr>
              <a:t>atas</a:t>
            </a:r>
            <a:r>
              <a:rPr dirty="0" sz="2600">
                <a:latin typeface="Arial"/>
                <a:cs typeface="Arial"/>
              </a:rPr>
              <a:t>	</a:t>
            </a:r>
            <a:r>
              <a:rPr dirty="0" sz="2600" spc="-10">
                <a:latin typeface="Arial"/>
                <a:cs typeface="Arial"/>
              </a:rPr>
              <a:t>terhadap</a:t>
            </a:r>
            <a:r>
              <a:rPr dirty="0" sz="2600">
                <a:latin typeface="Arial"/>
                <a:cs typeface="Arial"/>
              </a:rPr>
              <a:t>	</a:t>
            </a:r>
            <a:r>
              <a:rPr dirty="0" sz="2600" spc="-10">
                <a:latin typeface="Arial"/>
                <a:cs typeface="Arial"/>
              </a:rPr>
              <a:t>variabel</a:t>
            </a:r>
            <a:endParaRPr sz="26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777951" y="4510532"/>
            <a:ext cx="4461510" cy="4210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600">
                <a:latin typeface="Arial"/>
                <a:cs typeface="Arial"/>
              </a:rPr>
              <a:t>independen</a:t>
            </a:r>
            <a:r>
              <a:rPr dirty="0" sz="2600" spc="-1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&amp;</a:t>
            </a:r>
            <a:r>
              <a:rPr dirty="0" sz="2600" spc="-75">
                <a:latin typeface="Arial"/>
                <a:cs typeface="Arial"/>
              </a:rPr>
              <a:t> </a:t>
            </a:r>
            <a:r>
              <a:rPr dirty="0" sz="2600" spc="-10" b="1">
                <a:latin typeface="Arial"/>
                <a:cs typeface="Arial"/>
              </a:rPr>
              <a:t>kombinasinya:</a:t>
            </a:r>
            <a:endParaRPr sz="26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386704" y="4559300"/>
            <a:ext cx="6382385" cy="3619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2200" b="1" i="1">
                <a:latin typeface="Arial"/>
                <a:cs typeface="Arial"/>
              </a:rPr>
              <a:t>e</a:t>
            </a:r>
            <a:r>
              <a:rPr dirty="0" baseline="24904" sz="2175" b="1" i="1">
                <a:latin typeface="Arial"/>
                <a:cs typeface="Arial"/>
              </a:rPr>
              <a:t>2</a:t>
            </a:r>
            <a:r>
              <a:rPr dirty="0" baseline="-21072" sz="2175" b="1" i="1">
                <a:latin typeface="Arial"/>
                <a:cs typeface="Arial"/>
              </a:rPr>
              <a:t>t</a:t>
            </a:r>
            <a:r>
              <a:rPr dirty="0" baseline="-21072" sz="2175" spc="307" b="1" i="1">
                <a:latin typeface="Arial"/>
                <a:cs typeface="Arial"/>
              </a:rPr>
              <a:t> </a:t>
            </a:r>
            <a:r>
              <a:rPr dirty="0" sz="2200" i="1">
                <a:latin typeface="Arial"/>
                <a:cs typeface="Arial"/>
              </a:rPr>
              <a:t>=</a:t>
            </a:r>
            <a:r>
              <a:rPr dirty="0" sz="2200" spc="-5" i="1">
                <a:latin typeface="Arial"/>
                <a:cs typeface="Arial"/>
              </a:rPr>
              <a:t> </a:t>
            </a:r>
            <a:r>
              <a:rPr dirty="0" sz="2200" i="1">
                <a:latin typeface="Arial"/>
                <a:cs typeface="Arial"/>
              </a:rPr>
              <a:t>b</a:t>
            </a:r>
            <a:r>
              <a:rPr dirty="0" baseline="-21072" sz="2175">
                <a:latin typeface="Arial"/>
                <a:cs typeface="Arial"/>
              </a:rPr>
              <a:t>0</a:t>
            </a:r>
            <a:r>
              <a:rPr dirty="0" baseline="-21072" sz="2175" spc="330">
                <a:latin typeface="Arial"/>
                <a:cs typeface="Arial"/>
              </a:rPr>
              <a:t> </a:t>
            </a:r>
            <a:r>
              <a:rPr dirty="0" sz="2200" i="1">
                <a:latin typeface="Arial"/>
                <a:cs typeface="Arial"/>
              </a:rPr>
              <a:t>+</a:t>
            </a:r>
            <a:r>
              <a:rPr dirty="0" sz="2200" spc="-5" i="1">
                <a:latin typeface="Arial"/>
                <a:cs typeface="Arial"/>
              </a:rPr>
              <a:t> </a:t>
            </a:r>
            <a:r>
              <a:rPr dirty="0" sz="2200" i="1">
                <a:latin typeface="Arial"/>
                <a:cs typeface="Arial"/>
              </a:rPr>
              <a:t>b</a:t>
            </a:r>
            <a:r>
              <a:rPr dirty="0" baseline="-21072" sz="2175">
                <a:latin typeface="Arial"/>
                <a:cs typeface="Arial"/>
              </a:rPr>
              <a:t>1</a:t>
            </a:r>
            <a:r>
              <a:rPr dirty="0" sz="2200" i="1">
                <a:latin typeface="Arial"/>
                <a:cs typeface="Arial"/>
              </a:rPr>
              <a:t>x</a:t>
            </a:r>
            <a:r>
              <a:rPr dirty="0" baseline="-21072" sz="2175">
                <a:latin typeface="Arial"/>
                <a:cs typeface="Arial"/>
              </a:rPr>
              <a:t>1t</a:t>
            </a:r>
            <a:r>
              <a:rPr dirty="0" baseline="-21072" sz="2175" spc="292">
                <a:latin typeface="Arial"/>
                <a:cs typeface="Arial"/>
              </a:rPr>
              <a:t> </a:t>
            </a:r>
            <a:r>
              <a:rPr dirty="0" sz="2200" i="1">
                <a:latin typeface="Arial"/>
                <a:cs typeface="Arial"/>
              </a:rPr>
              <a:t>+</a:t>
            </a:r>
            <a:r>
              <a:rPr dirty="0" sz="2200" spc="-5" i="1">
                <a:latin typeface="Arial"/>
                <a:cs typeface="Arial"/>
              </a:rPr>
              <a:t> </a:t>
            </a:r>
            <a:r>
              <a:rPr dirty="0" sz="2200" i="1">
                <a:latin typeface="Arial"/>
                <a:cs typeface="Arial"/>
              </a:rPr>
              <a:t>b</a:t>
            </a:r>
            <a:r>
              <a:rPr dirty="0" baseline="-21072" sz="2175">
                <a:latin typeface="Arial"/>
                <a:cs typeface="Arial"/>
              </a:rPr>
              <a:t>2</a:t>
            </a:r>
            <a:r>
              <a:rPr dirty="0" sz="2200" i="1">
                <a:latin typeface="Arial"/>
                <a:cs typeface="Arial"/>
              </a:rPr>
              <a:t>x</a:t>
            </a:r>
            <a:r>
              <a:rPr dirty="0" baseline="-21072" sz="2175">
                <a:latin typeface="Arial"/>
                <a:cs typeface="Arial"/>
              </a:rPr>
              <a:t>2t</a:t>
            </a:r>
            <a:r>
              <a:rPr dirty="0" baseline="-21072" sz="2175" spc="322">
                <a:latin typeface="Arial"/>
                <a:cs typeface="Arial"/>
              </a:rPr>
              <a:t> </a:t>
            </a:r>
            <a:r>
              <a:rPr dirty="0" sz="2200" i="1">
                <a:latin typeface="Arial"/>
                <a:cs typeface="Arial"/>
              </a:rPr>
              <a:t>+</a:t>
            </a:r>
            <a:r>
              <a:rPr dirty="0" sz="2200" spc="-5" i="1">
                <a:latin typeface="Arial"/>
                <a:cs typeface="Arial"/>
              </a:rPr>
              <a:t> </a:t>
            </a:r>
            <a:r>
              <a:rPr dirty="0" sz="2200" i="1">
                <a:latin typeface="Arial"/>
                <a:cs typeface="Arial"/>
              </a:rPr>
              <a:t>b</a:t>
            </a:r>
            <a:r>
              <a:rPr dirty="0" baseline="-21072" sz="2175">
                <a:latin typeface="Arial"/>
                <a:cs typeface="Arial"/>
              </a:rPr>
              <a:t>3</a:t>
            </a:r>
            <a:r>
              <a:rPr dirty="0" sz="2200" i="1">
                <a:latin typeface="Arial"/>
                <a:cs typeface="Arial"/>
              </a:rPr>
              <a:t>x</a:t>
            </a:r>
            <a:r>
              <a:rPr dirty="0" baseline="24904" sz="2175" i="1">
                <a:latin typeface="Arial"/>
                <a:cs typeface="Arial"/>
              </a:rPr>
              <a:t>2</a:t>
            </a:r>
            <a:r>
              <a:rPr dirty="0" baseline="-21072" sz="2175">
                <a:latin typeface="Arial"/>
                <a:cs typeface="Arial"/>
              </a:rPr>
              <a:t>1t</a:t>
            </a:r>
            <a:r>
              <a:rPr dirty="0" baseline="-21072" sz="2175" spc="292">
                <a:latin typeface="Arial"/>
                <a:cs typeface="Arial"/>
              </a:rPr>
              <a:t> </a:t>
            </a:r>
            <a:r>
              <a:rPr dirty="0" sz="2200" i="1">
                <a:latin typeface="Arial"/>
                <a:cs typeface="Arial"/>
              </a:rPr>
              <a:t>+</a:t>
            </a:r>
            <a:r>
              <a:rPr dirty="0" sz="2200" spc="-5" i="1">
                <a:latin typeface="Arial"/>
                <a:cs typeface="Arial"/>
              </a:rPr>
              <a:t> </a:t>
            </a:r>
            <a:r>
              <a:rPr dirty="0" sz="2200" i="1">
                <a:latin typeface="Arial"/>
                <a:cs typeface="Arial"/>
              </a:rPr>
              <a:t>b</a:t>
            </a:r>
            <a:r>
              <a:rPr dirty="0" baseline="-21072" sz="2175">
                <a:latin typeface="Arial"/>
                <a:cs typeface="Arial"/>
              </a:rPr>
              <a:t>4</a:t>
            </a:r>
            <a:r>
              <a:rPr dirty="0" sz="2200" i="1">
                <a:latin typeface="Arial"/>
                <a:cs typeface="Arial"/>
              </a:rPr>
              <a:t>x</a:t>
            </a:r>
            <a:r>
              <a:rPr dirty="0" baseline="24904" sz="2175" i="1">
                <a:latin typeface="Arial"/>
                <a:cs typeface="Arial"/>
              </a:rPr>
              <a:t>2</a:t>
            </a:r>
            <a:r>
              <a:rPr dirty="0" baseline="-21072" sz="2175">
                <a:latin typeface="Arial"/>
                <a:cs typeface="Arial"/>
              </a:rPr>
              <a:t>2t</a:t>
            </a:r>
            <a:r>
              <a:rPr dirty="0" baseline="-21072" sz="2175" spc="300">
                <a:latin typeface="Arial"/>
                <a:cs typeface="Arial"/>
              </a:rPr>
              <a:t> </a:t>
            </a:r>
            <a:r>
              <a:rPr dirty="0" sz="2200" i="1">
                <a:latin typeface="Arial"/>
                <a:cs typeface="Arial"/>
              </a:rPr>
              <a:t>+</a:t>
            </a:r>
            <a:r>
              <a:rPr dirty="0" sz="2200" spc="-5" i="1">
                <a:latin typeface="Arial"/>
                <a:cs typeface="Arial"/>
              </a:rPr>
              <a:t> </a:t>
            </a:r>
            <a:r>
              <a:rPr dirty="0" sz="2200" i="1">
                <a:latin typeface="Arial"/>
                <a:cs typeface="Arial"/>
              </a:rPr>
              <a:t>b</a:t>
            </a:r>
            <a:r>
              <a:rPr dirty="0" baseline="-21072" sz="2175">
                <a:latin typeface="Arial"/>
                <a:cs typeface="Arial"/>
              </a:rPr>
              <a:t>5</a:t>
            </a:r>
            <a:r>
              <a:rPr dirty="0" sz="2200" i="1">
                <a:latin typeface="Arial"/>
                <a:cs typeface="Arial"/>
              </a:rPr>
              <a:t>x</a:t>
            </a:r>
            <a:r>
              <a:rPr dirty="0" baseline="-21072" sz="2175">
                <a:latin typeface="Arial"/>
                <a:cs typeface="Arial"/>
              </a:rPr>
              <a:t>1t</a:t>
            </a:r>
            <a:r>
              <a:rPr dirty="0" sz="2200" i="1">
                <a:latin typeface="Arial"/>
                <a:cs typeface="Arial"/>
              </a:rPr>
              <a:t>.x</a:t>
            </a:r>
            <a:r>
              <a:rPr dirty="0" baseline="-21072" sz="2175">
                <a:latin typeface="Arial"/>
                <a:cs typeface="Arial"/>
              </a:rPr>
              <a:t>2t</a:t>
            </a:r>
            <a:r>
              <a:rPr dirty="0" sz="2200" i="1">
                <a:latin typeface="Arial"/>
                <a:cs typeface="Arial"/>
              </a:rPr>
              <a:t>+</a:t>
            </a:r>
            <a:r>
              <a:rPr dirty="0" sz="2200" spc="-5" i="1">
                <a:latin typeface="Arial"/>
                <a:cs typeface="Arial"/>
              </a:rPr>
              <a:t> </a:t>
            </a:r>
            <a:r>
              <a:rPr dirty="0" sz="2200" spc="-25" b="1" i="1">
                <a:latin typeface="Arial"/>
                <a:cs typeface="Arial"/>
              </a:rPr>
              <a:t>v</a:t>
            </a:r>
            <a:r>
              <a:rPr dirty="0" baseline="-21072" sz="2175" spc="-37" b="1" i="1">
                <a:latin typeface="Arial"/>
                <a:cs typeface="Arial"/>
              </a:rPr>
              <a:t>t</a:t>
            </a:r>
            <a:endParaRPr baseline="-21072" sz="2175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9978897" y="5327650"/>
            <a:ext cx="147955" cy="2889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700" spc="15" b="1">
                <a:latin typeface="Arial"/>
                <a:cs typeface="Arial"/>
              </a:rPr>
              <a:t>k</a:t>
            </a:r>
            <a:endParaRPr sz="17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237439" y="5120295"/>
            <a:ext cx="11345545" cy="4425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4953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94665" algn="l"/>
                <a:tab pos="495300" algn="l"/>
                <a:tab pos="4918710" algn="l"/>
                <a:tab pos="5884545" algn="l"/>
                <a:tab pos="9937115" algn="l"/>
              </a:tabLst>
            </a:pPr>
            <a:r>
              <a:rPr dirty="0" sz="2600">
                <a:latin typeface="Arial"/>
                <a:cs typeface="Arial"/>
              </a:rPr>
              <a:t>Dari</a:t>
            </a:r>
            <a:r>
              <a:rPr dirty="0" sz="2600" spc="-5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R</a:t>
            </a:r>
            <a:r>
              <a:rPr dirty="0" baseline="26143" sz="2550">
                <a:latin typeface="Arial"/>
                <a:cs typeface="Arial"/>
              </a:rPr>
              <a:t>2</a:t>
            </a:r>
            <a:r>
              <a:rPr dirty="0" baseline="26143" sz="2550" spc="27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regresi</a:t>
            </a:r>
            <a:r>
              <a:rPr dirty="0" sz="2600" spc="-1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kedua,</a:t>
            </a:r>
            <a:r>
              <a:rPr dirty="0" sz="2600" spc="-20">
                <a:latin typeface="Arial"/>
                <a:cs typeface="Arial"/>
              </a:rPr>
              <a:t> </a:t>
            </a:r>
            <a:r>
              <a:rPr dirty="0" sz="2600" spc="-10">
                <a:latin typeface="Arial"/>
                <a:cs typeface="Arial"/>
              </a:rPr>
              <a:t>hitung</a:t>
            </a:r>
            <a:r>
              <a:rPr dirty="0" sz="2600">
                <a:latin typeface="Arial"/>
                <a:cs typeface="Arial"/>
              </a:rPr>
              <a:t>	</a:t>
            </a:r>
            <a:r>
              <a:rPr dirty="0" sz="2600" spc="-10" b="1">
                <a:latin typeface="Arial"/>
                <a:cs typeface="Arial"/>
              </a:rPr>
              <a:t>N.R</a:t>
            </a:r>
            <a:r>
              <a:rPr dirty="0" baseline="26143" sz="2550" spc="-15" b="1">
                <a:latin typeface="Arial"/>
                <a:cs typeface="Arial"/>
              </a:rPr>
              <a:t>2</a:t>
            </a:r>
            <a:r>
              <a:rPr dirty="0" sz="2600" spc="-10">
                <a:latin typeface="Arial"/>
                <a:cs typeface="Arial"/>
              </a:rPr>
              <a:t>;</a:t>
            </a:r>
            <a:r>
              <a:rPr dirty="0" sz="2600">
                <a:latin typeface="Arial"/>
                <a:cs typeface="Arial"/>
              </a:rPr>
              <a:t>	N</a:t>
            </a:r>
            <a:r>
              <a:rPr dirty="0" sz="2600" spc="-5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=</a:t>
            </a:r>
            <a:r>
              <a:rPr dirty="0" sz="2600" spc="-6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jumlah</a:t>
            </a:r>
            <a:r>
              <a:rPr dirty="0" sz="2600" spc="-5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observasi:</a:t>
            </a:r>
            <a:r>
              <a:rPr dirty="0" sz="2600" spc="20">
                <a:latin typeface="Arial"/>
                <a:cs typeface="Arial"/>
              </a:rPr>
              <a:t> </a:t>
            </a:r>
            <a:r>
              <a:rPr dirty="0" sz="2600" b="1">
                <a:latin typeface="Arial"/>
                <a:cs typeface="Arial"/>
              </a:rPr>
              <a:t>&gt;</a:t>
            </a:r>
            <a:r>
              <a:rPr dirty="0" sz="2600" spc="-75" b="1">
                <a:latin typeface="Arial"/>
                <a:cs typeface="Arial"/>
              </a:rPr>
              <a:t> </a:t>
            </a:r>
            <a:r>
              <a:rPr dirty="0" sz="2700" spc="-25" b="1" i="1">
                <a:latin typeface="Symbol"/>
                <a:cs typeface="Symbol"/>
              </a:rPr>
              <a:t></a:t>
            </a:r>
            <a:r>
              <a:rPr dirty="0" baseline="26143" sz="2550" spc="-37" b="1" i="1">
                <a:latin typeface="Arial"/>
                <a:cs typeface="Arial"/>
              </a:rPr>
              <a:t>2</a:t>
            </a:r>
            <a:r>
              <a:rPr dirty="0" baseline="26143" sz="2550" b="1" i="1">
                <a:latin typeface="Arial"/>
                <a:cs typeface="Arial"/>
              </a:rPr>
              <a:t>	</a:t>
            </a:r>
            <a:r>
              <a:rPr dirty="0" sz="2600">
                <a:latin typeface="Arial"/>
                <a:cs typeface="Arial"/>
              </a:rPr>
              <a:t>? </a:t>
            </a:r>
            <a:r>
              <a:rPr dirty="0" sz="2600" spc="-10">
                <a:latin typeface="Arial"/>
                <a:cs typeface="Arial"/>
              </a:rPr>
              <a:t>dimana</a:t>
            </a:r>
            <a:endParaRPr sz="26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720039" y="5531916"/>
            <a:ext cx="5132070" cy="4210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600">
                <a:latin typeface="Arial"/>
                <a:cs typeface="Arial"/>
              </a:rPr>
              <a:t>k</a:t>
            </a:r>
            <a:r>
              <a:rPr dirty="0" sz="2600" spc="-9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adalah</a:t>
            </a:r>
            <a:r>
              <a:rPr dirty="0" sz="2600" spc="-3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jumlah</a:t>
            </a:r>
            <a:r>
              <a:rPr dirty="0" sz="2600" spc="-7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parameter</a:t>
            </a:r>
            <a:r>
              <a:rPr dirty="0" sz="2600" spc="-30">
                <a:latin typeface="Arial"/>
                <a:cs typeface="Arial"/>
              </a:rPr>
              <a:t> </a:t>
            </a:r>
            <a:r>
              <a:rPr dirty="0" sz="2600" spc="-10">
                <a:latin typeface="Arial"/>
                <a:cs typeface="Arial"/>
              </a:rPr>
              <a:t>dugaan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0141" y="397840"/>
            <a:ext cx="6779259" cy="69532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Solusi</a:t>
            </a:r>
            <a:r>
              <a:rPr dirty="0" spc="-85"/>
              <a:t> </a:t>
            </a:r>
            <a:r>
              <a:rPr dirty="0" spc="-10"/>
              <a:t>Heteroskedastisitas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88569" y="1086486"/>
            <a:ext cx="11604625" cy="4552950"/>
          </a:xfrm>
          <a:prstGeom prst="rect">
            <a:avLst/>
          </a:prstGeom>
        </p:spPr>
        <p:txBody>
          <a:bodyPr wrap="square" lIns="0" tIns="164465" rIns="0" bIns="0" rtlCol="0" vert="horz">
            <a:spAutoFit/>
          </a:bodyPr>
          <a:lstStyle/>
          <a:p>
            <a:pPr marL="520700" indent="-457200">
              <a:lnSpc>
                <a:spcPct val="100000"/>
              </a:lnSpc>
              <a:spcBef>
                <a:spcPts val="1295"/>
              </a:spcBef>
              <a:buChar char="•"/>
              <a:tabLst>
                <a:tab pos="520065" algn="l"/>
                <a:tab pos="520700" algn="l"/>
              </a:tabLst>
            </a:pPr>
            <a:r>
              <a:rPr dirty="0" sz="2800">
                <a:latin typeface="Arial"/>
                <a:cs typeface="Arial"/>
              </a:rPr>
              <a:t>Melakukan</a:t>
            </a:r>
            <a:r>
              <a:rPr dirty="0" sz="2800" spc="-3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transformasi</a:t>
            </a:r>
            <a:r>
              <a:rPr dirty="0" sz="2800" spc="-6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data</a:t>
            </a:r>
            <a:r>
              <a:rPr dirty="0" sz="2800" spc="-2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misal</a:t>
            </a:r>
            <a:r>
              <a:rPr dirty="0" sz="2800" spc="-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dengan</a:t>
            </a:r>
            <a:r>
              <a:rPr dirty="0" sz="2800" spc="-25"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FF0000"/>
                </a:solidFill>
                <a:latin typeface="Arial"/>
                <a:cs typeface="Arial"/>
              </a:rPr>
              <a:t>Ln;</a:t>
            </a:r>
            <a:r>
              <a:rPr dirty="0" sz="28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FF0000"/>
                </a:solidFill>
                <a:latin typeface="Arial"/>
                <a:cs typeface="Arial"/>
              </a:rPr>
              <a:t>nilai</a:t>
            </a:r>
            <a:r>
              <a:rPr dirty="0" sz="2800" spc="-6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FF0000"/>
                </a:solidFill>
                <a:latin typeface="Arial"/>
                <a:cs typeface="Arial"/>
              </a:rPr>
              <a:t>per</a:t>
            </a:r>
            <a:r>
              <a:rPr dirty="0" sz="2800" spc="-10" b="1">
                <a:solidFill>
                  <a:srgbClr val="FF0000"/>
                </a:solidFill>
                <a:latin typeface="Arial"/>
                <a:cs typeface="Arial"/>
              </a:rPr>
              <a:t> kapita</a:t>
            </a:r>
            <a:endParaRPr sz="2800">
              <a:latin typeface="Arial"/>
              <a:cs typeface="Arial"/>
            </a:endParaRPr>
          </a:p>
          <a:p>
            <a:pPr marL="553720">
              <a:lnSpc>
                <a:spcPct val="100000"/>
              </a:lnSpc>
              <a:spcBef>
                <a:spcPts val="1200"/>
              </a:spcBef>
            </a:pPr>
            <a:r>
              <a:rPr dirty="0" sz="2800">
                <a:latin typeface="Arial"/>
                <a:cs typeface="Arial"/>
              </a:rPr>
              <a:t>LnC</a:t>
            </a:r>
            <a:r>
              <a:rPr dirty="0" baseline="-21021" sz="2775">
                <a:latin typeface="Arial"/>
                <a:cs typeface="Arial"/>
              </a:rPr>
              <a:t>t</a:t>
            </a:r>
            <a:r>
              <a:rPr dirty="0" baseline="-21021" sz="2775" spc="40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=</a:t>
            </a:r>
            <a:r>
              <a:rPr dirty="0" sz="2800" spc="-2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b</a:t>
            </a:r>
            <a:r>
              <a:rPr dirty="0" baseline="-21021" sz="2775">
                <a:latin typeface="Arial"/>
                <a:cs typeface="Arial"/>
              </a:rPr>
              <a:t>0</a:t>
            </a:r>
            <a:r>
              <a:rPr dirty="0" baseline="-21021" sz="2775" spc="39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+</a:t>
            </a:r>
            <a:r>
              <a:rPr dirty="0" sz="2800" spc="-2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b</a:t>
            </a:r>
            <a:r>
              <a:rPr dirty="0" baseline="-21021" sz="2775">
                <a:latin typeface="Arial"/>
                <a:cs typeface="Arial"/>
              </a:rPr>
              <a:t>1</a:t>
            </a:r>
            <a:r>
              <a:rPr dirty="0" sz="2800">
                <a:latin typeface="Arial"/>
                <a:cs typeface="Arial"/>
              </a:rPr>
              <a:t>Ln</a:t>
            </a:r>
            <a:r>
              <a:rPr dirty="0" sz="2800" spc="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PDRB</a:t>
            </a:r>
            <a:r>
              <a:rPr dirty="0" baseline="-21021" sz="2775">
                <a:latin typeface="Arial"/>
                <a:cs typeface="Arial"/>
              </a:rPr>
              <a:t>t</a:t>
            </a:r>
            <a:r>
              <a:rPr dirty="0" baseline="-21021" sz="2775" spc="37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+</a:t>
            </a:r>
            <a:r>
              <a:rPr dirty="0" sz="2800" spc="-2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b</a:t>
            </a:r>
            <a:r>
              <a:rPr dirty="0" baseline="-21021" sz="2775">
                <a:latin typeface="Arial"/>
                <a:cs typeface="Arial"/>
              </a:rPr>
              <a:t>2</a:t>
            </a:r>
            <a:r>
              <a:rPr dirty="0" sz="2800">
                <a:latin typeface="Arial"/>
                <a:cs typeface="Arial"/>
              </a:rPr>
              <a:t>r</a:t>
            </a:r>
            <a:r>
              <a:rPr dirty="0" baseline="-21021" sz="2775">
                <a:latin typeface="Arial"/>
                <a:cs typeface="Arial"/>
              </a:rPr>
              <a:t>t</a:t>
            </a:r>
            <a:r>
              <a:rPr dirty="0" baseline="-21021" sz="2775" spc="37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+</a:t>
            </a:r>
            <a:r>
              <a:rPr dirty="0" sz="2800" spc="-5">
                <a:latin typeface="Arial"/>
                <a:cs typeface="Arial"/>
              </a:rPr>
              <a:t> </a:t>
            </a:r>
            <a:r>
              <a:rPr dirty="0" sz="2800" spc="-25">
                <a:latin typeface="Arial"/>
                <a:cs typeface="Arial"/>
              </a:rPr>
              <a:t>e</a:t>
            </a:r>
            <a:r>
              <a:rPr dirty="0" baseline="-21021" sz="2775" spc="-37">
                <a:latin typeface="Arial"/>
                <a:cs typeface="Arial"/>
              </a:rPr>
              <a:t>t</a:t>
            </a:r>
            <a:endParaRPr baseline="-21021" sz="2775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900">
              <a:latin typeface="Arial"/>
              <a:cs typeface="Arial"/>
            </a:endParaRPr>
          </a:p>
          <a:p>
            <a:pPr marL="520700" indent="-457200">
              <a:lnSpc>
                <a:spcPct val="100000"/>
              </a:lnSpc>
              <a:buFont typeface="Arial"/>
              <a:buChar char="•"/>
              <a:tabLst>
                <a:tab pos="520065" algn="l"/>
                <a:tab pos="520700" algn="l"/>
              </a:tabLst>
            </a:pPr>
            <a:r>
              <a:rPr dirty="0" sz="2800" b="1">
                <a:solidFill>
                  <a:srgbClr val="FF0000"/>
                </a:solidFill>
                <a:latin typeface="Arial"/>
                <a:cs typeface="Arial"/>
              </a:rPr>
              <a:t>GLS</a:t>
            </a:r>
            <a:r>
              <a:rPr dirty="0" sz="2800" b="1" i="1">
                <a:solidFill>
                  <a:srgbClr val="FF0000"/>
                </a:solidFill>
                <a:latin typeface="Arial"/>
                <a:cs typeface="Arial"/>
              </a:rPr>
              <a:t>:</a:t>
            </a:r>
            <a:r>
              <a:rPr dirty="0" sz="2800" spc="-25" b="1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800" i="1">
                <a:latin typeface="Arial"/>
                <a:cs typeface="Arial"/>
              </a:rPr>
              <a:t>Generalized</a:t>
            </a:r>
            <a:r>
              <a:rPr dirty="0" sz="2800" spc="65" i="1">
                <a:latin typeface="Arial"/>
                <a:cs typeface="Arial"/>
              </a:rPr>
              <a:t> </a:t>
            </a:r>
            <a:r>
              <a:rPr dirty="0" sz="2800" i="1">
                <a:latin typeface="Arial"/>
                <a:cs typeface="Arial"/>
              </a:rPr>
              <a:t>least</a:t>
            </a:r>
            <a:r>
              <a:rPr dirty="0" sz="2800" spc="-35" i="1">
                <a:latin typeface="Arial"/>
                <a:cs typeface="Arial"/>
              </a:rPr>
              <a:t> </a:t>
            </a:r>
            <a:r>
              <a:rPr dirty="0" sz="2800" i="1">
                <a:latin typeface="Arial"/>
                <a:cs typeface="Arial"/>
              </a:rPr>
              <a:t>squares:</a:t>
            </a:r>
            <a:r>
              <a:rPr dirty="0" sz="2800" spc="-35" i="1">
                <a:latin typeface="Arial"/>
                <a:cs typeface="Arial"/>
              </a:rPr>
              <a:t> </a:t>
            </a:r>
            <a:r>
              <a:rPr dirty="0" sz="2800" i="1">
                <a:latin typeface="Arial"/>
                <a:cs typeface="Arial"/>
              </a:rPr>
              <a:t>weighted</a:t>
            </a:r>
            <a:r>
              <a:rPr dirty="0" sz="2800" spc="-20" i="1">
                <a:latin typeface="Arial"/>
                <a:cs typeface="Arial"/>
              </a:rPr>
              <a:t> </a:t>
            </a:r>
            <a:r>
              <a:rPr dirty="0" sz="2800" i="1">
                <a:latin typeface="Arial"/>
                <a:cs typeface="Arial"/>
              </a:rPr>
              <a:t>least</a:t>
            </a:r>
            <a:r>
              <a:rPr dirty="0" sz="2800" spc="-10" i="1">
                <a:latin typeface="Arial"/>
                <a:cs typeface="Arial"/>
              </a:rPr>
              <a:t> </a:t>
            </a:r>
            <a:r>
              <a:rPr dirty="0" sz="2800" i="1">
                <a:latin typeface="Arial"/>
                <a:cs typeface="Arial"/>
              </a:rPr>
              <a:t>squares</a:t>
            </a:r>
            <a:r>
              <a:rPr dirty="0" sz="2800" spc="-30" i="1">
                <a:latin typeface="Arial"/>
                <a:cs typeface="Arial"/>
              </a:rPr>
              <a:t> </a:t>
            </a:r>
            <a:r>
              <a:rPr dirty="0" sz="2800" spc="-10" i="1">
                <a:latin typeface="Arial"/>
                <a:cs typeface="Arial"/>
              </a:rPr>
              <a:t>(WLS)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Arial"/>
              <a:buChar char="•"/>
            </a:pPr>
            <a:endParaRPr sz="2750">
              <a:latin typeface="Arial"/>
              <a:cs typeface="Arial"/>
            </a:endParaRPr>
          </a:p>
          <a:p>
            <a:pPr marL="638175">
              <a:lnSpc>
                <a:spcPct val="100000"/>
              </a:lnSpc>
            </a:pPr>
            <a:r>
              <a:rPr dirty="0" sz="4000" b="1">
                <a:latin typeface="Arial"/>
                <a:cs typeface="Arial"/>
              </a:rPr>
              <a:t>b</a:t>
            </a:r>
            <a:r>
              <a:rPr dirty="0" baseline="-20964" sz="3975" b="1">
                <a:latin typeface="Arial"/>
                <a:cs typeface="Arial"/>
              </a:rPr>
              <a:t>Gls</a:t>
            </a:r>
            <a:r>
              <a:rPr dirty="0" baseline="-20964" sz="3975" spc="-22" b="1">
                <a:latin typeface="Arial"/>
                <a:cs typeface="Arial"/>
              </a:rPr>
              <a:t> </a:t>
            </a:r>
            <a:r>
              <a:rPr dirty="0" sz="4000" b="1">
                <a:latin typeface="Arial"/>
                <a:cs typeface="Arial"/>
              </a:rPr>
              <a:t>=</a:t>
            </a:r>
            <a:r>
              <a:rPr dirty="0" sz="4000" spc="15" b="1">
                <a:latin typeface="Arial"/>
                <a:cs typeface="Arial"/>
              </a:rPr>
              <a:t> </a:t>
            </a:r>
            <a:r>
              <a:rPr dirty="0" sz="4000" b="1">
                <a:latin typeface="Arial"/>
                <a:cs typeface="Arial"/>
              </a:rPr>
              <a:t>(PDRB’</a:t>
            </a:r>
            <a:r>
              <a:rPr dirty="0" sz="4000" b="1">
                <a:solidFill>
                  <a:srgbClr val="FF0000"/>
                </a:solidFill>
                <a:latin typeface="Arial"/>
                <a:cs typeface="Arial"/>
              </a:rPr>
              <a:t>(</a:t>
            </a:r>
            <a:r>
              <a:rPr dirty="0" sz="4000" b="1">
                <a:solidFill>
                  <a:srgbClr val="FF0000"/>
                </a:solidFill>
                <a:latin typeface="Symbol"/>
                <a:cs typeface="Symbol"/>
              </a:rPr>
              <a:t></a:t>
            </a:r>
            <a:r>
              <a:rPr dirty="0" sz="4000" b="1">
                <a:solidFill>
                  <a:srgbClr val="FF0000"/>
                </a:solidFill>
                <a:latin typeface="Arial"/>
                <a:cs typeface="Arial"/>
              </a:rPr>
              <a:t>)</a:t>
            </a:r>
            <a:r>
              <a:rPr dirty="0" baseline="25157" sz="3975" b="1">
                <a:solidFill>
                  <a:srgbClr val="FF0000"/>
                </a:solidFill>
                <a:latin typeface="Arial"/>
                <a:cs typeface="Arial"/>
              </a:rPr>
              <a:t>-1</a:t>
            </a:r>
            <a:r>
              <a:rPr dirty="0" sz="4000" b="1">
                <a:latin typeface="Arial"/>
                <a:cs typeface="Arial"/>
              </a:rPr>
              <a:t>.</a:t>
            </a:r>
            <a:r>
              <a:rPr dirty="0" sz="4000" spc="-75" b="1">
                <a:latin typeface="Arial"/>
                <a:cs typeface="Arial"/>
              </a:rPr>
              <a:t> </a:t>
            </a:r>
            <a:r>
              <a:rPr dirty="0" sz="4000" b="1">
                <a:latin typeface="Arial"/>
                <a:cs typeface="Arial"/>
              </a:rPr>
              <a:t>PDRB)</a:t>
            </a:r>
            <a:r>
              <a:rPr dirty="0" baseline="25157" sz="3975" b="1">
                <a:latin typeface="Arial"/>
                <a:cs typeface="Arial"/>
              </a:rPr>
              <a:t>-1</a:t>
            </a:r>
            <a:r>
              <a:rPr dirty="0" baseline="25157" sz="3975" spc="-37" b="1">
                <a:latin typeface="Arial"/>
                <a:cs typeface="Arial"/>
              </a:rPr>
              <a:t> </a:t>
            </a:r>
            <a:r>
              <a:rPr dirty="0" sz="4000" b="1">
                <a:latin typeface="Arial"/>
                <a:cs typeface="Arial"/>
              </a:rPr>
              <a:t>. PDRB’</a:t>
            </a:r>
            <a:r>
              <a:rPr dirty="0" sz="4000" b="1">
                <a:solidFill>
                  <a:srgbClr val="FF0000"/>
                </a:solidFill>
                <a:latin typeface="Arial"/>
                <a:cs typeface="Arial"/>
              </a:rPr>
              <a:t>(</a:t>
            </a:r>
            <a:r>
              <a:rPr dirty="0" sz="4000" b="1">
                <a:solidFill>
                  <a:srgbClr val="FF0000"/>
                </a:solidFill>
                <a:latin typeface="Symbol"/>
                <a:cs typeface="Symbol"/>
              </a:rPr>
              <a:t></a:t>
            </a:r>
            <a:r>
              <a:rPr dirty="0" sz="4000" b="1">
                <a:solidFill>
                  <a:srgbClr val="FF0000"/>
                </a:solidFill>
                <a:latin typeface="Arial"/>
                <a:cs typeface="Arial"/>
              </a:rPr>
              <a:t>)</a:t>
            </a:r>
            <a:r>
              <a:rPr dirty="0" baseline="25157" sz="3975" b="1">
                <a:solidFill>
                  <a:srgbClr val="FF0000"/>
                </a:solidFill>
                <a:latin typeface="Arial"/>
                <a:cs typeface="Arial"/>
              </a:rPr>
              <a:t>-</a:t>
            </a:r>
            <a:r>
              <a:rPr dirty="0" baseline="25157" sz="3975" spc="-37" b="1">
                <a:solidFill>
                  <a:srgbClr val="FF0000"/>
                </a:solidFill>
                <a:latin typeface="Arial"/>
                <a:cs typeface="Arial"/>
              </a:rPr>
              <a:t>1</a:t>
            </a:r>
            <a:r>
              <a:rPr dirty="0" sz="4000" spc="-25" b="1">
                <a:latin typeface="Arial"/>
                <a:cs typeface="Arial"/>
              </a:rPr>
              <a:t>C</a:t>
            </a:r>
            <a:endParaRPr sz="4000">
              <a:latin typeface="Arial"/>
              <a:cs typeface="Arial"/>
            </a:endParaRPr>
          </a:p>
          <a:p>
            <a:pPr algn="just" marL="520700" marR="55880" indent="-457200">
              <a:lnSpc>
                <a:spcPct val="100000"/>
              </a:lnSpc>
              <a:spcBef>
                <a:spcPts val="1705"/>
              </a:spcBef>
              <a:buChar char="•"/>
              <a:tabLst>
                <a:tab pos="520700" algn="l"/>
              </a:tabLst>
            </a:pPr>
            <a:r>
              <a:rPr dirty="0" sz="2800">
                <a:latin typeface="Arial"/>
                <a:cs typeface="Arial"/>
              </a:rPr>
              <a:t>Pada</a:t>
            </a:r>
            <a:r>
              <a:rPr dirty="0" sz="2800" spc="2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teknik</a:t>
            </a:r>
            <a:r>
              <a:rPr dirty="0" sz="2800" spc="3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WLS,</a:t>
            </a:r>
            <a:r>
              <a:rPr dirty="0" sz="2800" spc="2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yang</a:t>
            </a:r>
            <a:r>
              <a:rPr dirty="0" sz="2800" spc="5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diminimisasi</a:t>
            </a:r>
            <a:r>
              <a:rPr dirty="0" sz="2800" spc="4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adalah</a:t>
            </a:r>
            <a:r>
              <a:rPr dirty="0" sz="2800" spc="4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kuadrat</a:t>
            </a:r>
            <a:r>
              <a:rPr dirty="0" sz="2800" spc="50">
                <a:latin typeface="Arial"/>
                <a:cs typeface="Arial"/>
              </a:rPr>
              <a:t> </a:t>
            </a:r>
            <a:r>
              <a:rPr dirty="0" sz="2800" i="1">
                <a:latin typeface="Arial"/>
                <a:cs typeface="Arial"/>
              </a:rPr>
              <a:t>residual</a:t>
            </a:r>
            <a:r>
              <a:rPr dirty="0" sz="2800" spc="60" i="1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terbobot </a:t>
            </a:r>
            <a:r>
              <a:rPr dirty="0" sz="2800">
                <a:latin typeface="Arial"/>
                <a:cs typeface="Arial"/>
              </a:rPr>
              <a:t>(varians</a:t>
            </a:r>
            <a:r>
              <a:rPr dirty="0" sz="2800" spc="44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dikurangi).</a:t>
            </a:r>
            <a:r>
              <a:rPr dirty="0" sz="2800" spc="41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Pemilihan</a:t>
            </a:r>
            <a:r>
              <a:rPr dirty="0" sz="2800" spc="39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bobot</a:t>
            </a:r>
            <a:r>
              <a:rPr dirty="0" sz="2800" spc="42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yang</a:t>
            </a:r>
            <a:r>
              <a:rPr dirty="0" sz="2800" spc="43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tepat</a:t>
            </a:r>
            <a:r>
              <a:rPr dirty="0" sz="2800" spc="42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akan</a:t>
            </a:r>
            <a:r>
              <a:rPr dirty="0" sz="2800" spc="440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menghasilkan </a:t>
            </a:r>
            <a:r>
              <a:rPr dirty="0" sz="2800">
                <a:latin typeface="Arial"/>
                <a:cs typeface="Arial"/>
              </a:rPr>
              <a:t>kondisi</a:t>
            </a:r>
            <a:r>
              <a:rPr dirty="0" sz="2800" spc="-5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homoskedastisitas:</a:t>
            </a:r>
            <a:r>
              <a:rPr dirty="0" sz="2800" spc="-114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di</a:t>
            </a:r>
            <a:r>
              <a:rPr dirty="0" sz="2800" spc="5">
                <a:latin typeface="Arial"/>
                <a:cs typeface="Arial"/>
              </a:rPr>
              <a:t> </a:t>
            </a:r>
            <a:r>
              <a:rPr dirty="0" sz="2800" i="1">
                <a:latin typeface="Arial"/>
                <a:cs typeface="Arial"/>
              </a:rPr>
              <a:t>software</a:t>
            </a:r>
            <a:r>
              <a:rPr dirty="0" sz="2800" spc="-45" i="1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pilih</a:t>
            </a:r>
            <a:r>
              <a:rPr dirty="0" sz="2800" spc="-3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menu</a:t>
            </a:r>
            <a:r>
              <a:rPr dirty="0" sz="2800" spc="-5">
                <a:latin typeface="Arial"/>
                <a:cs typeface="Arial"/>
              </a:rPr>
              <a:t> </a:t>
            </a:r>
            <a:r>
              <a:rPr dirty="0" sz="2800" spc="-25">
                <a:latin typeface="Arial"/>
                <a:cs typeface="Arial"/>
              </a:rPr>
              <a:t>GLS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769619" y="3558540"/>
            <a:ext cx="283845" cy="137160"/>
          </a:xfrm>
          <a:custGeom>
            <a:avLst/>
            <a:gdLst/>
            <a:ahLst/>
            <a:cxnLst/>
            <a:rect l="l" t="t" r="r" b="b"/>
            <a:pathLst>
              <a:path w="283844" h="137160">
                <a:moveTo>
                  <a:pt x="0" y="121920"/>
                </a:moveTo>
                <a:lnTo>
                  <a:pt x="146024" y="0"/>
                </a:lnTo>
                <a:lnTo>
                  <a:pt x="283464" y="137160"/>
                </a:lnTo>
              </a:path>
            </a:pathLst>
          </a:custGeom>
          <a:ln w="396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6957916" y="6549694"/>
            <a:ext cx="172085" cy="1924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435"/>
              </a:lnSpc>
            </a:pPr>
            <a:r>
              <a:rPr dirty="0" sz="1500" spc="10">
                <a:latin typeface="Calibri"/>
                <a:cs typeface="Calibri"/>
              </a:rPr>
              <a:t>@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15290" y="6308394"/>
            <a:ext cx="6417945" cy="4464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 sz="1500" spc="-10" b="1">
                <a:latin typeface="Calibri"/>
                <a:cs typeface="Calibri"/>
              </a:rPr>
              <a:t>Department</a:t>
            </a:r>
            <a:r>
              <a:rPr dirty="0" sz="1500" spc="-85" b="1">
                <a:latin typeface="Calibri"/>
                <a:cs typeface="Calibri"/>
              </a:rPr>
              <a:t> </a:t>
            </a:r>
            <a:r>
              <a:rPr dirty="0" sz="1500" b="1">
                <a:latin typeface="Calibri"/>
                <a:cs typeface="Calibri"/>
              </a:rPr>
              <a:t>of</a:t>
            </a:r>
            <a:r>
              <a:rPr dirty="0" sz="1500" spc="5" b="1">
                <a:latin typeface="Calibri"/>
                <a:cs typeface="Calibri"/>
              </a:rPr>
              <a:t> </a:t>
            </a:r>
            <a:r>
              <a:rPr dirty="0" sz="1500" b="1">
                <a:latin typeface="Calibri"/>
                <a:cs typeface="Calibri"/>
              </a:rPr>
              <a:t>Economics</a:t>
            </a:r>
            <a:r>
              <a:rPr dirty="0" sz="1500" spc="-25" b="1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| </a:t>
            </a:r>
            <a:r>
              <a:rPr dirty="0" sz="1500" spc="-10">
                <a:latin typeface="Calibri"/>
                <a:cs typeface="Calibri"/>
              </a:rPr>
              <a:t>Faculty</a:t>
            </a:r>
            <a:r>
              <a:rPr dirty="0" sz="1500" spc="-4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of</a:t>
            </a:r>
            <a:r>
              <a:rPr dirty="0" sz="1500" spc="-5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Economics</a:t>
            </a:r>
            <a:r>
              <a:rPr dirty="0" sz="1500" spc="-2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and</a:t>
            </a:r>
            <a:r>
              <a:rPr dirty="0" sz="1500" spc="-5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Management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500">
                <a:latin typeface="Segoe UI Symbol"/>
                <a:cs typeface="Segoe UI Symbol"/>
              </a:rPr>
              <a:t>☎</a:t>
            </a:r>
            <a:r>
              <a:rPr dirty="0" sz="1500" spc="-114">
                <a:latin typeface="Segoe UI Symbol"/>
                <a:cs typeface="Segoe UI Symbol"/>
              </a:rPr>
              <a:t> </a:t>
            </a:r>
            <a:r>
              <a:rPr dirty="0" sz="1500">
                <a:latin typeface="Calibri"/>
                <a:cs typeface="Calibri"/>
              </a:rPr>
              <a:t>+62</a:t>
            </a:r>
            <a:r>
              <a:rPr dirty="0" sz="1500" spc="-4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251</a:t>
            </a:r>
            <a:r>
              <a:rPr dirty="0" sz="1500" spc="-2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8626602</a:t>
            </a:r>
            <a:r>
              <a:rPr dirty="0" sz="1500" spc="245">
                <a:latin typeface="Calibri"/>
                <a:cs typeface="Calibri"/>
              </a:rPr>
              <a:t> </a:t>
            </a:r>
            <a:r>
              <a:rPr dirty="0" sz="1500">
                <a:latin typeface="Segoe UI Symbol"/>
                <a:cs typeface="Segoe UI Symbol"/>
              </a:rPr>
              <a:t>✉</a:t>
            </a:r>
            <a:r>
              <a:rPr dirty="0" sz="1500" spc="-105">
                <a:latin typeface="Segoe UI Symbol"/>
                <a:cs typeface="Segoe UI Symbol"/>
              </a:rPr>
              <a:t> </a:t>
            </a:r>
            <a:r>
              <a:rPr dirty="0" sz="1500">
                <a:latin typeface="Calibri"/>
                <a:cs typeface="Calibri"/>
                <a:hlinkClick r:id="rId2"/>
              </a:rPr>
              <a:t>ilmu_ekonomi@ipb.ac.id</a:t>
            </a:r>
            <a:r>
              <a:rPr dirty="0" sz="1500" spc="250">
                <a:latin typeface="Calibri"/>
                <a:cs typeface="Calibri"/>
              </a:rPr>
              <a:t> </a:t>
            </a:r>
            <a:r>
              <a:rPr dirty="0" sz="1500" b="1">
                <a:latin typeface="Segoe UI Symbol"/>
                <a:cs typeface="Segoe UI Symbol"/>
              </a:rPr>
              <a:t>🌐</a:t>
            </a:r>
            <a:r>
              <a:rPr dirty="0" sz="1500" spc="-100" b="1">
                <a:latin typeface="Segoe UI Symbol"/>
                <a:cs typeface="Segoe UI Symbol"/>
              </a:rPr>
              <a:t> </a:t>
            </a:r>
            <a:r>
              <a:rPr dirty="0" sz="1500" spc="-10">
                <a:latin typeface="Calibri"/>
                <a:cs typeface="Calibri"/>
                <a:hlinkClick r:id="rId3"/>
              </a:rPr>
              <a:t>http://ekonomi.fem.ipb.ac.id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 spc="-10"/>
              <a:t>dept.ieipb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0141" y="492074"/>
            <a:ext cx="4490085" cy="69532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Multikolinearitas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6957916" y="6549694"/>
            <a:ext cx="172085" cy="1924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435"/>
              </a:lnSpc>
            </a:pPr>
            <a:r>
              <a:rPr dirty="0" sz="1500" spc="10">
                <a:latin typeface="Calibri"/>
                <a:cs typeface="Calibri"/>
              </a:rPr>
              <a:t>@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15290" y="6308394"/>
            <a:ext cx="6417945" cy="4464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 sz="1500" spc="-10" b="1">
                <a:latin typeface="Calibri"/>
                <a:cs typeface="Calibri"/>
              </a:rPr>
              <a:t>Department</a:t>
            </a:r>
            <a:r>
              <a:rPr dirty="0" sz="1500" spc="-85" b="1">
                <a:latin typeface="Calibri"/>
                <a:cs typeface="Calibri"/>
              </a:rPr>
              <a:t> </a:t>
            </a:r>
            <a:r>
              <a:rPr dirty="0" sz="1500" b="1">
                <a:latin typeface="Calibri"/>
                <a:cs typeface="Calibri"/>
              </a:rPr>
              <a:t>of</a:t>
            </a:r>
            <a:r>
              <a:rPr dirty="0" sz="1500" spc="5" b="1">
                <a:latin typeface="Calibri"/>
                <a:cs typeface="Calibri"/>
              </a:rPr>
              <a:t> </a:t>
            </a:r>
            <a:r>
              <a:rPr dirty="0" sz="1500" b="1">
                <a:latin typeface="Calibri"/>
                <a:cs typeface="Calibri"/>
              </a:rPr>
              <a:t>Economics</a:t>
            </a:r>
            <a:r>
              <a:rPr dirty="0" sz="1500" spc="-25" b="1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| </a:t>
            </a:r>
            <a:r>
              <a:rPr dirty="0" sz="1500" spc="-10">
                <a:latin typeface="Calibri"/>
                <a:cs typeface="Calibri"/>
              </a:rPr>
              <a:t>Faculty</a:t>
            </a:r>
            <a:r>
              <a:rPr dirty="0" sz="1500" spc="-4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of</a:t>
            </a:r>
            <a:r>
              <a:rPr dirty="0" sz="1500" spc="-5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Economics</a:t>
            </a:r>
            <a:r>
              <a:rPr dirty="0" sz="1500" spc="-2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and</a:t>
            </a:r>
            <a:r>
              <a:rPr dirty="0" sz="1500" spc="-5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Management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500">
                <a:latin typeface="Segoe UI Symbol"/>
                <a:cs typeface="Segoe UI Symbol"/>
              </a:rPr>
              <a:t>☎</a:t>
            </a:r>
            <a:r>
              <a:rPr dirty="0" sz="1500" spc="-114">
                <a:latin typeface="Segoe UI Symbol"/>
                <a:cs typeface="Segoe UI Symbol"/>
              </a:rPr>
              <a:t> </a:t>
            </a:r>
            <a:r>
              <a:rPr dirty="0" sz="1500">
                <a:latin typeface="Calibri"/>
                <a:cs typeface="Calibri"/>
              </a:rPr>
              <a:t>+62</a:t>
            </a:r>
            <a:r>
              <a:rPr dirty="0" sz="1500" spc="-4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251</a:t>
            </a:r>
            <a:r>
              <a:rPr dirty="0" sz="1500" spc="-2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8626602</a:t>
            </a:r>
            <a:r>
              <a:rPr dirty="0" sz="1500" spc="245">
                <a:latin typeface="Calibri"/>
                <a:cs typeface="Calibri"/>
              </a:rPr>
              <a:t> </a:t>
            </a:r>
            <a:r>
              <a:rPr dirty="0" sz="1500">
                <a:latin typeface="Segoe UI Symbol"/>
                <a:cs typeface="Segoe UI Symbol"/>
              </a:rPr>
              <a:t>✉</a:t>
            </a:r>
            <a:r>
              <a:rPr dirty="0" sz="1500" spc="-105">
                <a:latin typeface="Segoe UI Symbol"/>
                <a:cs typeface="Segoe UI Symbol"/>
              </a:rPr>
              <a:t> </a:t>
            </a:r>
            <a:r>
              <a:rPr dirty="0" sz="1500">
                <a:latin typeface="Calibri"/>
                <a:cs typeface="Calibri"/>
                <a:hlinkClick r:id="rId2"/>
              </a:rPr>
              <a:t>ilmu_ekonomi@ipb.ac.id</a:t>
            </a:r>
            <a:r>
              <a:rPr dirty="0" sz="1500" spc="250">
                <a:latin typeface="Calibri"/>
                <a:cs typeface="Calibri"/>
              </a:rPr>
              <a:t> </a:t>
            </a:r>
            <a:r>
              <a:rPr dirty="0" sz="1500" b="1">
                <a:latin typeface="Segoe UI Symbol"/>
                <a:cs typeface="Segoe UI Symbol"/>
              </a:rPr>
              <a:t>🌐</a:t>
            </a:r>
            <a:r>
              <a:rPr dirty="0" sz="1500" spc="-100" b="1">
                <a:latin typeface="Segoe UI Symbol"/>
                <a:cs typeface="Segoe UI Symbol"/>
              </a:rPr>
              <a:t> </a:t>
            </a:r>
            <a:r>
              <a:rPr dirty="0" sz="1500" spc="-10">
                <a:latin typeface="Calibri"/>
                <a:cs typeface="Calibri"/>
                <a:hlinkClick r:id="rId3"/>
              </a:rPr>
              <a:t>http://ekonomi.fem.ipb.ac.id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 spc="-10"/>
              <a:t>dept.ieipb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64465" rIns="0" bIns="0" rtlCol="0" vert="horz">
            <a:spAutoFit/>
          </a:bodyPr>
          <a:lstStyle/>
          <a:p>
            <a:pPr algn="just" marL="520700" indent="-457834">
              <a:lnSpc>
                <a:spcPct val="100000"/>
              </a:lnSpc>
              <a:spcBef>
                <a:spcPts val="1295"/>
              </a:spcBef>
              <a:buChar char="•"/>
              <a:tabLst>
                <a:tab pos="521334" algn="l"/>
              </a:tabLst>
            </a:pPr>
            <a:r>
              <a:rPr dirty="0"/>
              <a:t>Keadaan</a:t>
            </a:r>
            <a:r>
              <a:rPr dirty="0" spc="-35"/>
              <a:t> </a:t>
            </a:r>
            <a:r>
              <a:rPr dirty="0"/>
              <a:t>dimana</a:t>
            </a:r>
            <a:r>
              <a:rPr dirty="0" spc="-55"/>
              <a:t> </a:t>
            </a:r>
            <a:r>
              <a:rPr dirty="0"/>
              <a:t>ada</a:t>
            </a:r>
            <a:r>
              <a:rPr dirty="0" spc="-55"/>
              <a:t> </a:t>
            </a:r>
            <a:r>
              <a:rPr dirty="0"/>
              <a:t>korelasi</a:t>
            </a:r>
            <a:r>
              <a:rPr dirty="0" spc="-75"/>
              <a:t> </a:t>
            </a:r>
            <a:r>
              <a:rPr dirty="0"/>
              <a:t>yang</a:t>
            </a:r>
            <a:r>
              <a:rPr dirty="0" spc="-30"/>
              <a:t> </a:t>
            </a:r>
            <a:r>
              <a:rPr dirty="0"/>
              <a:t>tinggi</a:t>
            </a:r>
            <a:r>
              <a:rPr dirty="0" spc="-80"/>
              <a:t> </a:t>
            </a:r>
            <a:r>
              <a:rPr dirty="0"/>
              <a:t>antar</a:t>
            </a:r>
            <a:r>
              <a:rPr dirty="0" spc="-50"/>
              <a:t> </a:t>
            </a:r>
            <a:r>
              <a:rPr dirty="0"/>
              <a:t>variabel</a:t>
            </a:r>
            <a:r>
              <a:rPr dirty="0" spc="-35"/>
              <a:t> </a:t>
            </a:r>
            <a:r>
              <a:rPr dirty="0" spc="-10"/>
              <a:t>penjelas</a:t>
            </a:r>
          </a:p>
          <a:p>
            <a:pPr algn="just" marL="520700" indent="-457834">
              <a:lnSpc>
                <a:spcPct val="100000"/>
              </a:lnSpc>
              <a:spcBef>
                <a:spcPts val="1200"/>
              </a:spcBef>
              <a:buChar char="•"/>
              <a:tabLst>
                <a:tab pos="521334" algn="l"/>
              </a:tabLst>
            </a:pPr>
            <a:r>
              <a:rPr dirty="0"/>
              <a:t>Dalam</a:t>
            </a:r>
            <a:r>
              <a:rPr dirty="0" spc="-60"/>
              <a:t> </a:t>
            </a:r>
            <a:r>
              <a:rPr dirty="0"/>
              <a:t>hal</a:t>
            </a:r>
            <a:r>
              <a:rPr dirty="0" spc="-55"/>
              <a:t> </a:t>
            </a:r>
            <a:r>
              <a:rPr dirty="0"/>
              <a:t>ini</a:t>
            </a:r>
            <a:r>
              <a:rPr dirty="0" spc="-55"/>
              <a:t> </a:t>
            </a:r>
            <a:r>
              <a:rPr dirty="0"/>
              <a:t>tidak</a:t>
            </a:r>
            <a:r>
              <a:rPr dirty="0" spc="-65"/>
              <a:t> </a:t>
            </a:r>
            <a:r>
              <a:rPr dirty="0"/>
              <a:t>ada</a:t>
            </a:r>
            <a:r>
              <a:rPr dirty="0" spc="-35"/>
              <a:t> </a:t>
            </a:r>
            <a:r>
              <a:rPr dirty="0"/>
              <a:t>kepastian</a:t>
            </a:r>
            <a:r>
              <a:rPr dirty="0" spc="-45"/>
              <a:t> </a:t>
            </a:r>
            <a:r>
              <a:rPr dirty="0"/>
              <a:t>berapa</a:t>
            </a:r>
            <a:r>
              <a:rPr dirty="0" spc="-15"/>
              <a:t> </a:t>
            </a:r>
            <a:r>
              <a:rPr dirty="0"/>
              <a:t>ukuran</a:t>
            </a:r>
            <a:r>
              <a:rPr dirty="0" spc="-40"/>
              <a:t> </a:t>
            </a:r>
            <a:r>
              <a:rPr dirty="0" spc="-10"/>
              <a:t>tinggi</a:t>
            </a:r>
          </a:p>
          <a:p>
            <a:pPr algn="just" marL="520700" marR="149860" indent="-457834">
              <a:lnSpc>
                <a:spcPct val="100000"/>
              </a:lnSpc>
              <a:spcBef>
                <a:spcPts val="1205"/>
              </a:spcBef>
              <a:buChar char="•"/>
              <a:tabLst>
                <a:tab pos="521334" algn="l"/>
              </a:tabLst>
            </a:pPr>
            <a:r>
              <a:rPr dirty="0"/>
              <a:t>Dicirikan</a:t>
            </a:r>
            <a:r>
              <a:rPr dirty="0" spc="-85"/>
              <a:t> </a:t>
            </a:r>
            <a:r>
              <a:rPr dirty="0"/>
              <a:t>oleh</a:t>
            </a:r>
            <a:r>
              <a:rPr dirty="0" spc="-60"/>
              <a:t> </a:t>
            </a:r>
            <a:r>
              <a:rPr dirty="0"/>
              <a:t>keadaan</a:t>
            </a:r>
            <a:r>
              <a:rPr dirty="0" spc="-50"/>
              <a:t> </a:t>
            </a:r>
            <a:r>
              <a:rPr dirty="0"/>
              <a:t>dimana</a:t>
            </a:r>
            <a:r>
              <a:rPr dirty="0" spc="-60"/>
              <a:t> </a:t>
            </a:r>
            <a:r>
              <a:rPr dirty="0"/>
              <a:t>hasil</a:t>
            </a:r>
            <a:r>
              <a:rPr dirty="0" spc="-80"/>
              <a:t> </a:t>
            </a:r>
            <a:r>
              <a:rPr dirty="0"/>
              <a:t>estimasi</a:t>
            </a:r>
            <a:r>
              <a:rPr dirty="0" spc="-75"/>
              <a:t> </a:t>
            </a:r>
            <a:r>
              <a:rPr dirty="0"/>
              <a:t>regresi</a:t>
            </a:r>
            <a:r>
              <a:rPr dirty="0" spc="-50"/>
              <a:t> </a:t>
            </a:r>
            <a:r>
              <a:rPr dirty="0"/>
              <a:t>memiliki</a:t>
            </a:r>
            <a:r>
              <a:rPr dirty="0" spc="-80"/>
              <a:t> </a:t>
            </a:r>
            <a:r>
              <a:rPr dirty="0" spc="-10"/>
              <a:t>koefisien </a:t>
            </a:r>
            <a:r>
              <a:rPr dirty="0"/>
              <a:t>determinasi</a:t>
            </a:r>
            <a:r>
              <a:rPr dirty="0" spc="-30"/>
              <a:t> </a:t>
            </a:r>
            <a:r>
              <a:rPr dirty="0"/>
              <a:t>(R</a:t>
            </a:r>
            <a:r>
              <a:rPr dirty="0" baseline="26143" sz="2550"/>
              <a:t>2</a:t>
            </a:r>
            <a:r>
              <a:rPr dirty="0" sz="2600"/>
              <a:t>)</a:t>
            </a:r>
            <a:r>
              <a:rPr dirty="0" sz="2600" spc="-95"/>
              <a:t> </a:t>
            </a:r>
            <a:r>
              <a:rPr dirty="0" sz="2600"/>
              <a:t>yang</a:t>
            </a:r>
            <a:r>
              <a:rPr dirty="0" sz="2600" spc="-35"/>
              <a:t> </a:t>
            </a:r>
            <a:r>
              <a:rPr dirty="0" sz="2600"/>
              <a:t>tinggi,</a:t>
            </a:r>
            <a:r>
              <a:rPr dirty="0" sz="2600" spc="-70"/>
              <a:t> </a:t>
            </a:r>
            <a:r>
              <a:rPr dirty="0" sz="2600"/>
              <a:t>namun</a:t>
            </a:r>
            <a:r>
              <a:rPr dirty="0" sz="2600" spc="-55"/>
              <a:t> </a:t>
            </a:r>
            <a:r>
              <a:rPr dirty="0" sz="2600"/>
              <a:t>banyak</a:t>
            </a:r>
            <a:r>
              <a:rPr dirty="0" sz="2600" spc="-5"/>
              <a:t> </a:t>
            </a:r>
            <a:r>
              <a:rPr dirty="0" sz="2600"/>
              <a:t>koefisien</a:t>
            </a:r>
            <a:r>
              <a:rPr dirty="0" sz="2600" spc="-55"/>
              <a:t> </a:t>
            </a:r>
            <a:r>
              <a:rPr dirty="0" sz="2600"/>
              <a:t>yang</a:t>
            </a:r>
            <a:r>
              <a:rPr dirty="0" sz="2600" spc="-35"/>
              <a:t> </a:t>
            </a:r>
            <a:r>
              <a:rPr dirty="0" sz="2600"/>
              <a:t>tidak</a:t>
            </a:r>
            <a:r>
              <a:rPr dirty="0" sz="2600" spc="-75"/>
              <a:t> </a:t>
            </a:r>
            <a:r>
              <a:rPr dirty="0" sz="2600" spc="-10"/>
              <a:t>nyata </a:t>
            </a:r>
            <a:r>
              <a:rPr dirty="0" sz="2600"/>
              <a:t>secara</a:t>
            </a:r>
            <a:r>
              <a:rPr dirty="0" sz="2600" spc="-45"/>
              <a:t> </a:t>
            </a:r>
            <a:r>
              <a:rPr dirty="0" sz="2600" spc="-10"/>
              <a:t>statistika</a:t>
            </a:r>
            <a:endParaRPr sz="2600"/>
          </a:p>
          <a:p>
            <a:pPr algn="just" marL="520700" marR="68580" indent="-457834">
              <a:lnSpc>
                <a:spcPct val="100000"/>
              </a:lnSpc>
              <a:spcBef>
                <a:spcPts val="1205"/>
              </a:spcBef>
              <a:buChar char="•"/>
              <a:tabLst>
                <a:tab pos="521334" algn="l"/>
              </a:tabLst>
            </a:pPr>
            <a:r>
              <a:rPr dirty="0"/>
              <a:t>Tidak</a:t>
            </a:r>
            <a:r>
              <a:rPr dirty="0" spc="-114"/>
              <a:t> </a:t>
            </a:r>
            <a:r>
              <a:rPr dirty="0"/>
              <a:t>ada</a:t>
            </a:r>
            <a:r>
              <a:rPr dirty="0" spc="-70"/>
              <a:t> </a:t>
            </a:r>
            <a:r>
              <a:rPr dirty="0"/>
              <a:t>uji</a:t>
            </a:r>
            <a:r>
              <a:rPr dirty="0" spc="-114"/>
              <a:t> </a:t>
            </a:r>
            <a:r>
              <a:rPr dirty="0"/>
              <a:t>hipotesis</a:t>
            </a:r>
            <a:r>
              <a:rPr dirty="0" spc="-50"/>
              <a:t> </a:t>
            </a:r>
            <a:r>
              <a:rPr dirty="0"/>
              <a:t>(inferensia)</a:t>
            </a:r>
            <a:r>
              <a:rPr dirty="0" spc="-70"/>
              <a:t> </a:t>
            </a:r>
            <a:r>
              <a:rPr dirty="0"/>
              <a:t>untuk</a:t>
            </a:r>
            <a:r>
              <a:rPr dirty="0" spc="-70"/>
              <a:t> </a:t>
            </a:r>
            <a:r>
              <a:rPr dirty="0"/>
              <a:t>kasus</a:t>
            </a:r>
            <a:r>
              <a:rPr dirty="0" spc="-90"/>
              <a:t> </a:t>
            </a:r>
            <a:r>
              <a:rPr dirty="0"/>
              <a:t>multikolinearitas.</a:t>
            </a:r>
            <a:r>
              <a:rPr dirty="0" spc="-30"/>
              <a:t> </a:t>
            </a:r>
            <a:r>
              <a:rPr dirty="0" spc="-10"/>
              <a:t>Hanya </a:t>
            </a:r>
            <a:r>
              <a:rPr dirty="0"/>
              <a:t>ada</a:t>
            </a:r>
            <a:r>
              <a:rPr dirty="0" spc="-40"/>
              <a:t> </a:t>
            </a:r>
            <a:r>
              <a:rPr dirty="0">
                <a:solidFill>
                  <a:srgbClr val="FF0000"/>
                </a:solidFill>
              </a:rPr>
              <a:t>rule</a:t>
            </a:r>
            <a:r>
              <a:rPr dirty="0" spc="-35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of</a:t>
            </a:r>
            <a:r>
              <a:rPr dirty="0" spc="-35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thumb:</a:t>
            </a:r>
            <a:r>
              <a:rPr dirty="0" spc="-5">
                <a:solidFill>
                  <a:srgbClr val="FF0000"/>
                </a:solidFill>
              </a:rPr>
              <a:t> </a:t>
            </a:r>
            <a:r>
              <a:rPr dirty="0" b="1">
                <a:solidFill>
                  <a:srgbClr val="FF0000"/>
                </a:solidFill>
                <a:latin typeface="Arial"/>
                <a:cs typeface="Arial"/>
              </a:rPr>
              <a:t>VIF</a:t>
            </a:r>
            <a:r>
              <a:rPr dirty="0" spc="-3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b="1">
                <a:solidFill>
                  <a:srgbClr val="FF0000"/>
                </a:solidFill>
                <a:latin typeface="Arial"/>
                <a:cs typeface="Arial"/>
              </a:rPr>
              <a:t>&gt;</a:t>
            </a:r>
            <a:r>
              <a:rPr dirty="0" spc="-5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b="1">
                <a:solidFill>
                  <a:srgbClr val="FF0000"/>
                </a:solidFill>
                <a:latin typeface="Arial"/>
                <a:cs typeface="Arial"/>
              </a:rPr>
              <a:t>10</a:t>
            </a:r>
            <a:r>
              <a:rPr dirty="0" spc="-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/>
              <a:t>atau</a:t>
            </a:r>
            <a:r>
              <a:rPr dirty="0" spc="-10"/>
              <a:t> </a:t>
            </a:r>
            <a:r>
              <a:rPr dirty="0"/>
              <a:t>sebagian</a:t>
            </a:r>
            <a:r>
              <a:rPr dirty="0" spc="10"/>
              <a:t> </a:t>
            </a:r>
            <a:r>
              <a:rPr dirty="0" spc="-35"/>
              <a:t>5.</a:t>
            </a:r>
          </a:p>
          <a:p>
            <a:pPr marL="520700" marR="109855" indent="-457834">
              <a:lnSpc>
                <a:spcPct val="100000"/>
              </a:lnSpc>
              <a:spcBef>
                <a:spcPts val="1200"/>
              </a:spcBef>
              <a:buChar char="•"/>
              <a:tabLst>
                <a:tab pos="520700" algn="l"/>
                <a:tab pos="521334" algn="l"/>
              </a:tabLst>
            </a:pPr>
            <a:r>
              <a:rPr dirty="0"/>
              <a:t>VIF</a:t>
            </a:r>
            <a:r>
              <a:rPr dirty="0" spc="-90"/>
              <a:t> </a:t>
            </a:r>
            <a:r>
              <a:rPr dirty="0"/>
              <a:t>diperoleh</a:t>
            </a:r>
            <a:r>
              <a:rPr dirty="0" spc="-40"/>
              <a:t> </a:t>
            </a:r>
            <a:r>
              <a:rPr dirty="0"/>
              <a:t>dari</a:t>
            </a:r>
            <a:r>
              <a:rPr dirty="0" spc="-110"/>
              <a:t> </a:t>
            </a:r>
            <a:r>
              <a:rPr dirty="0"/>
              <a:t>hasil</a:t>
            </a:r>
            <a:r>
              <a:rPr dirty="0" spc="-70"/>
              <a:t> </a:t>
            </a:r>
            <a:r>
              <a:rPr dirty="0"/>
              <a:t>regresi</a:t>
            </a:r>
            <a:r>
              <a:rPr dirty="0" spc="-90"/>
              <a:t> </a:t>
            </a:r>
            <a:r>
              <a:rPr dirty="0"/>
              <a:t>variabel</a:t>
            </a:r>
            <a:r>
              <a:rPr dirty="0" spc="-40"/>
              <a:t> </a:t>
            </a:r>
            <a:r>
              <a:rPr dirty="0"/>
              <a:t>INDEPENDEN</a:t>
            </a:r>
            <a:r>
              <a:rPr dirty="0" spc="-40"/>
              <a:t> </a:t>
            </a:r>
            <a:r>
              <a:rPr dirty="0"/>
              <a:t>tertetu</a:t>
            </a:r>
            <a:r>
              <a:rPr dirty="0" spc="-65"/>
              <a:t> </a:t>
            </a:r>
            <a:r>
              <a:rPr dirty="0" spc="-10"/>
              <a:t>terhadap </a:t>
            </a:r>
            <a:r>
              <a:rPr dirty="0"/>
              <a:t>variabel</a:t>
            </a:r>
            <a:r>
              <a:rPr dirty="0" spc="-20"/>
              <a:t> </a:t>
            </a:r>
            <a:r>
              <a:rPr dirty="0"/>
              <a:t>lain.</a:t>
            </a:r>
            <a:r>
              <a:rPr dirty="0" spc="-65"/>
              <a:t> </a:t>
            </a:r>
            <a:r>
              <a:rPr dirty="0"/>
              <a:t>Dari</a:t>
            </a:r>
            <a:r>
              <a:rPr dirty="0" spc="-55"/>
              <a:t> </a:t>
            </a:r>
            <a:r>
              <a:rPr dirty="0"/>
              <a:t>hasil</a:t>
            </a:r>
            <a:r>
              <a:rPr dirty="0" spc="-60"/>
              <a:t> </a:t>
            </a:r>
            <a:r>
              <a:rPr dirty="0"/>
              <a:t>regresi</a:t>
            </a:r>
            <a:r>
              <a:rPr dirty="0" spc="-60"/>
              <a:t> </a:t>
            </a:r>
            <a:r>
              <a:rPr dirty="0"/>
              <a:t>ini</a:t>
            </a:r>
            <a:r>
              <a:rPr dirty="0" spc="-60"/>
              <a:t> </a:t>
            </a:r>
            <a:r>
              <a:rPr dirty="0"/>
              <a:t>akan</a:t>
            </a:r>
            <a:r>
              <a:rPr dirty="0" spc="-65"/>
              <a:t> </a:t>
            </a:r>
            <a:r>
              <a:rPr dirty="0"/>
              <a:t>diperoleh</a:t>
            </a:r>
            <a:r>
              <a:rPr dirty="0" spc="-20"/>
              <a:t> </a:t>
            </a:r>
            <a:r>
              <a:rPr dirty="0"/>
              <a:t>R</a:t>
            </a:r>
            <a:r>
              <a:rPr dirty="0" baseline="26143" sz="2550"/>
              <a:t>2,</a:t>
            </a:r>
            <a:r>
              <a:rPr dirty="0" baseline="26143" sz="2550" spc="-30"/>
              <a:t> </a:t>
            </a:r>
            <a:r>
              <a:rPr dirty="0" sz="2600"/>
              <a:t>lalu</a:t>
            </a:r>
            <a:r>
              <a:rPr dirty="0" sz="2600" spc="-60"/>
              <a:t> </a:t>
            </a:r>
            <a:r>
              <a:rPr dirty="0" sz="2600"/>
              <a:t>dihitung</a:t>
            </a:r>
            <a:r>
              <a:rPr dirty="0" sz="2600" spc="-40"/>
              <a:t> </a:t>
            </a:r>
            <a:r>
              <a:rPr dirty="0" sz="2600" spc="-25"/>
              <a:t>VIF </a:t>
            </a:r>
            <a:r>
              <a:rPr dirty="0" sz="2600"/>
              <a:t>menggunakan</a:t>
            </a:r>
            <a:r>
              <a:rPr dirty="0" sz="2600" spc="5"/>
              <a:t> </a:t>
            </a:r>
            <a:r>
              <a:rPr dirty="0" sz="2600"/>
              <a:t>formula:</a:t>
            </a:r>
            <a:r>
              <a:rPr dirty="0" sz="2600" spc="-20"/>
              <a:t> (1)/(1-</a:t>
            </a:r>
            <a:r>
              <a:rPr dirty="0" sz="2600"/>
              <a:t>R</a:t>
            </a:r>
            <a:r>
              <a:rPr dirty="0" baseline="26143" sz="2550"/>
              <a:t>2</a:t>
            </a:r>
            <a:r>
              <a:rPr dirty="0" sz="2600"/>
              <a:t>).</a:t>
            </a:r>
            <a:r>
              <a:rPr dirty="0" sz="2600" spc="-50"/>
              <a:t> </a:t>
            </a:r>
            <a:r>
              <a:rPr dirty="0" sz="2600"/>
              <a:t>Bilai</a:t>
            </a:r>
            <a:r>
              <a:rPr dirty="0" sz="2600" spc="-55"/>
              <a:t> </a:t>
            </a:r>
            <a:r>
              <a:rPr dirty="0" sz="2600" b="1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dirty="0" baseline="26143" sz="2550" b="1">
                <a:solidFill>
                  <a:srgbClr val="FF0000"/>
                </a:solidFill>
                <a:latin typeface="Arial"/>
                <a:cs typeface="Arial"/>
              </a:rPr>
              <a:t>2</a:t>
            </a:r>
            <a:r>
              <a:rPr dirty="0" baseline="26143" sz="2550" spc="-22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600" b="1">
                <a:solidFill>
                  <a:srgbClr val="FF0000"/>
                </a:solidFill>
                <a:latin typeface="Arial"/>
                <a:cs typeface="Arial"/>
              </a:rPr>
              <a:t>90%,</a:t>
            </a:r>
            <a:r>
              <a:rPr dirty="0" sz="2600" spc="3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600"/>
              <a:t>maka</a:t>
            </a:r>
            <a:r>
              <a:rPr dirty="0" sz="2600" spc="-55"/>
              <a:t> </a:t>
            </a:r>
            <a:r>
              <a:rPr dirty="0" sz="2600"/>
              <a:t>VIF</a:t>
            </a:r>
            <a:r>
              <a:rPr dirty="0" sz="2600" spc="-55"/>
              <a:t> </a:t>
            </a:r>
            <a:r>
              <a:rPr dirty="0" sz="2600"/>
              <a:t>=</a:t>
            </a:r>
            <a:r>
              <a:rPr dirty="0" sz="2600" spc="-75"/>
              <a:t> </a:t>
            </a:r>
            <a:r>
              <a:rPr dirty="0" sz="2600" spc="-25"/>
              <a:t>10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0141" y="387807"/>
            <a:ext cx="4872355" cy="69532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0"/>
              <a:t>Multikolinearitas</a:t>
            </a:r>
            <a:r>
              <a:rPr dirty="0" spc="-105"/>
              <a:t> </a:t>
            </a:r>
            <a:r>
              <a:rPr dirty="0" spc="-50"/>
              <a:t>?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6957916" y="6549694"/>
            <a:ext cx="172085" cy="1924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435"/>
              </a:lnSpc>
            </a:pPr>
            <a:r>
              <a:rPr dirty="0" sz="1500" spc="10">
                <a:latin typeface="Calibri"/>
                <a:cs typeface="Calibri"/>
              </a:rPr>
              <a:t>@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15290" y="6308394"/>
            <a:ext cx="6417945" cy="4464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 sz="1500" spc="-10" b="1">
                <a:latin typeface="Calibri"/>
                <a:cs typeface="Calibri"/>
              </a:rPr>
              <a:t>Department</a:t>
            </a:r>
            <a:r>
              <a:rPr dirty="0" sz="1500" spc="-85" b="1">
                <a:latin typeface="Calibri"/>
                <a:cs typeface="Calibri"/>
              </a:rPr>
              <a:t> </a:t>
            </a:r>
            <a:r>
              <a:rPr dirty="0" sz="1500" b="1">
                <a:latin typeface="Calibri"/>
                <a:cs typeface="Calibri"/>
              </a:rPr>
              <a:t>of</a:t>
            </a:r>
            <a:r>
              <a:rPr dirty="0" sz="1500" spc="5" b="1">
                <a:latin typeface="Calibri"/>
                <a:cs typeface="Calibri"/>
              </a:rPr>
              <a:t> </a:t>
            </a:r>
            <a:r>
              <a:rPr dirty="0" sz="1500" b="1">
                <a:latin typeface="Calibri"/>
                <a:cs typeface="Calibri"/>
              </a:rPr>
              <a:t>Economics</a:t>
            </a:r>
            <a:r>
              <a:rPr dirty="0" sz="1500" spc="-25" b="1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| </a:t>
            </a:r>
            <a:r>
              <a:rPr dirty="0" sz="1500" spc="-10">
                <a:latin typeface="Calibri"/>
                <a:cs typeface="Calibri"/>
              </a:rPr>
              <a:t>Faculty</a:t>
            </a:r>
            <a:r>
              <a:rPr dirty="0" sz="1500" spc="-4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of</a:t>
            </a:r>
            <a:r>
              <a:rPr dirty="0" sz="1500" spc="-5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Economics</a:t>
            </a:r>
            <a:r>
              <a:rPr dirty="0" sz="1500" spc="-2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and</a:t>
            </a:r>
            <a:r>
              <a:rPr dirty="0" sz="1500" spc="-5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Management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500">
                <a:latin typeface="Segoe UI Symbol"/>
                <a:cs typeface="Segoe UI Symbol"/>
              </a:rPr>
              <a:t>☎</a:t>
            </a:r>
            <a:r>
              <a:rPr dirty="0" sz="1500" spc="-114">
                <a:latin typeface="Segoe UI Symbol"/>
                <a:cs typeface="Segoe UI Symbol"/>
              </a:rPr>
              <a:t> </a:t>
            </a:r>
            <a:r>
              <a:rPr dirty="0" sz="1500">
                <a:latin typeface="Calibri"/>
                <a:cs typeface="Calibri"/>
              </a:rPr>
              <a:t>+62</a:t>
            </a:r>
            <a:r>
              <a:rPr dirty="0" sz="1500" spc="-4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251</a:t>
            </a:r>
            <a:r>
              <a:rPr dirty="0" sz="1500" spc="-2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8626602</a:t>
            </a:r>
            <a:r>
              <a:rPr dirty="0" sz="1500" spc="245">
                <a:latin typeface="Calibri"/>
                <a:cs typeface="Calibri"/>
              </a:rPr>
              <a:t> </a:t>
            </a:r>
            <a:r>
              <a:rPr dirty="0" sz="1500">
                <a:latin typeface="Segoe UI Symbol"/>
                <a:cs typeface="Segoe UI Symbol"/>
              </a:rPr>
              <a:t>✉</a:t>
            </a:r>
            <a:r>
              <a:rPr dirty="0" sz="1500" spc="-105">
                <a:latin typeface="Segoe UI Symbol"/>
                <a:cs typeface="Segoe UI Symbol"/>
              </a:rPr>
              <a:t> </a:t>
            </a:r>
            <a:r>
              <a:rPr dirty="0" sz="1500">
                <a:latin typeface="Calibri"/>
                <a:cs typeface="Calibri"/>
                <a:hlinkClick r:id="rId2"/>
              </a:rPr>
              <a:t>ilmu_ekonomi@ipb.ac.id</a:t>
            </a:r>
            <a:r>
              <a:rPr dirty="0" sz="1500" spc="250">
                <a:latin typeface="Calibri"/>
                <a:cs typeface="Calibri"/>
              </a:rPr>
              <a:t> </a:t>
            </a:r>
            <a:r>
              <a:rPr dirty="0" sz="1500" b="1">
                <a:latin typeface="Segoe UI Symbol"/>
                <a:cs typeface="Segoe UI Symbol"/>
              </a:rPr>
              <a:t>🌐</a:t>
            </a:r>
            <a:r>
              <a:rPr dirty="0" sz="1500" spc="-100" b="1">
                <a:latin typeface="Segoe UI Symbol"/>
                <a:cs typeface="Segoe UI Symbol"/>
              </a:rPr>
              <a:t> </a:t>
            </a:r>
            <a:r>
              <a:rPr dirty="0" sz="1500" spc="-10">
                <a:latin typeface="Calibri"/>
                <a:cs typeface="Calibri"/>
                <a:hlinkClick r:id="rId3"/>
              </a:rPr>
              <a:t>http://ekonomi.fem.ipb.ac.id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 spc="-10"/>
              <a:t>dept.ieipb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56641" y="1126693"/>
            <a:ext cx="11241405" cy="48425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33400" marR="285115" indent="-457834">
              <a:lnSpc>
                <a:spcPct val="100000"/>
              </a:lnSpc>
              <a:spcBef>
                <a:spcPts val="95"/>
              </a:spcBef>
              <a:buChar char="•"/>
              <a:tabLst>
                <a:tab pos="533400" algn="l"/>
                <a:tab pos="534035" algn="l"/>
              </a:tabLst>
            </a:pPr>
            <a:r>
              <a:rPr dirty="0" sz="2600">
                <a:latin typeface="Arial"/>
                <a:cs typeface="Arial"/>
              </a:rPr>
              <a:t>Regresi</a:t>
            </a:r>
            <a:r>
              <a:rPr dirty="0" sz="2600" spc="-11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dengan</a:t>
            </a:r>
            <a:r>
              <a:rPr dirty="0" sz="2600" spc="-10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banyak</a:t>
            </a:r>
            <a:r>
              <a:rPr dirty="0" sz="2600" spc="-6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variabel</a:t>
            </a:r>
            <a:r>
              <a:rPr dirty="0" sz="2600" spc="-10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independen</a:t>
            </a:r>
            <a:r>
              <a:rPr dirty="0" sz="2600" spc="-6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sebenarnya</a:t>
            </a:r>
            <a:r>
              <a:rPr dirty="0" sz="2600" spc="-45">
                <a:latin typeface="Arial"/>
                <a:cs typeface="Arial"/>
              </a:rPr>
              <a:t> </a:t>
            </a:r>
            <a:r>
              <a:rPr dirty="0" sz="2600" spc="-10">
                <a:latin typeface="Arial"/>
                <a:cs typeface="Arial"/>
              </a:rPr>
              <a:t>dapat </a:t>
            </a:r>
            <a:r>
              <a:rPr dirty="0" sz="2600">
                <a:latin typeface="Arial"/>
                <a:cs typeface="Arial"/>
              </a:rPr>
              <a:t>menggunakan</a:t>
            </a:r>
            <a:r>
              <a:rPr dirty="0" sz="2600" spc="-2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ukuran</a:t>
            </a:r>
            <a:r>
              <a:rPr dirty="0" sz="2600" spc="-65">
                <a:latin typeface="Arial"/>
                <a:cs typeface="Arial"/>
              </a:rPr>
              <a:t> </a:t>
            </a:r>
            <a:r>
              <a:rPr dirty="0" sz="2600" spc="-20">
                <a:latin typeface="Arial"/>
                <a:cs typeface="Arial"/>
              </a:rPr>
              <a:t>adj-</a:t>
            </a:r>
            <a:r>
              <a:rPr dirty="0" sz="2600">
                <a:latin typeface="Arial"/>
                <a:cs typeface="Arial"/>
              </a:rPr>
              <a:t>R</a:t>
            </a:r>
            <a:r>
              <a:rPr dirty="0" baseline="26143" sz="2550">
                <a:latin typeface="Arial"/>
                <a:cs typeface="Arial"/>
              </a:rPr>
              <a:t>2</a:t>
            </a:r>
            <a:r>
              <a:rPr dirty="0" baseline="26143" sz="2550" spc="247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(ingat:</a:t>
            </a:r>
            <a:r>
              <a:rPr dirty="0" sz="2600" spc="-5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jika</a:t>
            </a:r>
            <a:r>
              <a:rPr dirty="0" sz="2600" spc="-8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variabel</a:t>
            </a:r>
            <a:r>
              <a:rPr dirty="0" sz="2600" spc="-4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independen</a:t>
            </a:r>
            <a:r>
              <a:rPr dirty="0" sz="2600" spc="-15">
                <a:latin typeface="Arial"/>
                <a:cs typeface="Arial"/>
              </a:rPr>
              <a:t> </a:t>
            </a:r>
            <a:r>
              <a:rPr dirty="0" sz="2600" spc="-10">
                <a:latin typeface="Arial"/>
                <a:cs typeface="Arial"/>
              </a:rPr>
              <a:t>ditambah, </a:t>
            </a:r>
            <a:r>
              <a:rPr dirty="0" sz="2600">
                <a:latin typeface="Arial"/>
                <a:cs typeface="Arial"/>
              </a:rPr>
              <a:t>maka</a:t>
            </a:r>
            <a:r>
              <a:rPr dirty="0" sz="2600" spc="-3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R</a:t>
            </a:r>
            <a:r>
              <a:rPr dirty="0" baseline="26143" sz="2550">
                <a:latin typeface="Arial"/>
                <a:cs typeface="Arial"/>
              </a:rPr>
              <a:t>2</a:t>
            </a:r>
            <a:r>
              <a:rPr dirty="0" baseline="26143" sz="2550" spc="322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akan</a:t>
            </a:r>
            <a:r>
              <a:rPr dirty="0" sz="2600" spc="-30">
                <a:latin typeface="Arial"/>
                <a:cs typeface="Arial"/>
              </a:rPr>
              <a:t> </a:t>
            </a:r>
            <a:r>
              <a:rPr dirty="0" sz="2600" spc="-10">
                <a:latin typeface="Arial"/>
                <a:cs typeface="Arial"/>
              </a:rPr>
              <a:t>naik)</a:t>
            </a:r>
            <a:endParaRPr sz="2600">
              <a:latin typeface="Arial"/>
              <a:cs typeface="Arial"/>
            </a:endParaRPr>
          </a:p>
          <a:p>
            <a:pPr marL="533400" marR="81280" indent="-457834">
              <a:lnSpc>
                <a:spcPct val="100000"/>
              </a:lnSpc>
              <a:spcBef>
                <a:spcPts val="1200"/>
              </a:spcBef>
              <a:buChar char="•"/>
              <a:tabLst>
                <a:tab pos="533400" algn="l"/>
                <a:tab pos="534035" algn="l"/>
              </a:tabLst>
            </a:pPr>
            <a:r>
              <a:rPr dirty="0" sz="2600">
                <a:latin typeface="Arial"/>
                <a:cs typeface="Arial"/>
              </a:rPr>
              <a:t>Kondisi</a:t>
            </a:r>
            <a:r>
              <a:rPr dirty="0" sz="2600" spc="-60">
                <a:latin typeface="Arial"/>
                <a:cs typeface="Arial"/>
              </a:rPr>
              <a:t> </a:t>
            </a:r>
            <a:r>
              <a:rPr dirty="0" sz="2600" spc="-10">
                <a:latin typeface="Arial"/>
                <a:cs typeface="Arial"/>
              </a:rPr>
              <a:t>multikolinearitas</a:t>
            </a:r>
            <a:r>
              <a:rPr dirty="0" sz="2600" spc="-3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menyebabkan </a:t>
            </a:r>
            <a:r>
              <a:rPr dirty="0" sz="2600" i="1">
                <a:latin typeface="Arial"/>
                <a:cs typeface="Arial"/>
              </a:rPr>
              <a:t>standard</a:t>
            </a:r>
            <a:r>
              <a:rPr dirty="0" sz="2600" spc="-45" i="1">
                <a:latin typeface="Arial"/>
                <a:cs typeface="Arial"/>
              </a:rPr>
              <a:t> </a:t>
            </a:r>
            <a:r>
              <a:rPr dirty="0" sz="2600" i="1">
                <a:latin typeface="Arial"/>
                <a:cs typeface="Arial"/>
              </a:rPr>
              <a:t>error</a:t>
            </a:r>
            <a:r>
              <a:rPr dirty="0" sz="2600" spc="-85" i="1">
                <a:latin typeface="Arial"/>
                <a:cs typeface="Arial"/>
              </a:rPr>
              <a:t> </a:t>
            </a:r>
            <a:r>
              <a:rPr dirty="0" sz="2600" i="1">
                <a:latin typeface="Arial"/>
                <a:cs typeface="Arial"/>
              </a:rPr>
              <a:t>of</a:t>
            </a:r>
            <a:r>
              <a:rPr dirty="0" sz="2600" spc="-85" i="1">
                <a:latin typeface="Arial"/>
                <a:cs typeface="Arial"/>
              </a:rPr>
              <a:t> </a:t>
            </a:r>
            <a:r>
              <a:rPr dirty="0" sz="2600" spc="-10" i="1">
                <a:latin typeface="Arial"/>
                <a:cs typeface="Arial"/>
              </a:rPr>
              <a:t>coefficient</a:t>
            </a:r>
            <a:r>
              <a:rPr dirty="0" sz="2600" spc="-10" i="1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semakin</a:t>
            </a:r>
            <a:r>
              <a:rPr dirty="0" sz="2600" spc="-95">
                <a:latin typeface="Arial"/>
                <a:cs typeface="Arial"/>
              </a:rPr>
              <a:t> </a:t>
            </a:r>
            <a:r>
              <a:rPr dirty="0" sz="2600" spc="-10">
                <a:latin typeface="Arial"/>
                <a:cs typeface="Arial"/>
              </a:rPr>
              <a:t>besar,</a:t>
            </a:r>
            <a:r>
              <a:rPr dirty="0" sz="2600" spc="-9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sehingga</a:t>
            </a:r>
            <a:r>
              <a:rPr dirty="0" sz="2600" spc="-10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mengurangi</a:t>
            </a:r>
            <a:r>
              <a:rPr dirty="0" sz="2600" spc="-6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kemungkinan</a:t>
            </a:r>
            <a:r>
              <a:rPr dirty="0" sz="2600" spc="-7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variabel</a:t>
            </a:r>
            <a:r>
              <a:rPr dirty="0" sz="2600" spc="-75">
                <a:latin typeface="Arial"/>
                <a:cs typeface="Arial"/>
              </a:rPr>
              <a:t> </a:t>
            </a:r>
            <a:r>
              <a:rPr dirty="0" sz="2600" spc="-10">
                <a:latin typeface="Arial"/>
                <a:cs typeface="Arial"/>
              </a:rPr>
              <a:t>independen </a:t>
            </a:r>
            <a:r>
              <a:rPr dirty="0" sz="2600">
                <a:latin typeface="Arial"/>
                <a:cs typeface="Arial"/>
              </a:rPr>
              <a:t>berpengaruh</a:t>
            </a:r>
            <a:r>
              <a:rPr dirty="0" sz="2600" spc="-5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nyata</a:t>
            </a:r>
            <a:r>
              <a:rPr dirty="0" sz="2600" spc="-7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secara</a:t>
            </a:r>
            <a:r>
              <a:rPr dirty="0" sz="2600" spc="-114">
                <a:latin typeface="Arial"/>
                <a:cs typeface="Arial"/>
              </a:rPr>
              <a:t> </a:t>
            </a:r>
            <a:r>
              <a:rPr dirty="0" sz="2600" spc="-10">
                <a:latin typeface="Arial"/>
                <a:cs typeface="Arial"/>
              </a:rPr>
              <a:t>statistika</a:t>
            </a:r>
            <a:endParaRPr sz="2600">
              <a:latin typeface="Arial"/>
              <a:cs typeface="Arial"/>
            </a:endParaRPr>
          </a:p>
          <a:p>
            <a:pPr algn="just" marL="533400" marR="118110" indent="-457834">
              <a:lnSpc>
                <a:spcPct val="100000"/>
              </a:lnSpc>
              <a:spcBef>
                <a:spcPts val="1205"/>
              </a:spcBef>
              <a:buChar char="•"/>
              <a:tabLst>
                <a:tab pos="534035" algn="l"/>
              </a:tabLst>
            </a:pPr>
            <a:r>
              <a:rPr dirty="0" sz="2600">
                <a:latin typeface="Arial"/>
                <a:cs typeface="Arial"/>
              </a:rPr>
              <a:t>Masalah</a:t>
            </a:r>
            <a:r>
              <a:rPr dirty="0" sz="2600" spc="-65">
                <a:latin typeface="Arial"/>
                <a:cs typeface="Arial"/>
              </a:rPr>
              <a:t> </a:t>
            </a:r>
            <a:r>
              <a:rPr dirty="0" sz="2600" spc="-10">
                <a:latin typeface="Arial"/>
                <a:cs typeface="Arial"/>
              </a:rPr>
              <a:t>multikolinearitas</a:t>
            </a:r>
            <a:r>
              <a:rPr dirty="0" sz="2600" spc="-6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dapat</a:t>
            </a:r>
            <a:r>
              <a:rPr dirty="0" sz="2600" spc="-8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dihilangkan</a:t>
            </a:r>
            <a:r>
              <a:rPr dirty="0" sz="2600" spc="-5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dengan</a:t>
            </a:r>
            <a:r>
              <a:rPr dirty="0" sz="2600" spc="-8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membuang</a:t>
            </a:r>
            <a:r>
              <a:rPr dirty="0" sz="2600" spc="-70">
                <a:latin typeface="Arial"/>
                <a:cs typeface="Arial"/>
              </a:rPr>
              <a:t> </a:t>
            </a:r>
            <a:r>
              <a:rPr dirty="0" sz="2600" spc="-10">
                <a:latin typeface="Arial"/>
                <a:cs typeface="Arial"/>
              </a:rPr>
              <a:t>variabel </a:t>
            </a:r>
            <a:r>
              <a:rPr dirty="0" sz="2600">
                <a:latin typeface="Arial"/>
                <a:cs typeface="Arial"/>
              </a:rPr>
              <a:t>yang</a:t>
            </a:r>
            <a:r>
              <a:rPr dirty="0" sz="2600" spc="-3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berkorelasi</a:t>
            </a:r>
            <a:r>
              <a:rPr dirty="0" sz="2600" spc="-5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tinggi.</a:t>
            </a:r>
            <a:r>
              <a:rPr dirty="0" sz="2600" spc="-5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Namun</a:t>
            </a:r>
            <a:r>
              <a:rPr dirty="0" sz="2600" spc="-6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perlu</a:t>
            </a:r>
            <a:r>
              <a:rPr dirty="0" sz="2600" spc="-7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diingat</a:t>
            </a:r>
            <a:r>
              <a:rPr dirty="0" sz="2600" spc="-5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ini</a:t>
            </a:r>
            <a:r>
              <a:rPr dirty="0" sz="2600" spc="-9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hanya</a:t>
            </a:r>
            <a:r>
              <a:rPr dirty="0" sz="2600" spc="-2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jika</a:t>
            </a:r>
            <a:r>
              <a:rPr dirty="0" sz="2600" spc="-8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variabel</a:t>
            </a:r>
            <a:r>
              <a:rPr dirty="0" sz="2600" spc="-30">
                <a:latin typeface="Arial"/>
                <a:cs typeface="Arial"/>
              </a:rPr>
              <a:t> </a:t>
            </a:r>
            <a:r>
              <a:rPr dirty="0" sz="2600" spc="-20">
                <a:latin typeface="Arial"/>
                <a:cs typeface="Arial"/>
              </a:rPr>
              <a:t>yang </a:t>
            </a:r>
            <a:r>
              <a:rPr dirty="0" sz="2600">
                <a:latin typeface="Arial"/>
                <a:cs typeface="Arial"/>
              </a:rPr>
              <a:t>dibuang</a:t>
            </a:r>
            <a:r>
              <a:rPr dirty="0" sz="2600" spc="-5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mempunyai</a:t>
            </a:r>
            <a:r>
              <a:rPr dirty="0" sz="2600" spc="-4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arti</a:t>
            </a:r>
            <a:r>
              <a:rPr dirty="0" sz="2600" spc="-8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ekonomi</a:t>
            </a:r>
            <a:r>
              <a:rPr dirty="0" sz="2600" spc="-6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yang</a:t>
            </a:r>
            <a:r>
              <a:rPr dirty="0" sz="2600" spc="-5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mirip</a:t>
            </a:r>
            <a:r>
              <a:rPr dirty="0" sz="2600" spc="-11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dengan</a:t>
            </a:r>
            <a:r>
              <a:rPr dirty="0" sz="2600" spc="-4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yang</a:t>
            </a:r>
            <a:r>
              <a:rPr dirty="0" sz="2600" spc="-50">
                <a:latin typeface="Arial"/>
                <a:cs typeface="Arial"/>
              </a:rPr>
              <a:t> </a:t>
            </a:r>
            <a:r>
              <a:rPr dirty="0" sz="2600" spc="-10">
                <a:latin typeface="Arial"/>
                <a:cs typeface="Arial"/>
              </a:rPr>
              <a:t>lainnya</a:t>
            </a:r>
            <a:endParaRPr sz="2600">
              <a:latin typeface="Arial"/>
              <a:cs typeface="Arial"/>
            </a:endParaRPr>
          </a:p>
          <a:p>
            <a:pPr algn="just" marL="533400" indent="-457834">
              <a:lnSpc>
                <a:spcPct val="100000"/>
              </a:lnSpc>
              <a:spcBef>
                <a:spcPts val="1205"/>
              </a:spcBef>
              <a:buChar char="•"/>
              <a:tabLst>
                <a:tab pos="534035" algn="l"/>
              </a:tabLst>
            </a:pPr>
            <a:r>
              <a:rPr dirty="0" sz="2600" spc="-20">
                <a:latin typeface="Arial"/>
                <a:cs typeface="Arial"/>
              </a:rPr>
              <a:t>Yang</a:t>
            </a:r>
            <a:r>
              <a:rPr dirty="0" sz="2600" spc="-4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tidak</a:t>
            </a:r>
            <a:r>
              <a:rPr dirty="0" sz="2600" spc="-8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boleh</a:t>
            </a:r>
            <a:r>
              <a:rPr dirty="0" sz="2600" spc="-6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jika</a:t>
            </a:r>
            <a:r>
              <a:rPr dirty="0" sz="2600" spc="-80">
                <a:latin typeface="Arial"/>
                <a:cs typeface="Arial"/>
              </a:rPr>
              <a:t> </a:t>
            </a:r>
            <a:r>
              <a:rPr dirty="0" sz="2600" b="1">
                <a:latin typeface="Arial"/>
                <a:cs typeface="Arial"/>
              </a:rPr>
              <a:t>berkorelasi</a:t>
            </a:r>
            <a:r>
              <a:rPr dirty="0" sz="2600" spc="-40" b="1">
                <a:latin typeface="Arial"/>
                <a:cs typeface="Arial"/>
              </a:rPr>
              <a:t> </a:t>
            </a:r>
            <a:r>
              <a:rPr dirty="0" sz="2600" b="1">
                <a:latin typeface="Arial"/>
                <a:cs typeface="Arial"/>
              </a:rPr>
              <a:t>sempurna</a:t>
            </a:r>
            <a:r>
              <a:rPr dirty="0" sz="2600" spc="-40" b="1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karena</a:t>
            </a:r>
            <a:r>
              <a:rPr dirty="0" sz="2600" spc="-6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matriks</a:t>
            </a:r>
            <a:r>
              <a:rPr dirty="0" sz="2600" spc="-75">
                <a:latin typeface="Arial"/>
                <a:cs typeface="Arial"/>
              </a:rPr>
              <a:t> </a:t>
            </a:r>
            <a:r>
              <a:rPr dirty="0" sz="2600" spc="-10" i="1">
                <a:latin typeface="Arial"/>
                <a:cs typeface="Arial"/>
              </a:rPr>
              <a:t>singular,</a:t>
            </a:r>
            <a:endParaRPr sz="2600">
              <a:latin typeface="Arial"/>
              <a:cs typeface="Arial"/>
            </a:endParaRPr>
          </a:p>
          <a:p>
            <a:pPr algn="just" marL="533400">
              <a:lnSpc>
                <a:spcPct val="100000"/>
              </a:lnSpc>
              <a:spcBef>
                <a:spcPts val="5"/>
              </a:spcBef>
            </a:pPr>
            <a:r>
              <a:rPr dirty="0" sz="2600">
                <a:latin typeface="Arial"/>
                <a:cs typeface="Arial"/>
              </a:rPr>
              <a:t>yaitu</a:t>
            </a:r>
            <a:r>
              <a:rPr dirty="0" sz="2600" spc="-4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determinan</a:t>
            </a:r>
            <a:r>
              <a:rPr dirty="0" sz="2600" spc="-2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=</a:t>
            </a:r>
            <a:r>
              <a:rPr dirty="0" sz="2600" spc="-6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nol</a:t>
            </a:r>
            <a:r>
              <a:rPr dirty="0" sz="2600" spc="-6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(ingat</a:t>
            </a:r>
            <a:r>
              <a:rPr dirty="0" sz="2600" spc="-6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rumus</a:t>
            </a:r>
            <a:r>
              <a:rPr dirty="0" sz="2600" spc="-65">
                <a:latin typeface="Arial"/>
                <a:cs typeface="Arial"/>
              </a:rPr>
              <a:t> </a:t>
            </a:r>
            <a:r>
              <a:rPr dirty="0" sz="2600" b="1">
                <a:latin typeface="Arial"/>
                <a:cs typeface="Arial"/>
              </a:rPr>
              <a:t>matriks</a:t>
            </a:r>
            <a:r>
              <a:rPr dirty="0" sz="2600" spc="-45" b="1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untuk</a:t>
            </a:r>
            <a:r>
              <a:rPr dirty="0" sz="2600" spc="-3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koefisien</a:t>
            </a:r>
            <a:r>
              <a:rPr dirty="0" sz="2600" spc="-25">
                <a:latin typeface="Arial"/>
                <a:cs typeface="Arial"/>
              </a:rPr>
              <a:t> </a:t>
            </a:r>
            <a:r>
              <a:rPr dirty="0" sz="2600" spc="-10">
                <a:latin typeface="Arial"/>
                <a:cs typeface="Arial"/>
              </a:rPr>
              <a:t>regresi)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930382" cy="44195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76104" y="137160"/>
            <a:ext cx="2081783" cy="542544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1523" y="6198108"/>
            <a:ext cx="9228455" cy="0"/>
          </a:xfrm>
          <a:custGeom>
            <a:avLst/>
            <a:gdLst/>
            <a:ahLst/>
            <a:cxnLst/>
            <a:rect l="l" t="t" r="r" b="b"/>
            <a:pathLst>
              <a:path w="9228455" h="0">
                <a:moveTo>
                  <a:pt x="0" y="0"/>
                </a:moveTo>
                <a:lnTo>
                  <a:pt x="9228201" y="0"/>
                </a:lnTo>
              </a:path>
            </a:pathLst>
          </a:custGeom>
          <a:ln w="39624">
            <a:solidFill>
              <a:srgbClr val="5B9B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6957916" y="6549694"/>
            <a:ext cx="172085" cy="1924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435"/>
              </a:lnSpc>
            </a:pPr>
            <a:r>
              <a:rPr dirty="0" sz="1500" spc="10">
                <a:latin typeface="Calibri"/>
                <a:cs typeface="Calibri"/>
              </a:rPr>
              <a:t>@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27990" y="6321094"/>
            <a:ext cx="7690484" cy="4210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435"/>
              </a:lnSpc>
            </a:pPr>
            <a:r>
              <a:rPr dirty="0" sz="1500" spc="-10" b="1">
                <a:latin typeface="Calibri"/>
                <a:cs typeface="Calibri"/>
              </a:rPr>
              <a:t>Department</a:t>
            </a:r>
            <a:r>
              <a:rPr dirty="0" sz="1500" spc="-85" b="1">
                <a:latin typeface="Calibri"/>
                <a:cs typeface="Calibri"/>
              </a:rPr>
              <a:t> </a:t>
            </a:r>
            <a:r>
              <a:rPr dirty="0" sz="1500" b="1">
                <a:latin typeface="Calibri"/>
                <a:cs typeface="Calibri"/>
              </a:rPr>
              <a:t>of</a:t>
            </a:r>
            <a:r>
              <a:rPr dirty="0" sz="1500" spc="5" b="1">
                <a:latin typeface="Calibri"/>
                <a:cs typeface="Calibri"/>
              </a:rPr>
              <a:t> </a:t>
            </a:r>
            <a:r>
              <a:rPr dirty="0" sz="1500" b="1">
                <a:latin typeface="Calibri"/>
                <a:cs typeface="Calibri"/>
              </a:rPr>
              <a:t>Economics</a:t>
            </a:r>
            <a:r>
              <a:rPr dirty="0" sz="1500" spc="-25" b="1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| </a:t>
            </a:r>
            <a:r>
              <a:rPr dirty="0" sz="1500" spc="-10">
                <a:latin typeface="Calibri"/>
                <a:cs typeface="Calibri"/>
              </a:rPr>
              <a:t>Faculty</a:t>
            </a:r>
            <a:r>
              <a:rPr dirty="0" sz="1500" spc="-4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of</a:t>
            </a:r>
            <a:r>
              <a:rPr dirty="0" sz="1500" spc="-5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Economics</a:t>
            </a:r>
            <a:r>
              <a:rPr dirty="0" sz="1500" spc="-2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and</a:t>
            </a:r>
            <a:r>
              <a:rPr dirty="0" sz="1500" spc="-5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Management</a:t>
            </a:r>
            <a:endParaRPr sz="1500">
              <a:latin typeface="Calibri"/>
              <a:cs typeface="Calibri"/>
            </a:endParaRPr>
          </a:p>
          <a:p>
            <a:pPr>
              <a:lnSpc>
                <a:spcPct val="100000"/>
              </a:lnSpc>
              <a:tabLst>
                <a:tab pos="6900545" algn="l"/>
              </a:tabLst>
            </a:pPr>
            <a:r>
              <a:rPr dirty="0" sz="1500">
                <a:latin typeface="Segoe UI Symbol"/>
                <a:cs typeface="Segoe UI Symbol"/>
              </a:rPr>
              <a:t>☎</a:t>
            </a:r>
            <a:r>
              <a:rPr dirty="0" sz="1500" spc="-114">
                <a:latin typeface="Segoe UI Symbol"/>
                <a:cs typeface="Segoe UI Symbol"/>
              </a:rPr>
              <a:t> </a:t>
            </a:r>
            <a:r>
              <a:rPr dirty="0" sz="1500">
                <a:latin typeface="Calibri"/>
                <a:cs typeface="Calibri"/>
              </a:rPr>
              <a:t>+62</a:t>
            </a:r>
            <a:r>
              <a:rPr dirty="0" sz="1500" spc="-4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251</a:t>
            </a:r>
            <a:r>
              <a:rPr dirty="0" sz="1500" spc="-2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8626602</a:t>
            </a:r>
            <a:r>
              <a:rPr dirty="0" sz="1500" spc="245">
                <a:latin typeface="Calibri"/>
                <a:cs typeface="Calibri"/>
              </a:rPr>
              <a:t> </a:t>
            </a:r>
            <a:r>
              <a:rPr dirty="0" sz="1500">
                <a:latin typeface="Segoe UI Symbol"/>
                <a:cs typeface="Segoe UI Symbol"/>
              </a:rPr>
              <a:t>✉</a:t>
            </a:r>
            <a:r>
              <a:rPr dirty="0" sz="1500" spc="-105">
                <a:latin typeface="Segoe UI Symbol"/>
                <a:cs typeface="Segoe UI Symbol"/>
              </a:rPr>
              <a:t> </a:t>
            </a:r>
            <a:r>
              <a:rPr dirty="0" sz="1500">
                <a:latin typeface="Calibri"/>
                <a:cs typeface="Calibri"/>
                <a:hlinkClick r:id="rId4"/>
              </a:rPr>
              <a:t>ilmu_ekonomi@ipb.ac.id</a:t>
            </a:r>
            <a:r>
              <a:rPr dirty="0" sz="1500" spc="250">
                <a:latin typeface="Calibri"/>
                <a:cs typeface="Calibri"/>
              </a:rPr>
              <a:t> </a:t>
            </a:r>
            <a:r>
              <a:rPr dirty="0" sz="1500" b="1">
                <a:latin typeface="Segoe UI Symbol"/>
                <a:cs typeface="Segoe UI Symbol"/>
              </a:rPr>
              <a:t>🌐</a:t>
            </a:r>
            <a:r>
              <a:rPr dirty="0" sz="1500" spc="-100" b="1">
                <a:latin typeface="Segoe UI Symbol"/>
                <a:cs typeface="Segoe UI Symbol"/>
              </a:rPr>
              <a:t> </a:t>
            </a:r>
            <a:r>
              <a:rPr dirty="0" sz="1500" spc="-10">
                <a:latin typeface="Calibri"/>
                <a:cs typeface="Calibri"/>
                <a:hlinkClick r:id="rId5"/>
              </a:rPr>
              <a:t>http://ekonomi.fem.ipb.ac.id</a:t>
            </a:r>
            <a:r>
              <a:rPr dirty="0" sz="1500">
                <a:latin typeface="Calibri"/>
                <a:cs typeface="Calibri"/>
              </a:rPr>
              <a:t>	</a:t>
            </a:r>
            <a:r>
              <a:rPr dirty="0" sz="1500" spc="-10">
                <a:latin typeface="Calibri"/>
                <a:cs typeface="Calibri"/>
              </a:rPr>
              <a:t>dept.ieipb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8" name="object 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98233" y="6511136"/>
              <a:ext cx="230428" cy="224942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0" y="0"/>
              <a:ext cx="12191999" cy="6857996"/>
            </a:xfrm>
            <a:prstGeom prst="rect">
              <a:avLst/>
            </a:prstGeom>
          </p:spPr>
        </p:pic>
      </p:grpSp>
      <p:sp>
        <p:nvSpPr>
          <p:cNvPr id="10" name="object 10" descr="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0"/>
                </a:moveTo>
                <a:lnTo>
                  <a:pt x="0" y="0"/>
                </a:lnTo>
                <a:lnTo>
                  <a:pt x="0" y="6857998"/>
                </a:lnTo>
                <a:lnTo>
                  <a:pt x="12191999" y="6857998"/>
                </a:lnTo>
                <a:lnTo>
                  <a:pt x="12191999" y="0"/>
                </a:lnTo>
                <a:close/>
              </a:path>
            </a:pathLst>
          </a:custGeom>
          <a:solidFill>
            <a:srgbClr val="FFFFFF">
              <a:alpha val="7097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3737228" y="4923282"/>
            <a:ext cx="3891279" cy="1397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Department</a:t>
            </a:r>
            <a:r>
              <a:rPr dirty="0" sz="1800" spc="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Economics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-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IPB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University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latin typeface="Calibri"/>
                <a:cs typeface="Calibri"/>
              </a:rPr>
              <a:t>IPB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Dramaga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Campus,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Bogor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16680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800" spc="-20">
                <a:latin typeface="Calibri"/>
                <a:cs typeface="Calibri"/>
              </a:rPr>
              <a:t>Telp.:</a:t>
            </a:r>
            <a:r>
              <a:rPr dirty="0" sz="1800" spc="-10">
                <a:latin typeface="Calibri"/>
                <a:cs typeface="Calibri"/>
              </a:rPr>
              <a:t> 0251-8622602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latin typeface="Calibri"/>
                <a:cs typeface="Calibri"/>
              </a:rPr>
              <a:t>E-mail: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  <a:hlinkClick r:id="rId4"/>
              </a:rPr>
              <a:t>ilmu_ekonomi@ipb.ac.id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600075" algn="l"/>
              </a:tabLst>
            </a:pPr>
            <a:r>
              <a:rPr dirty="0" sz="1800" spc="-25">
                <a:latin typeface="Calibri"/>
                <a:cs typeface="Calibri"/>
              </a:rPr>
              <a:t>Web</a:t>
            </a:r>
            <a:r>
              <a:rPr dirty="0" sz="1800">
                <a:latin typeface="Calibri"/>
                <a:cs typeface="Calibri"/>
              </a:rPr>
              <a:t>	: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  <a:hlinkClick r:id="rId8"/>
              </a:rPr>
              <a:t>http://ilmuekonomi.fem.pb.ac.id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2" name="object 12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97408" y="4785359"/>
            <a:ext cx="2481072" cy="1682495"/>
          </a:xfrm>
          <a:prstGeom prst="rect">
            <a:avLst/>
          </a:prstGeom>
        </p:spPr>
      </p:pic>
      <p:sp>
        <p:nvSpPr>
          <p:cNvPr id="13" name="object 13" descr=""/>
          <p:cNvSpPr/>
          <p:nvPr/>
        </p:nvSpPr>
        <p:spPr>
          <a:xfrm>
            <a:off x="3444240" y="4785359"/>
            <a:ext cx="0" cy="1684020"/>
          </a:xfrm>
          <a:custGeom>
            <a:avLst/>
            <a:gdLst/>
            <a:ahLst/>
            <a:cxnLst/>
            <a:rect l="l" t="t" r="r" b="b"/>
            <a:pathLst>
              <a:path w="0" h="1684020">
                <a:moveTo>
                  <a:pt x="0" y="0"/>
                </a:moveTo>
                <a:lnTo>
                  <a:pt x="0" y="168355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4" name="object 14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1667743" y="3179063"/>
            <a:ext cx="524255" cy="3678934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3076701" y="0"/>
            <a:ext cx="5507355" cy="118300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7600" spc="-275" i="1">
                <a:solidFill>
                  <a:srgbClr val="FF0000"/>
                </a:solidFill>
                <a:latin typeface="Arial Rounded MT Bold"/>
                <a:cs typeface="Arial Rounded MT Bold"/>
              </a:rPr>
              <a:t>Hatur</a:t>
            </a:r>
            <a:r>
              <a:rPr dirty="0" sz="7600" spc="-145" i="1">
                <a:solidFill>
                  <a:srgbClr val="FF0000"/>
                </a:solidFill>
                <a:latin typeface="Arial Rounded MT Bold"/>
                <a:cs typeface="Arial Rounded MT Bold"/>
              </a:rPr>
              <a:t> </a:t>
            </a:r>
            <a:r>
              <a:rPr dirty="0" sz="7600" spc="-300" i="1">
                <a:solidFill>
                  <a:srgbClr val="FF0000"/>
                </a:solidFill>
                <a:latin typeface="Arial Rounded MT Bold"/>
                <a:cs typeface="Arial Rounded MT Bold"/>
              </a:rPr>
              <a:t>nuhun</a:t>
            </a:r>
            <a:endParaRPr sz="7600">
              <a:latin typeface="Arial Rounded MT Bold"/>
              <a:cs typeface="Arial Rounded MT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Sri Retno Wahyu Nugraheni</dc:creator>
  <dc:title>PowerPoint Presentation</dc:title>
  <dcterms:created xsi:type="dcterms:W3CDTF">2024-09-29T05:06:01Z</dcterms:created>
  <dcterms:modified xsi:type="dcterms:W3CDTF">2024-09-29T05:06:01Z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2020-09-19T00:00:00Z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2024-09-29T00:00:00Z</vt:filetime>
  </property>
</Properties>
</file>