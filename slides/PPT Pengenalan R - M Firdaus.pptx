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390" r:id="rId3"/>
    <p:sldId id="406" r:id="rId4"/>
    <p:sldId id="407" r:id="rId5"/>
    <p:sldId id="434" r:id="rId6"/>
    <p:sldId id="408" r:id="rId7"/>
    <p:sldId id="409" r:id="rId8"/>
    <p:sldId id="410" r:id="rId9"/>
    <p:sldId id="411" r:id="rId10"/>
    <p:sldId id="421" r:id="rId11"/>
    <p:sldId id="439" r:id="rId12"/>
    <p:sldId id="440" r:id="rId13"/>
    <p:sldId id="438" r:id="rId14"/>
    <p:sldId id="436" r:id="rId15"/>
    <p:sldId id="437" r:id="rId16"/>
    <p:sldId id="36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50" autoAdjust="0"/>
    <p:restoredTop sz="94291" autoAdjust="0"/>
  </p:normalViewPr>
  <p:slideViewPr>
    <p:cSldViewPr snapToGrid="0">
      <p:cViewPr>
        <p:scale>
          <a:sx n="75" d="100"/>
          <a:sy n="75" d="100"/>
        </p:scale>
        <p:origin x="228" y="-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EA2C72-4039-4AC0-8453-6233B6775934}" type="datetimeFigureOut">
              <a:rPr lang="en-US" smtClean="0"/>
              <a:t>9/30/2022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0B243-5D0D-40B7-940C-120BF66BF7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776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0B243-5D0D-40B7-940C-120BF66BF7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9317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0B243-5D0D-40B7-940C-120BF66BF7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54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0B243-5D0D-40B7-940C-120BF66BF7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1305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B243-5D0D-40B7-940C-120BF66BF7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182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B243-5D0D-40B7-940C-120BF66BF7F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508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0B243-5D0D-40B7-940C-120BF66BF7F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71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04EC-A4E1-4B7C-9164-7FC1983687DA}" type="datetimeFigureOut">
              <a:rPr lang="en-US" smtClean="0"/>
              <a:t>9/30/2022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407C-B654-4645-A2B1-556B603E0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301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407C-B654-4645-A2B1-556B603E0D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13">
            <a:extLst>
              <a:ext uri="{FF2B5EF4-FFF2-40B4-BE49-F238E27FC236}">
                <a16:creationId xmlns:a16="http://schemas.microsoft.com/office/drawing/2014/main" id="{E3E8C3C2-9512-41D9-8EFB-5AB0E22B88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 flipH="1">
            <a:off x="4744432" y="-4744434"/>
            <a:ext cx="442678" cy="9931545"/>
          </a:xfrm>
          <a:prstGeom prst="rect">
            <a:avLst/>
          </a:prstGeom>
        </p:spPr>
      </p:pic>
      <p:pic>
        <p:nvPicPr>
          <p:cNvPr id="8" name="Content Placeholder 5">
            <a:extLst>
              <a:ext uri="{FF2B5EF4-FFF2-40B4-BE49-F238E27FC236}">
                <a16:creationId xmlns:a16="http://schemas.microsoft.com/office/drawing/2014/main" id="{4AC291A4-A780-4BC8-8AF3-D2E8544068D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6790" y="136525"/>
            <a:ext cx="2079783" cy="54442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A8682FE-8DCF-4B87-A138-AA71F880EC85}"/>
              </a:ext>
            </a:extLst>
          </p:cNvPr>
          <p:cNvCxnSpPr>
            <a:cxnSpLocks/>
          </p:cNvCxnSpPr>
          <p:nvPr userDrawn="1"/>
        </p:nvCxnSpPr>
        <p:spPr>
          <a:xfrm>
            <a:off x="-3" y="6195810"/>
            <a:ext cx="9228224" cy="0"/>
          </a:xfrm>
          <a:prstGeom prst="line">
            <a:avLst/>
          </a:prstGeom>
          <a:ln w="3810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997FF6E-BA6A-49EF-8766-07CED1471F9A}"/>
              </a:ext>
            </a:extLst>
          </p:cNvPr>
          <p:cNvSpPr txBox="1"/>
          <p:nvPr userDrawn="1"/>
        </p:nvSpPr>
        <p:spPr>
          <a:xfrm>
            <a:off x="136483" y="6236752"/>
            <a:ext cx="89392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/>
              <a:t>Department of Economics </a:t>
            </a:r>
            <a:r>
              <a:rPr lang="en-US" sz="1500"/>
              <a:t>| Faculty of Economics and Management</a:t>
            </a:r>
          </a:p>
          <a:p>
            <a:r>
              <a:rPr lang="en-US" sz="1500"/>
              <a:t>☎ +62 251 8626602  ✉ ilmu_ekonomi@ipb.ac.id  </a:t>
            </a:r>
            <a:r>
              <a:rPr lang="en-US" sz="1500" b="1"/>
              <a:t>🌐 </a:t>
            </a:r>
            <a:r>
              <a:rPr lang="en-US" sz="1500"/>
              <a:t>http://ekonomi.fem.ipb.ac.id        @dept.ieipb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1C7A538-6D79-4739-B6A1-3D596722B351}"/>
              </a:ext>
            </a:extLst>
          </p:cNvPr>
          <p:cNvPicPr/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480" y="6490037"/>
            <a:ext cx="274320" cy="27432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62363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9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04EC-A4E1-4B7C-9164-7FC1983687DA}" type="datetimeFigureOut">
              <a:rPr lang="en-US" smtClean="0"/>
              <a:t>9/30/2022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407C-B654-4645-A2B1-556B603E0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23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04EC-A4E1-4B7C-9164-7FC1983687DA}" type="datetimeFigureOut">
              <a:rPr lang="en-US" smtClean="0"/>
              <a:t>9/30/2022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407C-B654-4645-A2B1-556B603E0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76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04EC-A4E1-4B7C-9164-7FC1983687DA}" type="datetimeFigureOut">
              <a:rPr lang="en-US" smtClean="0"/>
              <a:t>9/30/2022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407C-B654-4645-A2B1-556B603E0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677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04EC-A4E1-4B7C-9164-7FC1983687DA}" type="datetimeFigureOut">
              <a:rPr lang="en-US" smtClean="0"/>
              <a:t>9/30/2022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407C-B654-4645-A2B1-556B603E0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417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04EC-A4E1-4B7C-9164-7FC1983687DA}" type="datetimeFigureOut">
              <a:rPr lang="en-US" smtClean="0"/>
              <a:t>9/30/2022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407C-B654-4645-A2B1-556B603E0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527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04EC-A4E1-4B7C-9164-7FC1983687DA}" type="datetimeFigureOut">
              <a:rPr lang="en-US" smtClean="0"/>
              <a:t>9/30/2022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407C-B654-4645-A2B1-556B603E0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328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04EC-A4E1-4B7C-9164-7FC1983687DA}" type="datetimeFigureOut">
              <a:rPr lang="en-US" smtClean="0"/>
              <a:t>9/30/2022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407C-B654-4645-A2B1-556B603E0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534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04EC-A4E1-4B7C-9164-7FC1983687DA}" type="datetimeFigureOut">
              <a:rPr lang="en-US" smtClean="0"/>
              <a:t>9/30/2022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407C-B654-4645-A2B1-556B603E0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331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04EC-A4E1-4B7C-9164-7FC1983687DA}" type="datetimeFigureOut">
              <a:rPr lang="en-US" smtClean="0"/>
              <a:t>9/30/2022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407C-B654-4645-A2B1-556B603E0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687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1004EC-A4E1-4B7C-9164-7FC1983687DA}" type="datetimeFigureOut">
              <a:rPr lang="en-US" smtClean="0"/>
              <a:t>9/30/2022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5407C-B654-4645-A2B1-556B603E0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6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rstudio.com/products/rstudio/download/#download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markdown.rstudio.com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0F47527-0B1C-4661-8BBD-3CB960B3D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33" y="732165"/>
            <a:ext cx="380047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16711" y="5111111"/>
            <a:ext cx="7516863" cy="42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16510" algn="ctr">
              <a:lnSpc>
                <a:spcPct val="107000"/>
              </a:lnSpc>
              <a:spcBef>
                <a:spcPts val="5"/>
              </a:spcBef>
              <a:spcAft>
                <a:spcPts val="800"/>
              </a:spcAft>
            </a:pPr>
            <a:endParaRPr lang="en-US" sz="2000" b="1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5">
            <a:extLst>
              <a:ext uri="{FF2B5EF4-FFF2-40B4-BE49-F238E27FC236}">
                <a16:creationId xmlns:a16="http://schemas.microsoft.com/office/drawing/2014/main" id="{3061932A-E98F-46C1-B2E8-FBACE3A55E6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9008" y="39380"/>
            <a:ext cx="3584091" cy="93819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D9E32BE-C698-4E0C-BFE4-AC450538B959}"/>
              </a:ext>
            </a:extLst>
          </p:cNvPr>
          <p:cNvSpPr/>
          <p:nvPr/>
        </p:nvSpPr>
        <p:spPr>
          <a:xfrm>
            <a:off x="0" y="6465194"/>
            <a:ext cx="12192000" cy="392806"/>
          </a:xfrm>
          <a:prstGeom prst="rect">
            <a:avLst/>
          </a:prstGeom>
          <a:solidFill>
            <a:srgbClr val="243B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Subtitle 2"/>
          <p:cNvSpPr txBox="1">
            <a:spLocks/>
          </p:cNvSpPr>
          <p:nvPr/>
        </p:nvSpPr>
        <p:spPr>
          <a:xfrm>
            <a:off x="4205800" y="5979581"/>
            <a:ext cx="4586508" cy="39280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endParaRPr lang="en-US" b="1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9" name="Straight Connector 28"/>
          <p:cNvCxnSpPr/>
          <p:nvPr/>
        </p:nvCxnSpPr>
        <p:spPr>
          <a:xfrm>
            <a:off x="4205800" y="4281270"/>
            <a:ext cx="759510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AutoShape 2" descr="Hasil gambar untuk kacang hijau indah"/>
          <p:cNvSpPr>
            <a:spLocks noChangeAspect="1" noChangeArrowheads="1"/>
          </p:cNvSpPr>
          <p:nvPr/>
        </p:nvSpPr>
        <p:spPr bwMode="auto">
          <a:xfrm>
            <a:off x="4739894" y="39530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31" name="AutoShape 2" descr="Hasil gambar untuk produk ekspor sapi indonesia"/>
          <p:cNvSpPr>
            <a:spLocks noChangeAspect="1" noChangeArrowheads="1"/>
          </p:cNvSpPr>
          <p:nvPr/>
        </p:nvSpPr>
        <p:spPr bwMode="auto">
          <a:xfrm>
            <a:off x="4892294" y="82510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32" name="Rectangle 31"/>
          <p:cNvSpPr/>
          <p:nvPr/>
        </p:nvSpPr>
        <p:spPr>
          <a:xfrm>
            <a:off x="4205800" y="3485408"/>
            <a:ext cx="5312032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3200" b="1" dirty="0">
                <a:ea typeface="Calibri" panose="020F0502020204030204" pitchFamily="34" charset="0"/>
                <a:cs typeface="Arial" panose="020B0604020202020204" pitchFamily="34" charset="0"/>
              </a:rPr>
              <a:t>Prof M Firdaus</a:t>
            </a:r>
          </a:p>
          <a:p>
            <a:endParaRPr lang="en-US" sz="2800" b="1" dirty="0">
              <a:cs typeface="Arial" panose="020B0604020202020204" pitchFamily="34" charset="0"/>
            </a:endParaRPr>
          </a:p>
          <a:p>
            <a:r>
              <a:rPr lang="en-US" sz="2800" b="1" dirty="0" err="1">
                <a:cs typeface="Arial" panose="020B0604020202020204" pitchFamily="34" charset="0"/>
              </a:rPr>
              <a:t>Departemen</a:t>
            </a:r>
            <a:r>
              <a:rPr lang="en-US" sz="2800" b="1" dirty="0">
                <a:cs typeface="Arial" panose="020B0604020202020204" pitchFamily="34" charset="0"/>
              </a:rPr>
              <a:t> </a:t>
            </a:r>
            <a:r>
              <a:rPr lang="en-US" sz="2800" b="1" dirty="0" err="1">
                <a:cs typeface="Arial" panose="020B0604020202020204" pitchFamily="34" charset="0"/>
              </a:rPr>
              <a:t>Ilmu</a:t>
            </a:r>
            <a:r>
              <a:rPr lang="en-US" sz="2800" b="1" dirty="0">
                <a:cs typeface="Arial" panose="020B0604020202020204" pitchFamily="34" charset="0"/>
              </a:rPr>
              <a:t> </a:t>
            </a:r>
            <a:r>
              <a:rPr lang="en-US" sz="2800" b="1" dirty="0" err="1">
                <a:cs typeface="Arial" panose="020B0604020202020204" pitchFamily="34" charset="0"/>
              </a:rPr>
              <a:t>Ekonomi</a:t>
            </a:r>
            <a:endParaRPr lang="en-US" sz="2800" b="1" dirty="0">
              <a:cs typeface="Arial" panose="020B0604020202020204" pitchFamily="34" charset="0"/>
            </a:endParaRPr>
          </a:p>
          <a:p>
            <a:r>
              <a:rPr lang="en-US" sz="2800" b="1" dirty="0" err="1">
                <a:cs typeface="Arial" panose="020B0604020202020204" pitchFamily="34" charset="0"/>
              </a:rPr>
              <a:t>Fakultas</a:t>
            </a:r>
            <a:r>
              <a:rPr lang="en-US" sz="2800" b="1" dirty="0">
                <a:cs typeface="Arial" panose="020B0604020202020204" pitchFamily="34" charset="0"/>
              </a:rPr>
              <a:t> </a:t>
            </a:r>
            <a:r>
              <a:rPr lang="en-US" sz="2800" b="1" dirty="0" err="1">
                <a:cs typeface="Arial" panose="020B0604020202020204" pitchFamily="34" charset="0"/>
              </a:rPr>
              <a:t>Ekonomi</a:t>
            </a:r>
            <a:r>
              <a:rPr lang="en-US" sz="2800" b="1" dirty="0">
                <a:cs typeface="Arial" panose="020B0604020202020204" pitchFamily="34" charset="0"/>
              </a:rPr>
              <a:t> </a:t>
            </a:r>
            <a:r>
              <a:rPr lang="en-US" sz="2800" b="1" dirty="0" err="1">
                <a:cs typeface="Arial" panose="020B0604020202020204" pitchFamily="34" charset="0"/>
              </a:rPr>
              <a:t>dan</a:t>
            </a:r>
            <a:r>
              <a:rPr lang="en-US" sz="2800" b="1" dirty="0">
                <a:cs typeface="Arial" panose="020B0604020202020204" pitchFamily="34" charset="0"/>
              </a:rPr>
              <a:t> </a:t>
            </a:r>
            <a:r>
              <a:rPr lang="en-US" sz="2800" b="1" dirty="0" err="1">
                <a:cs typeface="Arial" panose="020B0604020202020204" pitchFamily="34" charset="0"/>
              </a:rPr>
              <a:t>Manajemen</a:t>
            </a:r>
            <a:endParaRPr lang="en-US" sz="2800" b="1" dirty="0">
              <a:cs typeface="Arial" panose="020B0604020202020204" pitchFamily="34" charset="0"/>
            </a:endParaRPr>
          </a:p>
          <a:p>
            <a:r>
              <a:rPr lang="en-US" sz="2800" b="1" dirty="0" err="1">
                <a:cs typeface="Arial" panose="020B0604020202020204" pitchFamily="34" charset="0"/>
              </a:rPr>
              <a:t>Institut</a:t>
            </a:r>
            <a:r>
              <a:rPr lang="en-US" sz="2800" b="1" dirty="0">
                <a:cs typeface="Arial" panose="020B0604020202020204" pitchFamily="34" charset="0"/>
              </a:rPr>
              <a:t> </a:t>
            </a:r>
            <a:r>
              <a:rPr lang="en-US" sz="2800" b="1" dirty="0" err="1">
                <a:cs typeface="Arial" panose="020B0604020202020204" pitchFamily="34" charset="0"/>
              </a:rPr>
              <a:t>Pertanian</a:t>
            </a:r>
            <a:r>
              <a:rPr lang="en-US" sz="2800" b="1" dirty="0">
                <a:cs typeface="Arial" panose="020B0604020202020204" pitchFamily="34" charset="0"/>
              </a:rPr>
              <a:t> Bogor</a:t>
            </a:r>
            <a:endParaRPr lang="id-ID" sz="2800" dirty="0">
              <a:cs typeface="Arial" panose="020B0604020202020204" pitchFamily="34" charset="0"/>
            </a:endParaRPr>
          </a:p>
        </p:txBody>
      </p:sp>
      <p:sp>
        <p:nvSpPr>
          <p:cNvPr id="33" name="Title 1"/>
          <p:cNvSpPr txBox="1">
            <a:spLocks/>
          </p:cNvSpPr>
          <p:nvPr/>
        </p:nvSpPr>
        <p:spPr>
          <a:xfrm>
            <a:off x="4205800" y="1156388"/>
            <a:ext cx="7860155" cy="91315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US" sz="5400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id-ID" sz="54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Pengantar R-Studio</a:t>
            </a:r>
            <a:endParaRPr lang="en-US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itle 1"/>
          <p:cNvSpPr txBox="1">
            <a:spLocks/>
          </p:cNvSpPr>
          <p:nvPr/>
        </p:nvSpPr>
        <p:spPr>
          <a:xfrm>
            <a:off x="120076" y="-37873"/>
            <a:ext cx="10917446" cy="91315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Ekonometrika</a:t>
            </a:r>
            <a:endParaRPr lang="en-US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47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79853-5E67-4268-A383-8AA079E96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2" y="225874"/>
            <a:ext cx="11189413" cy="1325563"/>
          </a:xfrm>
        </p:spPr>
        <p:txBody>
          <a:bodyPr/>
          <a:lstStyle/>
          <a:p>
            <a:r>
              <a:rPr lang="id-ID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Pengenalan R</a:t>
            </a:r>
            <a:r>
              <a:rPr lang="en-US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-Studio</a:t>
            </a:r>
            <a:endParaRPr lang="en-ID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41443" y="1601047"/>
            <a:ext cx="6781150" cy="2277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 err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Pengenalan</a:t>
            </a:r>
            <a:r>
              <a:rPr lang="en-US" sz="28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software R-Studio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 err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Bagaimana</a:t>
            </a:r>
            <a:r>
              <a:rPr lang="en-US" sz="28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cara</a:t>
            </a:r>
            <a:r>
              <a:rPr lang="en-US" sz="28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kerja</a:t>
            </a:r>
            <a:r>
              <a:rPr lang="en-US" sz="28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R-Studio?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Markdown di R-Studio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 err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Contoh</a:t>
            </a:r>
            <a:r>
              <a:rPr lang="en-US" sz="28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Analisis</a:t>
            </a:r>
            <a:r>
              <a:rPr lang="en-US" sz="28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di R-Studio</a:t>
            </a:r>
          </a:p>
        </p:txBody>
      </p:sp>
    </p:spTree>
    <p:extLst>
      <p:ext uri="{BB962C8B-B14F-4D97-AF65-F5344CB8AC3E}">
        <p14:creationId xmlns:p14="http://schemas.microsoft.com/office/powerpoint/2010/main" val="2523998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79853-5E67-4268-A383-8AA079E96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2" y="121702"/>
            <a:ext cx="11189413" cy="1325563"/>
          </a:xfrm>
        </p:spPr>
        <p:txBody>
          <a:bodyPr/>
          <a:lstStyle/>
          <a:p>
            <a:r>
              <a:rPr lang="en-ID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Pengenalan</a:t>
            </a:r>
            <a:r>
              <a:rPr lang="en-ID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Software R-Studio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1442" y="1447265"/>
            <a:ext cx="11709116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R-Studio </a:t>
            </a:r>
            <a:r>
              <a:rPr lang="en-US" sz="2800" dirty="0" err="1"/>
              <a:t>adalah</a:t>
            </a:r>
            <a:r>
              <a:rPr lang="en-US" sz="2800" dirty="0"/>
              <a:t> </a:t>
            </a:r>
            <a:r>
              <a:rPr lang="en-US" sz="2800" b="1" i="1" dirty="0"/>
              <a:t>free software</a:t>
            </a:r>
            <a:r>
              <a:rPr lang="en-US" sz="2800" b="1" i="0" dirty="0"/>
              <a:t> </a:t>
            </a:r>
            <a:r>
              <a:rPr lang="en-US" sz="2800" i="0" dirty="0"/>
              <a:t>untuk </a:t>
            </a:r>
            <a:r>
              <a:rPr lang="en-US" sz="2800" i="0" dirty="0" err="1"/>
              <a:t>analisis</a:t>
            </a:r>
            <a:r>
              <a:rPr lang="en-US" sz="2800" i="0" dirty="0"/>
              <a:t> data dan </a:t>
            </a:r>
            <a:r>
              <a:rPr lang="en-US" sz="2800" i="0" dirty="0" err="1"/>
              <a:t>grafik</a:t>
            </a:r>
            <a:r>
              <a:rPr lang="en-US" sz="2800" i="0" dirty="0"/>
              <a:t> yang </a:t>
            </a:r>
            <a:r>
              <a:rPr lang="en-US" sz="2800" i="0" dirty="0" err="1"/>
              <a:t>didasarkan</a:t>
            </a:r>
            <a:r>
              <a:rPr lang="en-US" sz="2800" i="0" dirty="0"/>
              <a:t> pada </a:t>
            </a:r>
            <a:r>
              <a:rPr lang="en-US" sz="2800" i="0" dirty="0" err="1"/>
              <a:t>bahasa</a:t>
            </a:r>
            <a:r>
              <a:rPr lang="en-US" sz="2800" i="0" dirty="0"/>
              <a:t> </a:t>
            </a:r>
            <a:r>
              <a:rPr lang="en-US" sz="2800" i="0" dirty="0" err="1"/>
              <a:t>pemograman</a:t>
            </a:r>
            <a:r>
              <a:rPr lang="en-US" sz="2800" i="0" dirty="0"/>
              <a:t> 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R </a:t>
            </a:r>
            <a:r>
              <a:rPr lang="en-US" sz="2800" dirty="0" err="1"/>
              <a:t>merupakan</a:t>
            </a:r>
            <a:r>
              <a:rPr lang="en-US" sz="2800" dirty="0"/>
              <a:t> </a:t>
            </a:r>
            <a:r>
              <a:rPr lang="en-US" sz="2800" dirty="0" err="1"/>
              <a:t>bahasa</a:t>
            </a:r>
            <a:r>
              <a:rPr lang="en-US" sz="2800" dirty="0"/>
              <a:t> </a:t>
            </a:r>
            <a:r>
              <a:rPr lang="en-US" sz="2800" dirty="0" err="1"/>
              <a:t>pemograman</a:t>
            </a:r>
            <a:r>
              <a:rPr lang="en-US" sz="2800" dirty="0"/>
              <a:t> </a:t>
            </a:r>
            <a:r>
              <a:rPr lang="en-US" sz="2800" dirty="0" err="1"/>
              <a:t>tingkat</a:t>
            </a:r>
            <a:r>
              <a:rPr lang="en-US" sz="2800" dirty="0"/>
              <a:t> </a:t>
            </a:r>
            <a:r>
              <a:rPr lang="en-US" sz="2800" dirty="0" err="1"/>
              <a:t>tinggi</a:t>
            </a:r>
            <a:r>
              <a:rPr lang="en-US" sz="2800" dirty="0"/>
              <a:t> (</a:t>
            </a:r>
            <a:r>
              <a:rPr lang="en-US" sz="2800" b="1" i="1" dirty="0"/>
              <a:t>high level programming</a:t>
            </a:r>
            <a:r>
              <a:rPr lang="en-US" sz="2800" i="1" dirty="0"/>
              <a:t>)</a:t>
            </a:r>
            <a:endParaRPr lang="en-US" sz="2800" dirty="0"/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 err="1"/>
              <a:t>Dibuat</a:t>
            </a:r>
            <a:r>
              <a:rPr lang="en-US" sz="2800" dirty="0"/>
              <a:t> oleh Ross Ihaka dan Robert Gentleman, dan </a:t>
            </a:r>
            <a:r>
              <a:rPr lang="en-US" sz="2800" dirty="0" err="1"/>
              <a:t>hingga</a:t>
            </a:r>
            <a:r>
              <a:rPr lang="en-US" sz="2800" dirty="0"/>
              <a:t> </a:t>
            </a:r>
            <a:r>
              <a:rPr lang="en-US" sz="2800" dirty="0" err="1"/>
              <a:t>saat</a:t>
            </a:r>
            <a:r>
              <a:rPr lang="en-US" sz="2800" dirty="0"/>
              <a:t>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terus</a:t>
            </a:r>
            <a:r>
              <a:rPr lang="en-US" sz="2800" dirty="0"/>
              <a:t> </a:t>
            </a:r>
            <a:r>
              <a:rPr lang="en-US" sz="2800" dirty="0" err="1"/>
              <a:t>dikembangkan</a:t>
            </a:r>
            <a:r>
              <a:rPr lang="en-US" sz="2800" dirty="0"/>
              <a:t> oleh R Development Core Team dan juga Microsoft </a:t>
            </a:r>
            <a:r>
              <a:rPr lang="en-US" sz="2800" dirty="0" err="1"/>
              <a:t>untuk</a:t>
            </a:r>
            <a:r>
              <a:rPr lang="en-US" sz="2800" dirty="0"/>
              <a:t> Microsoft R Open.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i="1" dirty="0"/>
              <a:t>Installer software</a:t>
            </a:r>
            <a:r>
              <a:rPr lang="en-US" sz="2800" dirty="0"/>
              <a:t> </a:t>
            </a:r>
            <a:r>
              <a:rPr lang="en-US" sz="2800" dirty="0" err="1"/>
              <a:t>dapat</a:t>
            </a:r>
            <a:r>
              <a:rPr lang="en-US" sz="2800" dirty="0"/>
              <a:t> di </a:t>
            </a:r>
            <a:r>
              <a:rPr lang="en-US" sz="2800" dirty="0" err="1"/>
              <a:t>unduh</a:t>
            </a:r>
            <a:r>
              <a:rPr lang="en-US" sz="2800" dirty="0"/>
              <a:t> pada </a:t>
            </a:r>
            <a:r>
              <a:rPr lang="en-US" sz="2800" dirty="0" err="1"/>
              <a:t>alamat</a:t>
            </a:r>
            <a:r>
              <a:rPr lang="en-US" sz="2800" dirty="0"/>
              <a:t>: </a:t>
            </a:r>
            <a:br>
              <a:rPr lang="en-US" sz="2800" dirty="0"/>
            </a:br>
            <a:r>
              <a:rPr lang="id-ID" sz="2800" b="1" dirty="0"/>
              <a:t>R - </a:t>
            </a:r>
            <a:r>
              <a:rPr lang="en-US" sz="2800" u="sng" dirty="0">
                <a:solidFill>
                  <a:srgbClr val="0070C0"/>
                </a:solidFill>
              </a:rPr>
              <a:t>https://cran.r-project.org/bin/windows/base/</a:t>
            </a:r>
            <a:endParaRPr lang="id-ID" sz="2800" u="sng" dirty="0">
              <a:solidFill>
                <a:srgbClr val="0070C0"/>
              </a:solidFill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id-ID" sz="2800" b="1" dirty="0"/>
              <a:t>R- Studio</a:t>
            </a:r>
            <a:r>
              <a:rPr lang="id-ID" sz="2800" dirty="0"/>
              <a:t> - </a:t>
            </a:r>
            <a:r>
              <a:rPr lang="en-US" sz="2800" i="0" dirty="0">
                <a:hlinkClick r:id="rId3"/>
              </a:rPr>
              <a:t>https://rstudio.com/products/rstudio/download/#download</a:t>
            </a:r>
            <a:endParaRPr lang="id-ID" sz="2800" i="0" dirty="0"/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GB" sz="2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956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55EE154-7414-492F-81E8-F32DCF478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2" y="121702"/>
            <a:ext cx="11189413" cy="1325563"/>
          </a:xfrm>
        </p:spPr>
        <p:txBody>
          <a:bodyPr/>
          <a:lstStyle/>
          <a:p>
            <a:r>
              <a:rPr lang="en-ID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Pengenalan</a:t>
            </a:r>
            <a:r>
              <a:rPr lang="en-ID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Software R-Studio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68CE08-7970-4BAD-B134-1F319DAB75A9}"/>
              </a:ext>
            </a:extLst>
          </p:cNvPr>
          <p:cNvSpPr/>
          <p:nvPr/>
        </p:nvSpPr>
        <p:spPr>
          <a:xfrm>
            <a:off x="241442" y="1447265"/>
            <a:ext cx="11434743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175" lvl="1" defTabSz="914400">
              <a:spcAft>
                <a:spcPts val="1200"/>
              </a:spcAft>
            </a:pPr>
            <a:r>
              <a:rPr lang="en-US" sz="2800" b="1"/>
              <a:t>KELEBIHAN</a:t>
            </a:r>
          </a:p>
          <a:p>
            <a:pPr marL="519113" lvl="1" indent="-515938" defTabSz="914400">
              <a:buFont typeface="Arial" panose="020B0604020202020204" pitchFamily="34" charset="0"/>
              <a:buChar char="•"/>
            </a:pPr>
            <a:r>
              <a:rPr lang="en-US" sz="2800" i="1"/>
              <a:t>Open source</a:t>
            </a:r>
          </a:p>
          <a:p>
            <a:pPr marL="519113" lvl="1" indent="-515938" defTabSz="914400">
              <a:buFont typeface="Arial" panose="020B0604020202020204" pitchFamily="34" charset="0"/>
              <a:buChar char="•"/>
            </a:pPr>
            <a:r>
              <a:rPr lang="en-US" sz="2800"/>
              <a:t>Efektif dalam penanganan, pengolahan, dan penyimpanan data.</a:t>
            </a:r>
          </a:p>
          <a:p>
            <a:pPr marL="519113" lvl="1" indent="-515938" defTabSz="914400">
              <a:buFont typeface="Arial" panose="020B0604020202020204" pitchFamily="34" charset="0"/>
              <a:buChar char="•"/>
            </a:pPr>
            <a:r>
              <a:rPr lang="en-US" sz="2800"/>
              <a:t>Menyediakan berbagai macam analisis statistik dan teknik grafis.</a:t>
            </a:r>
          </a:p>
          <a:p>
            <a:pPr marL="519113" lvl="1" indent="-515938" defTabSz="914400">
              <a:buFont typeface="Arial" panose="020B0604020202020204" pitchFamily="34" charset="0"/>
              <a:buChar char="•"/>
            </a:pPr>
            <a:r>
              <a:rPr lang="en-US" sz="2800"/>
              <a:t>Dapat dikembangkan sesuai keperluan dan kebutuhan dengan membuat </a:t>
            </a:r>
            <a:r>
              <a:rPr lang="en-US" sz="2800" i="1"/>
              <a:t>package </a:t>
            </a:r>
          </a:p>
          <a:p>
            <a:pPr marL="519113" lvl="1" indent="-515938" defTabSz="914400">
              <a:buFont typeface="Arial" panose="020B0604020202020204" pitchFamily="34" charset="0"/>
              <a:buChar char="•"/>
            </a:pPr>
            <a:r>
              <a:rPr lang="en-US" sz="2800"/>
              <a:t>Bahasa pemrograman yang dikembangkan dengan baik, sederhana dan efektif</a:t>
            </a:r>
          </a:p>
          <a:p>
            <a:pPr marL="519113" lvl="1" indent="-515938" defTabSz="914400">
              <a:buFont typeface="Arial" panose="020B0604020202020204" pitchFamily="34" charset="0"/>
              <a:buChar char="•"/>
            </a:pPr>
            <a:r>
              <a:rPr lang="en-US" sz="2800"/>
              <a:t>R bersifat multiplatform yang artinya bisa diinstal di sistem operasi Windows, UNIX/LINUX maupun pada Macintosh.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47218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55EE154-7414-492F-81E8-F32DCF478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2" y="121702"/>
            <a:ext cx="11189413" cy="1325563"/>
          </a:xfrm>
        </p:spPr>
        <p:txBody>
          <a:bodyPr/>
          <a:lstStyle/>
          <a:p>
            <a:r>
              <a:rPr lang="en-ID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Pengenalan</a:t>
            </a:r>
            <a:r>
              <a:rPr lang="en-ID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Software R-Studio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69BFE9-5930-4FCE-B883-C65B9AED1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44" y="1171494"/>
            <a:ext cx="11033112" cy="478252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F57E31-1A2B-59AA-993C-5DE203870F80}"/>
              </a:ext>
            </a:extLst>
          </p:cNvPr>
          <p:cNvSpPr txBox="1"/>
          <p:nvPr/>
        </p:nvSpPr>
        <p:spPr>
          <a:xfrm>
            <a:off x="676656" y="1883664"/>
            <a:ext cx="1545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Studio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320332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EC239-6763-4698-9D8D-56724D399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05BB89-3D7B-4399-89F4-E6FECAB262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2356"/>
          <a:stretch/>
        </p:blipFill>
        <p:spPr>
          <a:xfrm>
            <a:off x="578348" y="1629137"/>
            <a:ext cx="10515600" cy="435133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5515E2F-F8F4-4E6A-9619-1A9B05D2C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2" y="121702"/>
            <a:ext cx="11189413" cy="1325563"/>
          </a:xfrm>
        </p:spPr>
        <p:txBody>
          <a:bodyPr/>
          <a:lstStyle/>
          <a:p>
            <a:r>
              <a:rPr lang="en-ID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Pengenalan</a:t>
            </a:r>
            <a:r>
              <a:rPr lang="en-ID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Software R-Studio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36A794-564D-4B7B-8DA4-C918F124C36D}"/>
              </a:ext>
            </a:extLst>
          </p:cNvPr>
          <p:cNvSpPr txBox="1"/>
          <p:nvPr/>
        </p:nvSpPr>
        <p:spPr>
          <a:xfrm>
            <a:off x="206165" y="1136694"/>
            <a:ext cx="171110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/>
              <a:t>Tampilan R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6216872-ADA7-45C9-85A3-AF3E17298A0A}"/>
              </a:ext>
            </a:extLst>
          </p:cNvPr>
          <p:cNvSpPr/>
          <p:nvPr/>
        </p:nvSpPr>
        <p:spPr>
          <a:xfrm>
            <a:off x="592416" y="2240821"/>
            <a:ext cx="730822" cy="26978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16444F-079B-460E-9004-4672014E74F1}"/>
              </a:ext>
            </a:extLst>
          </p:cNvPr>
          <p:cNvSpPr/>
          <p:nvPr/>
        </p:nvSpPr>
        <p:spPr>
          <a:xfrm>
            <a:off x="5907508" y="2422583"/>
            <a:ext cx="859786" cy="33993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22F95D-8F3E-418B-B6DF-42D11B8BFBA8}"/>
              </a:ext>
            </a:extLst>
          </p:cNvPr>
          <p:cNvSpPr txBox="1"/>
          <p:nvPr/>
        </p:nvSpPr>
        <p:spPr>
          <a:xfrm>
            <a:off x="1309170" y="5149479"/>
            <a:ext cx="8763000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b="1" kern="0"/>
              <a:t>R console </a:t>
            </a:r>
            <a:r>
              <a:rPr lang="en-US" sz="2400" kern="0"/>
              <a:t>merupakan bagian untuk menjalankan program (</a:t>
            </a:r>
            <a:r>
              <a:rPr lang="en-US" sz="2400" i="1" kern="0"/>
              <a:t>syntax</a:t>
            </a:r>
            <a:r>
              <a:rPr lang="en-US" sz="2400" kern="0"/>
              <a:t>)</a:t>
            </a:r>
          </a:p>
          <a:p>
            <a:r>
              <a:rPr lang="en-US" sz="2400" b="1" kern="0"/>
              <a:t>R editor </a:t>
            </a:r>
            <a:r>
              <a:rPr lang="en-US" sz="2400" kern="0"/>
              <a:t>merupakan bagian untuk mengetik program (</a:t>
            </a:r>
            <a:r>
              <a:rPr lang="en-US" sz="2400" i="1" kern="0"/>
              <a:t>syntax</a:t>
            </a:r>
            <a:r>
              <a:rPr lang="en-US" sz="2400" kern="0"/>
              <a:t>)</a:t>
            </a:r>
            <a:endParaRPr lang="en-US" sz="2400" b="1" kern="0" dirty="0"/>
          </a:p>
        </p:txBody>
      </p:sp>
    </p:spTree>
    <p:extLst>
      <p:ext uri="{BB962C8B-B14F-4D97-AF65-F5344CB8AC3E}">
        <p14:creationId xmlns:p14="http://schemas.microsoft.com/office/powerpoint/2010/main" val="2172141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4F096-E80E-4DA3-A03A-141E113F5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407364-8F41-4B9A-BCF9-DAE0A9B7A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2" y="121702"/>
            <a:ext cx="11189413" cy="1325563"/>
          </a:xfrm>
        </p:spPr>
        <p:txBody>
          <a:bodyPr/>
          <a:lstStyle/>
          <a:p>
            <a:r>
              <a:rPr lang="en-ID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Pengenalan</a:t>
            </a:r>
            <a:r>
              <a:rPr lang="en-ID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Software R-Studio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AF4DF0-3352-4AB2-9853-7D4E0AFED56F}"/>
              </a:ext>
            </a:extLst>
          </p:cNvPr>
          <p:cNvSpPr txBox="1"/>
          <p:nvPr/>
        </p:nvSpPr>
        <p:spPr>
          <a:xfrm>
            <a:off x="206165" y="1136694"/>
            <a:ext cx="257621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/>
              <a:t>Tampilan Rstudio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90EB39-E047-4BBA-BA40-DFA1AD56E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478" y="1610996"/>
            <a:ext cx="9845339" cy="524700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105056C-BB5F-41E6-93AE-219F49ED3D08}"/>
              </a:ext>
            </a:extLst>
          </p:cNvPr>
          <p:cNvSpPr/>
          <p:nvPr/>
        </p:nvSpPr>
        <p:spPr>
          <a:xfrm>
            <a:off x="913478" y="2138289"/>
            <a:ext cx="802780" cy="2958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DE0E8C-C20E-4082-8F90-CE0FA2A7AC1B}"/>
              </a:ext>
            </a:extLst>
          </p:cNvPr>
          <p:cNvSpPr/>
          <p:nvPr/>
        </p:nvSpPr>
        <p:spPr>
          <a:xfrm>
            <a:off x="5836146" y="2147686"/>
            <a:ext cx="1127361" cy="1875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7DA4AD-3F02-4B82-A989-6A343F113B11}"/>
              </a:ext>
            </a:extLst>
          </p:cNvPr>
          <p:cNvSpPr/>
          <p:nvPr/>
        </p:nvSpPr>
        <p:spPr>
          <a:xfrm>
            <a:off x="5836145" y="3493513"/>
            <a:ext cx="1915153" cy="1875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97F680-09B1-42A9-9482-7CD735C3380D}"/>
              </a:ext>
            </a:extLst>
          </p:cNvPr>
          <p:cNvSpPr/>
          <p:nvPr/>
        </p:nvSpPr>
        <p:spPr>
          <a:xfrm>
            <a:off x="927546" y="4318168"/>
            <a:ext cx="788712" cy="2958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D7A2CA-A3E3-47EA-BEDA-36A443E99678}"/>
              </a:ext>
            </a:extLst>
          </p:cNvPr>
          <p:cNvSpPr txBox="1"/>
          <p:nvPr/>
        </p:nvSpPr>
        <p:spPr>
          <a:xfrm>
            <a:off x="2086703" y="3094845"/>
            <a:ext cx="127618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/>
              <a:t>R Editor</a:t>
            </a:r>
          </a:p>
        </p:txBody>
      </p:sp>
    </p:spTree>
    <p:extLst>
      <p:ext uri="{BB962C8B-B14F-4D97-AF65-F5344CB8AC3E}">
        <p14:creationId xmlns:p14="http://schemas.microsoft.com/office/powerpoint/2010/main" val="1784126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D346D45-F96B-4FE9-B54D-248B43A59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2" y="121702"/>
            <a:ext cx="11189413" cy="1325563"/>
          </a:xfrm>
        </p:spPr>
        <p:txBody>
          <a:bodyPr/>
          <a:lstStyle/>
          <a:p>
            <a:r>
              <a:rPr lang="en-ID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Pengenalan</a:t>
            </a:r>
            <a:r>
              <a:rPr lang="en-ID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Software R-Studio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70ACBD-FE07-4F77-AEB5-3DAD24F468ED}"/>
              </a:ext>
            </a:extLst>
          </p:cNvPr>
          <p:cNvSpPr/>
          <p:nvPr/>
        </p:nvSpPr>
        <p:spPr>
          <a:xfrm>
            <a:off x="622707" y="1747439"/>
            <a:ext cx="11145732" cy="12570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noAutofit/>
          </a:bodyPr>
          <a:lstStyle/>
          <a:p>
            <a:pPr marL="519113" lvl="1" indent="-515938" defTabSz="9144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Editor window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jendela</a:t>
            </a:r>
            <a:r>
              <a:rPr lang="en-US" sz="2400" dirty="0"/>
              <a:t> yang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digunakan</a:t>
            </a:r>
            <a:r>
              <a:rPr lang="en-US" sz="2400" dirty="0"/>
              <a:t> untuk </a:t>
            </a:r>
            <a:r>
              <a:rPr lang="en-US" sz="2400" dirty="0" err="1"/>
              <a:t>membuat</a:t>
            </a:r>
            <a:r>
              <a:rPr lang="en-US" sz="2400" dirty="0"/>
              <a:t>, </a:t>
            </a:r>
            <a:r>
              <a:rPr lang="en-US" sz="2400" dirty="0" err="1"/>
              <a:t>mengedit</a:t>
            </a:r>
            <a:r>
              <a:rPr lang="en-US" sz="2400" dirty="0"/>
              <a:t>, dan </a:t>
            </a:r>
            <a:r>
              <a:rPr lang="en-US" sz="2400" dirty="0" err="1"/>
              <a:t>menyimpan</a:t>
            </a:r>
            <a:r>
              <a:rPr lang="en-US" sz="2400" dirty="0"/>
              <a:t> </a:t>
            </a:r>
            <a:r>
              <a:rPr lang="en-US" sz="2400" i="1" dirty="0"/>
              <a:t>script</a:t>
            </a:r>
            <a:r>
              <a:rPr lang="en-US" sz="2400" dirty="0"/>
              <a:t>. Pada </a:t>
            </a:r>
            <a:r>
              <a:rPr lang="en-US" sz="2400" dirty="0" err="1"/>
              <a:t>jendela</a:t>
            </a:r>
            <a:r>
              <a:rPr lang="en-US" sz="2400" dirty="0"/>
              <a:t> ini, </a:t>
            </a:r>
            <a:r>
              <a:rPr lang="en-US" sz="2400" dirty="0" err="1"/>
              <a:t>tersedia</a:t>
            </a:r>
            <a:r>
              <a:rPr lang="en-US" sz="2400" dirty="0"/>
              <a:t> </a:t>
            </a:r>
            <a:r>
              <a:rPr lang="en-US" sz="2400" dirty="0" err="1"/>
              <a:t>fitur</a:t>
            </a:r>
            <a:r>
              <a:rPr lang="en-US" sz="2400" dirty="0"/>
              <a:t> autocomplete yang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memudahkan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membuat</a:t>
            </a:r>
            <a:r>
              <a:rPr lang="en-US" sz="2400" dirty="0"/>
              <a:t> </a:t>
            </a:r>
            <a:r>
              <a:rPr lang="en-US" sz="2400" i="1" dirty="0"/>
              <a:t>script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BAC243-B4CA-44AC-AD7C-84DCAC52CDA5}"/>
              </a:ext>
            </a:extLst>
          </p:cNvPr>
          <p:cNvSpPr/>
          <p:nvPr/>
        </p:nvSpPr>
        <p:spPr>
          <a:xfrm>
            <a:off x="427941" y="1133358"/>
            <a:ext cx="94550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/>
              <a:t>Editor </a:t>
            </a:r>
            <a:r>
              <a:rPr lang="en-US" sz="2400" b="1" dirty="0"/>
              <a:t>Window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C7AAA6-9C4D-4086-97FC-2F86649DC99B}"/>
              </a:ext>
            </a:extLst>
          </p:cNvPr>
          <p:cNvSpPr/>
          <p:nvPr/>
        </p:nvSpPr>
        <p:spPr>
          <a:xfrm>
            <a:off x="579027" y="3611281"/>
            <a:ext cx="11189412" cy="25863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noAutofit/>
          </a:bodyPr>
          <a:lstStyle/>
          <a:p>
            <a:pPr marL="519113" lvl="1" indent="-515938" defTabSz="914400">
              <a:buFont typeface="Arial" panose="020B0604020202020204" pitchFamily="34" charset="0"/>
              <a:buChar char="•"/>
            </a:pPr>
            <a:r>
              <a:rPr lang="en-US" sz="2300" b="1" dirty="0"/>
              <a:t>Console window</a:t>
            </a:r>
            <a:r>
              <a:rPr lang="en-US" sz="2300" dirty="0"/>
              <a:t> </a:t>
            </a:r>
            <a:r>
              <a:rPr lang="en-US" sz="2300" dirty="0" err="1"/>
              <a:t>adalah</a:t>
            </a:r>
            <a:r>
              <a:rPr lang="en-US" sz="2300" dirty="0"/>
              <a:t> </a:t>
            </a:r>
            <a:r>
              <a:rPr lang="en-US" sz="2300" dirty="0" err="1"/>
              <a:t>jendela</a:t>
            </a:r>
            <a:r>
              <a:rPr lang="en-US" sz="2300" dirty="0"/>
              <a:t> </a:t>
            </a:r>
            <a:r>
              <a:rPr lang="en-US" sz="2300" dirty="0" err="1"/>
              <a:t>tempat</a:t>
            </a:r>
            <a:r>
              <a:rPr lang="en-US" sz="2300" dirty="0"/>
              <a:t> </a:t>
            </a:r>
            <a:r>
              <a:rPr lang="en-US" sz="2300" dirty="0" err="1"/>
              <a:t>mengeksekusi</a:t>
            </a:r>
            <a:r>
              <a:rPr lang="en-US" sz="2300" dirty="0"/>
              <a:t> command </a:t>
            </a:r>
            <a:r>
              <a:rPr lang="en-US" sz="2300" dirty="0" err="1"/>
              <a:t>dari</a:t>
            </a:r>
            <a:r>
              <a:rPr lang="en-US" sz="2300" dirty="0"/>
              <a:t> script yang </a:t>
            </a:r>
            <a:r>
              <a:rPr lang="en-US" sz="2300" dirty="0" err="1"/>
              <a:t>dibuat</a:t>
            </a:r>
            <a:r>
              <a:rPr lang="en-US" sz="2300" dirty="0"/>
              <a:t>. </a:t>
            </a:r>
          </a:p>
          <a:p>
            <a:pPr marL="519113" lvl="1" indent="-515938" defTabSz="914400">
              <a:buFont typeface="Arial" panose="020B0604020202020204" pitchFamily="34" charset="0"/>
              <a:buChar char="•"/>
            </a:pPr>
            <a:r>
              <a:rPr lang="en-US" sz="2300" dirty="0"/>
              <a:t>Script </a:t>
            </a:r>
            <a:r>
              <a:rPr lang="en-US" sz="2300" dirty="0" err="1"/>
              <a:t>tersebut</a:t>
            </a:r>
            <a:r>
              <a:rPr lang="en-US" sz="2300" dirty="0"/>
              <a:t> </a:t>
            </a:r>
            <a:r>
              <a:rPr lang="en-US" sz="2300" dirty="0" err="1"/>
              <a:t>dapat</a:t>
            </a:r>
            <a:r>
              <a:rPr lang="en-US" sz="2300" dirty="0"/>
              <a:t> </a:t>
            </a:r>
            <a:r>
              <a:rPr lang="en-US" sz="2300" dirty="0" err="1"/>
              <a:t>dijalankan</a:t>
            </a:r>
            <a:r>
              <a:rPr lang="en-US" sz="2300" dirty="0"/>
              <a:t> </a:t>
            </a:r>
            <a:r>
              <a:rPr lang="en-US" sz="2300" dirty="0" err="1"/>
              <a:t>dari</a:t>
            </a:r>
            <a:r>
              <a:rPr lang="en-US" sz="2300" dirty="0"/>
              <a:t> Source/Editor window </a:t>
            </a:r>
            <a:r>
              <a:rPr lang="en-US" sz="2300" dirty="0" err="1"/>
              <a:t>maupun</a:t>
            </a:r>
            <a:r>
              <a:rPr lang="en-US" sz="2300" dirty="0"/>
              <a:t> </a:t>
            </a:r>
            <a:r>
              <a:rPr lang="en-US" sz="2300" dirty="0" err="1"/>
              <a:t>dengan</a:t>
            </a:r>
            <a:r>
              <a:rPr lang="en-US" sz="2300" dirty="0"/>
              <a:t> </a:t>
            </a:r>
            <a:r>
              <a:rPr lang="en-US" sz="2300" dirty="0" err="1"/>
              <a:t>langsung</a:t>
            </a:r>
            <a:r>
              <a:rPr lang="en-US" sz="2300" dirty="0"/>
              <a:t> </a:t>
            </a:r>
            <a:r>
              <a:rPr lang="en-US" sz="2300" dirty="0" err="1"/>
              <a:t>mengetikkan</a:t>
            </a:r>
            <a:r>
              <a:rPr lang="en-US" sz="2300" dirty="0"/>
              <a:t> script </a:t>
            </a:r>
            <a:r>
              <a:rPr lang="en-US" sz="2300" dirty="0" err="1"/>
              <a:t>pada</a:t>
            </a:r>
            <a:r>
              <a:rPr lang="en-US" sz="2300" dirty="0"/>
              <a:t> </a:t>
            </a:r>
            <a:r>
              <a:rPr lang="en-US" sz="2300" dirty="0" err="1"/>
              <a:t>jendela</a:t>
            </a:r>
            <a:r>
              <a:rPr lang="en-US" sz="2300" dirty="0"/>
              <a:t> </a:t>
            </a:r>
            <a:r>
              <a:rPr lang="en-US" sz="2300" dirty="0" err="1"/>
              <a:t>ini</a:t>
            </a:r>
            <a:r>
              <a:rPr lang="en-US" sz="2300" dirty="0"/>
              <a:t>.</a:t>
            </a:r>
          </a:p>
          <a:p>
            <a:pPr marL="519113" lvl="1" indent="-515938" defTabSz="914400">
              <a:buFont typeface="Arial" panose="020B0604020202020204" pitchFamily="34" charset="0"/>
              <a:buChar char="•"/>
            </a:pPr>
            <a:r>
              <a:rPr lang="en-US" sz="2300" dirty="0" err="1"/>
              <a:t>Jendela</a:t>
            </a:r>
            <a:r>
              <a:rPr lang="en-US" sz="2300" dirty="0"/>
              <a:t> ini </a:t>
            </a:r>
            <a:r>
              <a:rPr lang="en-US" sz="2300" dirty="0" err="1"/>
              <a:t>akan</a:t>
            </a:r>
            <a:r>
              <a:rPr lang="en-US" sz="2300" dirty="0"/>
              <a:t> </a:t>
            </a:r>
            <a:r>
              <a:rPr lang="en-US" sz="2300" dirty="0" err="1"/>
              <a:t>menampilkan</a:t>
            </a:r>
            <a:r>
              <a:rPr lang="en-US" sz="2300" dirty="0"/>
              <a:t> output </a:t>
            </a:r>
            <a:r>
              <a:rPr lang="en-US" sz="2300" dirty="0" err="1"/>
              <a:t>dari</a:t>
            </a:r>
            <a:r>
              <a:rPr lang="en-US" sz="2300" dirty="0"/>
              <a:t> </a:t>
            </a:r>
            <a:r>
              <a:rPr lang="en-US" sz="2300" dirty="0" err="1"/>
              <a:t>setiap</a:t>
            </a:r>
            <a:r>
              <a:rPr lang="en-US" sz="2300" dirty="0"/>
              <a:t> </a:t>
            </a:r>
            <a:r>
              <a:rPr lang="en-US" sz="2300" dirty="0" err="1"/>
              <a:t>satu</a:t>
            </a:r>
            <a:r>
              <a:rPr lang="en-US" sz="2300" dirty="0"/>
              <a:t> proses/baris command yang </a:t>
            </a:r>
            <a:r>
              <a:rPr lang="en-US" sz="2300" dirty="0" err="1"/>
              <a:t>dijalankan</a:t>
            </a:r>
            <a:r>
              <a:rPr lang="en-US" sz="2300" dirty="0"/>
              <a:t>. </a:t>
            </a:r>
            <a:r>
              <a:rPr lang="en-US" sz="2300" dirty="0" err="1"/>
              <a:t>Jendela</a:t>
            </a:r>
            <a:r>
              <a:rPr lang="en-US" sz="2300" dirty="0"/>
              <a:t> ini </a:t>
            </a:r>
            <a:r>
              <a:rPr lang="en-US" sz="2300" dirty="0" err="1"/>
              <a:t>sebetulnya</a:t>
            </a:r>
            <a:r>
              <a:rPr lang="en-US" sz="2300" dirty="0"/>
              <a:t> </a:t>
            </a:r>
            <a:r>
              <a:rPr lang="en-US" sz="2300" dirty="0" err="1"/>
              <a:t>merupakan</a:t>
            </a:r>
            <a:r>
              <a:rPr lang="en-US" sz="2300" dirty="0"/>
              <a:t> </a:t>
            </a:r>
            <a:r>
              <a:rPr lang="en-US" sz="2300" dirty="0" err="1"/>
              <a:t>tampilan</a:t>
            </a:r>
            <a:r>
              <a:rPr lang="en-US" sz="2300" dirty="0"/>
              <a:t> langsung </a:t>
            </a:r>
            <a:r>
              <a:rPr lang="en-US" sz="2300" dirty="0" err="1"/>
              <a:t>dari</a:t>
            </a:r>
            <a:r>
              <a:rPr lang="en-US" sz="2300" dirty="0"/>
              <a:t> </a:t>
            </a:r>
            <a:r>
              <a:rPr lang="en-US" sz="2300" dirty="0" err="1"/>
              <a:t>setiap</a:t>
            </a:r>
            <a:r>
              <a:rPr lang="en-US" sz="2300" dirty="0"/>
              <a:t> proses yang </a:t>
            </a:r>
            <a:r>
              <a:rPr lang="en-US" sz="2300" dirty="0" err="1"/>
              <a:t>dikerjakan</a:t>
            </a:r>
            <a:r>
              <a:rPr lang="en-US" sz="2300" dirty="0"/>
              <a:t> oleh RStudio.</a:t>
            </a:r>
          </a:p>
          <a:p>
            <a:pPr marL="519113" lvl="1" indent="-515938" defTabSz="914400">
              <a:buFont typeface="Arial" panose="020B0604020202020204" pitchFamily="34" charset="0"/>
              <a:buChar char="•"/>
            </a:pPr>
            <a:endParaRPr lang="en-US" sz="23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C6D670-5882-4B77-A4B3-46A27BD48F52}"/>
              </a:ext>
            </a:extLst>
          </p:cNvPr>
          <p:cNvSpPr/>
          <p:nvPr/>
        </p:nvSpPr>
        <p:spPr>
          <a:xfrm>
            <a:off x="427940" y="3149414"/>
            <a:ext cx="94550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Console Window</a:t>
            </a:r>
          </a:p>
        </p:txBody>
      </p:sp>
    </p:spTree>
    <p:extLst>
      <p:ext uri="{BB962C8B-B14F-4D97-AF65-F5344CB8AC3E}">
        <p14:creationId xmlns:p14="http://schemas.microsoft.com/office/powerpoint/2010/main" val="1523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6A99BED-45CB-4DC1-851F-652732E06BCE}"/>
              </a:ext>
            </a:extLst>
          </p:cNvPr>
          <p:cNvSpPr/>
          <p:nvPr/>
        </p:nvSpPr>
        <p:spPr>
          <a:xfrm>
            <a:off x="427941" y="1569933"/>
            <a:ext cx="11002914" cy="51904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noAutofit/>
          </a:bodyPr>
          <a:lstStyle/>
          <a:p>
            <a:pPr marL="3175" lvl="1" defTabSz="914400"/>
            <a:r>
              <a:rPr lang="en-US" sz="2200" b="1" dirty="0"/>
              <a:t>Tab environment </a:t>
            </a:r>
            <a:r>
              <a:rPr lang="en-US" sz="2200" dirty="0" err="1"/>
              <a:t>akan</a:t>
            </a:r>
            <a:r>
              <a:rPr lang="en-US" sz="2200" dirty="0"/>
              <a:t> </a:t>
            </a:r>
            <a:r>
              <a:rPr lang="en-US" sz="2200" dirty="0" err="1"/>
              <a:t>menampilkan</a:t>
            </a:r>
            <a:r>
              <a:rPr lang="en-US" sz="2200" dirty="0"/>
              <a:t> </a:t>
            </a:r>
            <a:r>
              <a:rPr lang="en-US" sz="2200" dirty="0" err="1"/>
              <a:t>daftar</a:t>
            </a:r>
            <a:r>
              <a:rPr lang="en-US" sz="2200" dirty="0"/>
              <a:t> data </a:t>
            </a:r>
            <a:r>
              <a:rPr lang="en-US" sz="2200" dirty="0" err="1"/>
              <a:t>dan</a:t>
            </a:r>
            <a:r>
              <a:rPr lang="en-US" sz="2200" dirty="0"/>
              <a:t> </a:t>
            </a:r>
            <a:r>
              <a:rPr lang="en-US" sz="2200" dirty="0" err="1"/>
              <a:t>nilai</a:t>
            </a:r>
            <a:r>
              <a:rPr lang="en-US" sz="2200" dirty="0"/>
              <a:t> yang </a:t>
            </a:r>
            <a:r>
              <a:rPr lang="en-US" sz="2200" dirty="0" err="1"/>
              <a:t>sedang</a:t>
            </a:r>
            <a:r>
              <a:rPr lang="en-US" sz="2200" dirty="0"/>
              <a:t> </a:t>
            </a:r>
            <a:r>
              <a:rPr lang="en-US" sz="2200" err="1"/>
              <a:t>aktif</a:t>
            </a:r>
            <a:r>
              <a:rPr lang="en-US" sz="2200"/>
              <a:t> di dalam RAM. </a:t>
            </a:r>
            <a:endParaRPr lang="en-US" sz="2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DBBD1B-D2C6-4D71-8686-E4226D39098E}"/>
              </a:ext>
            </a:extLst>
          </p:cNvPr>
          <p:cNvSpPr/>
          <p:nvPr/>
        </p:nvSpPr>
        <p:spPr>
          <a:xfrm>
            <a:off x="427941" y="1133358"/>
            <a:ext cx="94550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Tab Environment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826060-4DB2-45B1-B3AA-D0ACD034C58E}"/>
              </a:ext>
            </a:extLst>
          </p:cNvPr>
          <p:cNvSpPr/>
          <p:nvPr/>
        </p:nvSpPr>
        <p:spPr>
          <a:xfrm>
            <a:off x="427940" y="2631593"/>
            <a:ext cx="10474522" cy="79535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noAutofit/>
          </a:bodyPr>
          <a:lstStyle/>
          <a:p>
            <a:pPr lvl="1" defTabSz="914400">
              <a:spcAft>
                <a:spcPts val="1200"/>
              </a:spcAft>
              <a:tabLst>
                <a:tab pos="395288" algn="l"/>
              </a:tabLst>
            </a:pPr>
            <a:r>
              <a:rPr lang="en-US" sz="2200" b="1" dirty="0"/>
              <a:t>Tab History </a:t>
            </a:r>
            <a:r>
              <a:rPr lang="en-US" sz="2200" dirty="0" err="1"/>
              <a:t>akan</a:t>
            </a:r>
            <a:r>
              <a:rPr lang="en-US" sz="2200" dirty="0"/>
              <a:t> </a:t>
            </a:r>
            <a:r>
              <a:rPr lang="en-US" sz="2200" dirty="0" err="1"/>
              <a:t>menampilkan</a:t>
            </a:r>
            <a:r>
              <a:rPr lang="en-US" sz="2200" dirty="0"/>
              <a:t> </a:t>
            </a:r>
            <a:r>
              <a:rPr lang="en-US" sz="2200" dirty="0" err="1"/>
              <a:t>daftar</a:t>
            </a:r>
            <a:r>
              <a:rPr lang="en-US" sz="2200" dirty="0"/>
              <a:t> command yang </a:t>
            </a:r>
            <a:r>
              <a:rPr lang="en-US" sz="2200" dirty="0" err="1"/>
              <a:t>telah</a:t>
            </a:r>
            <a:r>
              <a:rPr lang="en-US" sz="2200" dirty="0"/>
              <a:t> </a:t>
            </a:r>
            <a:r>
              <a:rPr lang="en-US" sz="2200" dirty="0" err="1"/>
              <a:t>dijalankan</a:t>
            </a:r>
            <a:r>
              <a:rPr lang="en-US" sz="2200" dirty="0"/>
              <a:t> </a:t>
            </a:r>
            <a:r>
              <a:rPr lang="en-US" sz="2200" dirty="0" err="1"/>
              <a:t>sebelumnya</a:t>
            </a:r>
            <a:r>
              <a:rPr lang="en-US" sz="2200" dirty="0"/>
              <a:t> </a:t>
            </a:r>
            <a:r>
              <a:rPr lang="en-US" sz="2200" dirty="0" err="1"/>
              <a:t>dalam</a:t>
            </a:r>
            <a:r>
              <a:rPr lang="en-US" sz="2200" dirty="0"/>
              <a:t> </a:t>
            </a:r>
            <a:r>
              <a:rPr lang="en-US" sz="2200" dirty="0" err="1"/>
              <a:t>satu</a:t>
            </a:r>
            <a:r>
              <a:rPr lang="en-US" sz="2200" dirty="0"/>
              <a:t> </a:t>
            </a:r>
            <a:r>
              <a:rPr lang="en-US" sz="2200" i="1" dirty="0"/>
              <a:t>session</a:t>
            </a:r>
            <a:r>
              <a:rPr lang="en-US" sz="2200" dirty="0"/>
              <a:t> yang </a:t>
            </a:r>
            <a:r>
              <a:rPr lang="en-US" sz="2200" dirty="0" err="1"/>
              <a:t>aktif</a:t>
            </a:r>
            <a:r>
              <a:rPr lang="en-US" sz="2200" dirty="0"/>
              <a:t>.</a:t>
            </a:r>
            <a:endParaRPr lang="en-US" sz="2200" i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0A61F7-F0E2-48FE-8229-A9900FF4B95B}"/>
              </a:ext>
            </a:extLst>
          </p:cNvPr>
          <p:cNvSpPr/>
          <p:nvPr/>
        </p:nvSpPr>
        <p:spPr>
          <a:xfrm>
            <a:off x="427941" y="2145061"/>
            <a:ext cx="94550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Tab History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4DEE97-BB4A-43F6-8892-2B4DB3BCC192}"/>
              </a:ext>
            </a:extLst>
          </p:cNvPr>
          <p:cNvSpPr/>
          <p:nvPr/>
        </p:nvSpPr>
        <p:spPr>
          <a:xfrm>
            <a:off x="427940" y="3991244"/>
            <a:ext cx="11336120" cy="21071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noAutofit/>
          </a:bodyPr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200" dirty="0" err="1"/>
              <a:t>Jendela</a:t>
            </a:r>
            <a:r>
              <a:rPr lang="en-US" sz="2200" dirty="0"/>
              <a:t> ini </a:t>
            </a:r>
            <a:r>
              <a:rPr lang="en-US" sz="2200" dirty="0" err="1"/>
              <a:t>merupakan</a:t>
            </a:r>
            <a:r>
              <a:rPr lang="en-US" sz="2200" dirty="0"/>
              <a:t> </a:t>
            </a:r>
            <a:r>
              <a:rPr lang="en-US" sz="2200" dirty="0" err="1"/>
              <a:t>fitur</a:t>
            </a:r>
            <a:r>
              <a:rPr lang="en-US" sz="2200" dirty="0"/>
              <a:t> </a:t>
            </a:r>
            <a:r>
              <a:rPr lang="en-US" sz="2200" dirty="0" err="1"/>
              <a:t>tambahan</a:t>
            </a:r>
            <a:r>
              <a:rPr lang="en-US" sz="2200" dirty="0"/>
              <a:t> yang </a:t>
            </a:r>
            <a:r>
              <a:rPr lang="en-US" sz="2200" dirty="0" err="1"/>
              <a:t>bermanfaat</a:t>
            </a:r>
            <a:r>
              <a:rPr lang="en-US" sz="2200" dirty="0"/>
              <a:t> </a:t>
            </a:r>
            <a:r>
              <a:rPr lang="en-US" sz="2200" dirty="0" err="1"/>
              <a:t>dalam</a:t>
            </a:r>
            <a:r>
              <a:rPr lang="en-US" sz="2200" dirty="0"/>
              <a:t> </a:t>
            </a:r>
            <a:r>
              <a:rPr lang="en-US" sz="2200" dirty="0" err="1"/>
              <a:t>manajemen</a:t>
            </a:r>
            <a:r>
              <a:rPr lang="en-US" sz="2200" dirty="0"/>
              <a:t> file, </a:t>
            </a:r>
            <a:r>
              <a:rPr lang="en-US" sz="2200" dirty="0" err="1"/>
              <a:t>menampilkan</a:t>
            </a:r>
            <a:r>
              <a:rPr lang="en-US" sz="2200" dirty="0"/>
              <a:t> output </a:t>
            </a:r>
            <a:r>
              <a:rPr lang="en-US" sz="2200" i="1" dirty="0"/>
              <a:t>command</a:t>
            </a:r>
            <a:r>
              <a:rPr lang="en-US" sz="2200" dirty="0"/>
              <a:t> </a:t>
            </a:r>
            <a:r>
              <a:rPr lang="en-US" sz="2200" dirty="0" err="1"/>
              <a:t>berupa</a:t>
            </a:r>
            <a:r>
              <a:rPr lang="en-US" sz="2200" dirty="0"/>
              <a:t> plot, </a:t>
            </a:r>
            <a:r>
              <a:rPr lang="en-US" sz="2200" dirty="0" err="1"/>
              <a:t>informasi</a:t>
            </a:r>
            <a:r>
              <a:rPr lang="en-US" sz="2200" dirty="0"/>
              <a:t> dan </a:t>
            </a:r>
            <a:r>
              <a:rPr lang="en-US" sz="2200" dirty="0" err="1"/>
              <a:t>bantuan</a:t>
            </a:r>
            <a:r>
              <a:rPr lang="en-US" sz="2200" dirty="0"/>
              <a:t> </a:t>
            </a:r>
            <a:r>
              <a:rPr lang="en-US" sz="2200" dirty="0" err="1"/>
              <a:t>dalam</a:t>
            </a:r>
            <a:r>
              <a:rPr lang="en-US" sz="2200" dirty="0"/>
              <a:t> </a:t>
            </a:r>
            <a:r>
              <a:rPr lang="en-US" sz="2200" dirty="0" err="1"/>
              <a:t>penulisan</a:t>
            </a:r>
            <a:r>
              <a:rPr lang="en-US" sz="2200" dirty="0"/>
              <a:t> </a:t>
            </a:r>
            <a:r>
              <a:rPr lang="en-US" sz="2200" i="1" dirty="0"/>
              <a:t>script</a:t>
            </a:r>
            <a:r>
              <a:rPr lang="en-US" sz="2200" dirty="0"/>
              <a:t>, dan web viewer.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200" dirty="0" err="1"/>
              <a:t>Khusus</a:t>
            </a:r>
            <a:r>
              <a:rPr lang="en-US" sz="2200" dirty="0"/>
              <a:t> pada tab Packages, </a:t>
            </a:r>
            <a:r>
              <a:rPr lang="en-US" sz="2200" dirty="0" err="1"/>
              <a:t>dapat</a:t>
            </a:r>
            <a:r>
              <a:rPr lang="en-US" sz="2200" dirty="0"/>
              <a:t> </a:t>
            </a:r>
            <a:r>
              <a:rPr lang="en-US" sz="2200" dirty="0" err="1"/>
              <a:t>dilihat</a:t>
            </a:r>
            <a:r>
              <a:rPr lang="en-US" sz="2200" dirty="0"/>
              <a:t> daftar </a:t>
            </a:r>
            <a:r>
              <a:rPr lang="en-US" sz="2200" i="1" dirty="0"/>
              <a:t>library</a:t>
            </a:r>
            <a:r>
              <a:rPr lang="en-US" sz="2200" dirty="0"/>
              <a:t> yang </a:t>
            </a:r>
            <a:r>
              <a:rPr lang="en-US" sz="2200" dirty="0" err="1"/>
              <a:t>telah</a:t>
            </a:r>
            <a:r>
              <a:rPr lang="en-US" sz="2200" dirty="0"/>
              <a:t> </a:t>
            </a:r>
            <a:r>
              <a:rPr lang="en-US" sz="2200" dirty="0" err="1"/>
              <a:t>terinstall</a:t>
            </a:r>
            <a:r>
              <a:rPr lang="en-US" sz="2200" dirty="0"/>
              <a:t> pada PC. 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200" dirty="0" err="1"/>
              <a:t>Apabila</a:t>
            </a:r>
            <a:r>
              <a:rPr lang="en-US" sz="2200" dirty="0"/>
              <a:t> </a:t>
            </a:r>
            <a:r>
              <a:rPr lang="en-US" sz="2200" dirty="0" err="1"/>
              <a:t>ingin</a:t>
            </a:r>
            <a:r>
              <a:rPr lang="en-US" sz="2200" dirty="0"/>
              <a:t> </a:t>
            </a:r>
            <a:r>
              <a:rPr lang="en-US" sz="2200" dirty="0" err="1"/>
              <a:t>menambahkan</a:t>
            </a:r>
            <a:r>
              <a:rPr lang="en-US" sz="2200" dirty="0"/>
              <a:t> </a:t>
            </a:r>
            <a:r>
              <a:rPr lang="en-US" sz="2200" i="1" dirty="0"/>
              <a:t>library</a:t>
            </a:r>
            <a:r>
              <a:rPr lang="en-US" sz="2200" dirty="0"/>
              <a:t> baru, cukup </a:t>
            </a:r>
            <a:r>
              <a:rPr lang="en-US" sz="2200" dirty="0" err="1"/>
              <a:t>dengan</a:t>
            </a:r>
            <a:r>
              <a:rPr lang="en-US" sz="2200" dirty="0"/>
              <a:t> </a:t>
            </a:r>
            <a:r>
              <a:rPr lang="en-US" sz="2200" dirty="0" err="1"/>
              <a:t>menekan</a:t>
            </a:r>
            <a:r>
              <a:rPr lang="en-US" sz="2200" dirty="0"/>
              <a:t> </a:t>
            </a:r>
            <a:r>
              <a:rPr lang="en-US" sz="2200" dirty="0" err="1"/>
              <a:t>tombol</a:t>
            </a:r>
            <a:r>
              <a:rPr lang="en-US" sz="2200" dirty="0"/>
              <a:t> install, </a:t>
            </a:r>
            <a:r>
              <a:rPr lang="en-US" sz="2200" dirty="0" err="1"/>
              <a:t>kemudian</a:t>
            </a:r>
            <a:r>
              <a:rPr lang="en-US" sz="2200" dirty="0"/>
              <a:t> </a:t>
            </a:r>
            <a:r>
              <a:rPr lang="en-US" sz="2200" dirty="0" err="1"/>
              <a:t>mengetikkan</a:t>
            </a:r>
            <a:r>
              <a:rPr lang="en-US" sz="2200" dirty="0"/>
              <a:t> </a:t>
            </a:r>
            <a:r>
              <a:rPr lang="en-US" sz="2200" dirty="0" err="1"/>
              <a:t>nama</a:t>
            </a:r>
            <a:r>
              <a:rPr lang="en-US" sz="2200" dirty="0"/>
              <a:t> </a:t>
            </a:r>
            <a:r>
              <a:rPr lang="en-US" sz="2200" dirty="0" err="1"/>
              <a:t>dari</a:t>
            </a:r>
            <a:r>
              <a:rPr lang="en-US" sz="2200" dirty="0"/>
              <a:t> library yang </a:t>
            </a:r>
            <a:r>
              <a:rPr lang="en-US" sz="2200" dirty="0" err="1"/>
              <a:t>ingin</a:t>
            </a:r>
            <a:r>
              <a:rPr lang="en-US" sz="2200" dirty="0"/>
              <a:t> </a:t>
            </a:r>
            <a:r>
              <a:rPr lang="en-US" sz="2200" dirty="0" err="1"/>
              <a:t>diinstall</a:t>
            </a:r>
            <a:r>
              <a:rPr lang="en-US" sz="2200" dirty="0"/>
              <a:t>. [</a:t>
            </a:r>
            <a:r>
              <a:rPr lang="en-US" sz="2200" dirty="0" err="1"/>
              <a:t>cara</a:t>
            </a:r>
            <a:r>
              <a:rPr lang="en-US" sz="2200" dirty="0"/>
              <a:t> </a:t>
            </a:r>
            <a:r>
              <a:rPr lang="en-US" sz="2200" dirty="0" err="1"/>
              <a:t>lainnya</a:t>
            </a:r>
            <a:r>
              <a:rPr lang="en-US" sz="2200" dirty="0"/>
              <a:t> </a:t>
            </a:r>
            <a:r>
              <a:rPr lang="en-US" sz="2200" dirty="0" err="1"/>
              <a:t>dengan</a:t>
            </a:r>
            <a:r>
              <a:rPr lang="en-US" sz="2200" dirty="0"/>
              <a:t> </a:t>
            </a:r>
            <a:r>
              <a:rPr lang="en-US" sz="2200" dirty="0" err="1"/>
              <a:t>mengetik</a:t>
            </a:r>
            <a:r>
              <a:rPr lang="en-US" sz="2200" dirty="0"/>
              <a:t> </a:t>
            </a:r>
            <a:r>
              <a:rPr lang="en-US" b="1" dirty="0" err="1">
                <a:solidFill>
                  <a:srgbClr val="0000CC"/>
                </a:solidFill>
                <a:latin typeface="Lucida Console" panose="020B0609040504020204" pitchFamily="49" charset="0"/>
              </a:rPr>
              <a:t>install.packages</a:t>
            </a:r>
            <a:r>
              <a:rPr lang="en-US" b="1" dirty="0">
                <a:solidFill>
                  <a:srgbClr val="0000CC"/>
                </a:solidFill>
                <a:latin typeface="Lucida Console" panose="020B060904050402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CC"/>
                </a:solidFill>
                <a:effectLst/>
                <a:latin typeface="Lucida Console" panose="020B0609040504020204" pitchFamily="49" charset="0"/>
              </a:rPr>
              <a:t>"</a:t>
            </a:r>
            <a:r>
              <a:rPr lang="en-US" b="1" dirty="0" err="1">
                <a:solidFill>
                  <a:srgbClr val="0000CC"/>
                </a:solidFill>
                <a:latin typeface="Lucida Console" panose="020B0609040504020204" pitchFamily="49" charset="0"/>
              </a:rPr>
              <a:t>namapackage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CC"/>
                </a:solidFill>
                <a:effectLst/>
                <a:latin typeface="Lucida Console" panose="020B0609040504020204" pitchFamily="49" charset="0"/>
              </a:rPr>
              <a:t>"</a:t>
            </a:r>
            <a:r>
              <a:rPr lang="en-US" b="1" dirty="0">
                <a:solidFill>
                  <a:srgbClr val="0000CC"/>
                </a:solidFill>
                <a:latin typeface="Lucida Console" panose="020B0609040504020204" pitchFamily="49" charset="0"/>
              </a:rPr>
              <a:t>)</a:t>
            </a:r>
            <a:r>
              <a:rPr lang="en-US" sz="2200" dirty="0"/>
              <a:t> pada Console Window]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3EB9B7-F890-4C27-838D-734F3DC84389}"/>
              </a:ext>
            </a:extLst>
          </p:cNvPr>
          <p:cNvSpPr/>
          <p:nvPr/>
        </p:nvSpPr>
        <p:spPr>
          <a:xfrm>
            <a:off x="427941" y="3532580"/>
            <a:ext cx="94550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Tab Files/Plots/Packages/Help/Viewer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F349374B-C708-4213-A393-56D1A06B2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2" y="121702"/>
            <a:ext cx="11189413" cy="1325563"/>
          </a:xfrm>
        </p:spPr>
        <p:txBody>
          <a:bodyPr/>
          <a:lstStyle/>
          <a:p>
            <a:r>
              <a:rPr lang="en-ID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Pengenalan</a:t>
            </a:r>
            <a:r>
              <a:rPr lang="en-ID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Software R-Studio</a:t>
            </a:r>
          </a:p>
        </p:txBody>
      </p:sp>
    </p:spTree>
    <p:extLst>
      <p:ext uri="{BB962C8B-B14F-4D97-AF65-F5344CB8AC3E}">
        <p14:creationId xmlns:p14="http://schemas.microsoft.com/office/powerpoint/2010/main" val="3386560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73F40-DA5B-4E3A-B947-097D3F565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443" y="1242646"/>
            <a:ext cx="11526318" cy="4900245"/>
          </a:xfrm>
        </p:spPr>
        <p:txBody>
          <a:bodyPr>
            <a:normAutofit/>
          </a:bodyPr>
          <a:lstStyle/>
          <a:p>
            <a:r>
              <a:rPr lang="en-US" dirty="0" err="1"/>
              <a:t>Setelah</a:t>
            </a:r>
            <a:r>
              <a:rPr lang="en-US" dirty="0"/>
              <a:t> RStudio </a:t>
            </a:r>
            <a:r>
              <a:rPr lang="en-US" dirty="0" err="1"/>
              <a:t>terinstal</a:t>
            </a:r>
            <a:r>
              <a:rPr lang="en-US" dirty="0"/>
              <a:t> pada </a:t>
            </a:r>
            <a:r>
              <a:rPr lang="en-US" dirty="0" err="1"/>
              <a:t>komputer</a:t>
            </a:r>
            <a:r>
              <a:rPr lang="en-US" dirty="0"/>
              <a:t> dan </a:t>
            </a:r>
            <a:r>
              <a:rPr lang="en-US" dirty="0" err="1"/>
              <a:t>dijalankan</a:t>
            </a:r>
            <a:r>
              <a:rPr lang="en-US" dirty="0"/>
              <a:t>,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terlihat</a:t>
            </a:r>
            <a:r>
              <a:rPr lang="en-US" dirty="0"/>
              <a:t> prompt “&gt;” yang </a:t>
            </a:r>
            <a:r>
              <a:rPr lang="en-US" dirty="0" err="1"/>
              <a:t>menunjukkan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RStudio </a:t>
            </a:r>
            <a:r>
              <a:rPr lang="en-US" dirty="0" err="1"/>
              <a:t>siap</a:t>
            </a:r>
            <a:r>
              <a:rPr lang="en-US" dirty="0"/>
              <a:t> </a:t>
            </a:r>
            <a:r>
              <a:rPr lang="en-US" dirty="0" err="1"/>
              <a:t>menunggu</a:t>
            </a:r>
            <a:r>
              <a:rPr lang="en-US" dirty="0"/>
              <a:t> </a:t>
            </a:r>
            <a:r>
              <a:rPr lang="en-US" dirty="0" err="1"/>
              <a:t>perintah</a:t>
            </a:r>
            <a:endParaRPr lang="en-US" dirty="0"/>
          </a:p>
          <a:p>
            <a:r>
              <a:rPr lang="en-US" dirty="0" err="1"/>
              <a:t>Penamaan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</a:t>
            </a:r>
            <a:r>
              <a:rPr lang="en-US" dirty="0" err="1"/>
              <a:t>bersifat</a:t>
            </a:r>
            <a:r>
              <a:rPr lang="en-US" dirty="0"/>
              <a:t> case sensitive (</a:t>
            </a:r>
            <a:r>
              <a:rPr lang="en-US" dirty="0" err="1"/>
              <a:t>membedakan</a:t>
            </a:r>
            <a:r>
              <a:rPr lang="en-US" dirty="0"/>
              <a:t> </a:t>
            </a:r>
            <a:r>
              <a:rPr lang="en-US" dirty="0" err="1"/>
              <a:t>huruf</a:t>
            </a:r>
            <a:r>
              <a:rPr lang="en-US" dirty="0"/>
              <a:t> </a:t>
            </a:r>
            <a:r>
              <a:rPr lang="en-US" dirty="0" err="1"/>
              <a:t>kapital</a:t>
            </a:r>
            <a:r>
              <a:rPr lang="en-US" dirty="0"/>
              <a:t> dan </a:t>
            </a:r>
            <a:r>
              <a:rPr lang="en-US" dirty="0" err="1"/>
              <a:t>huruf</a:t>
            </a:r>
            <a:r>
              <a:rPr lang="en-US" dirty="0"/>
              <a:t> </a:t>
            </a:r>
            <a:r>
              <a:rPr lang="en-US" dirty="0" err="1"/>
              <a:t>kecil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A&lt;-7 </a:t>
            </a:r>
            <a:r>
              <a:rPr lang="en-US" dirty="0" err="1"/>
              <a:t>berbeda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a&lt;-7 </a:t>
            </a:r>
          </a:p>
          <a:p>
            <a:r>
              <a:rPr lang="en-US" b="1" dirty="0" err="1"/>
              <a:t>Penamaan</a:t>
            </a:r>
            <a:r>
              <a:rPr lang="en-US" b="1" dirty="0"/>
              <a:t> </a:t>
            </a:r>
            <a:r>
              <a:rPr lang="en-US" b="1" dirty="0" err="1"/>
              <a:t>objek</a:t>
            </a:r>
            <a:endParaRPr lang="en-US" b="1" dirty="0"/>
          </a:p>
          <a:p>
            <a:pPr lvl="1"/>
            <a:r>
              <a:rPr lang="en-US" dirty="0" err="1"/>
              <a:t>Diawali</a:t>
            </a:r>
            <a:r>
              <a:rPr lang="en-US" dirty="0"/>
              <a:t> </a:t>
            </a:r>
            <a:r>
              <a:rPr lang="en-US" dirty="0" err="1"/>
              <a:t>huruf</a:t>
            </a:r>
            <a:r>
              <a:rPr lang="en-US" dirty="0"/>
              <a:t> (A-Z atau a-z) atau </a:t>
            </a:r>
            <a:r>
              <a:rPr lang="en-US" dirty="0" err="1"/>
              <a:t>titik</a:t>
            </a:r>
            <a:r>
              <a:rPr lang="en-US" dirty="0"/>
              <a:t> (.)</a:t>
            </a:r>
          </a:p>
          <a:p>
            <a:pPr lvl="1"/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spasi</a:t>
            </a:r>
            <a:r>
              <a:rPr lang="en-US" dirty="0"/>
              <a:t> dan </a:t>
            </a:r>
            <a:r>
              <a:rPr lang="en-US" dirty="0" err="1"/>
              <a:t>karakter</a:t>
            </a:r>
            <a:r>
              <a:rPr lang="en-US" dirty="0"/>
              <a:t> </a:t>
            </a:r>
            <a:r>
              <a:rPr lang="en-US" dirty="0" err="1"/>
              <a:t>spesial</a:t>
            </a:r>
            <a:r>
              <a:rPr lang="en-US" dirty="0"/>
              <a:t> (!,@,#, </a:t>
            </a:r>
            <a:r>
              <a:rPr lang="en-US" dirty="0" err="1"/>
              <a:t>dst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Hindari</a:t>
            </a:r>
            <a:r>
              <a:rPr lang="en-US" dirty="0"/>
              <a:t> </a:t>
            </a:r>
            <a:r>
              <a:rPr lang="en-US" dirty="0" err="1"/>
              <a:t>penamaan</a:t>
            </a:r>
            <a:r>
              <a:rPr lang="en-US" dirty="0"/>
              <a:t>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fungsi</a:t>
            </a:r>
            <a:br>
              <a:rPr lang="en-US" dirty="0"/>
            </a:br>
            <a:r>
              <a:rPr lang="en-US" dirty="0" err="1"/>
              <a:t>Contoh</a:t>
            </a:r>
            <a:r>
              <a:rPr lang="en-US" dirty="0"/>
              <a:t> : c, q, s, t, diff, length, mean, </a:t>
            </a:r>
            <a:r>
              <a:rPr lang="en-US" dirty="0" err="1"/>
              <a:t>dll</a:t>
            </a:r>
            <a:endParaRPr lang="en-US" dirty="0"/>
          </a:p>
          <a:p>
            <a:pPr lvl="1"/>
            <a:r>
              <a:rPr lang="en-US" dirty="0" err="1"/>
              <a:t>Terdapat</a:t>
            </a:r>
            <a:r>
              <a:rPr lang="en-US" dirty="0"/>
              <a:t> reserved word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→ FALSE,</a:t>
            </a:r>
            <a:br>
              <a:rPr lang="en-US" dirty="0"/>
            </a:br>
            <a:r>
              <a:rPr lang="en-US" dirty="0"/>
              <a:t>TRUE, inf, NA, </a:t>
            </a:r>
            <a:r>
              <a:rPr lang="en-US" dirty="0" err="1"/>
              <a:t>NaN</a:t>
            </a:r>
            <a:r>
              <a:rPr lang="en-US" dirty="0"/>
              <a:t>, NULL, break, else, for , </a:t>
            </a:r>
            <a:r>
              <a:rPr lang="en-US" dirty="0" err="1"/>
              <a:t>dll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339C80F-8E0E-4BA7-B9ED-891723A40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2" y="121702"/>
            <a:ext cx="11189413" cy="1325563"/>
          </a:xfrm>
        </p:spPr>
        <p:txBody>
          <a:bodyPr/>
          <a:lstStyle/>
          <a:p>
            <a:r>
              <a:rPr lang="en-ID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Bagmana</a:t>
            </a:r>
            <a:r>
              <a:rPr lang="en-ID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D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cara</a:t>
            </a:r>
            <a:r>
              <a:rPr lang="en-ID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D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kerja</a:t>
            </a:r>
            <a:r>
              <a:rPr lang="en-ID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R-Studio</a:t>
            </a:r>
          </a:p>
        </p:txBody>
      </p:sp>
    </p:spTree>
    <p:extLst>
      <p:ext uri="{BB962C8B-B14F-4D97-AF65-F5344CB8AC3E}">
        <p14:creationId xmlns:p14="http://schemas.microsoft.com/office/powerpoint/2010/main" val="1263227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73F40-DA5B-4E3A-B947-097D3F565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443" y="1242646"/>
            <a:ext cx="11526318" cy="4900245"/>
          </a:xfrm>
        </p:spPr>
        <p:txBody>
          <a:bodyPr>
            <a:normAutofit/>
          </a:bodyPr>
          <a:lstStyle/>
          <a:p>
            <a:r>
              <a:rPr lang="en-US" dirty="0"/>
              <a:t>Markdown </a:t>
            </a:r>
            <a:r>
              <a:rPr lang="en-US" dirty="0" err="1"/>
              <a:t>adalah</a:t>
            </a:r>
            <a:r>
              <a:rPr lang="en-US" dirty="0"/>
              <a:t> tools </a:t>
            </a:r>
            <a:r>
              <a:rPr lang="en-US" dirty="0" err="1"/>
              <a:t>konversi</a:t>
            </a:r>
            <a:r>
              <a:rPr lang="en-US" dirty="0"/>
              <a:t> </a:t>
            </a:r>
            <a:r>
              <a:rPr lang="en-US" b="1" dirty="0"/>
              <a:t>text-to-HTML</a:t>
            </a:r>
            <a:r>
              <a:rPr lang="en-US" dirty="0"/>
              <a:t>. </a:t>
            </a:r>
            <a:r>
              <a:rPr lang="en-US" dirty="0" err="1"/>
              <a:t>Dengan</a:t>
            </a:r>
            <a:r>
              <a:rPr lang="en-US" dirty="0"/>
              <a:t> Markdown,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menulis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teks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mudah</a:t>
            </a:r>
            <a:r>
              <a:rPr lang="en-US" dirty="0"/>
              <a:t> dan </a:t>
            </a:r>
            <a:r>
              <a:rPr lang="en-US" dirty="0" err="1"/>
              <a:t>mengkonversinya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HTML/XHTML. Markdown </a:t>
            </a:r>
            <a:r>
              <a:rPr lang="en-US" dirty="0" err="1"/>
              <a:t>dibuat</a:t>
            </a:r>
            <a:r>
              <a:rPr lang="en-US" dirty="0"/>
              <a:t> oleh John Gruber </a:t>
            </a:r>
            <a:r>
              <a:rPr lang="en-US" dirty="0" err="1"/>
              <a:t>sejak</a:t>
            </a:r>
            <a:r>
              <a:rPr lang="en-US" dirty="0"/>
              <a:t> tahun 2004 dan </a:t>
            </a:r>
            <a:r>
              <a:rPr lang="en-US" dirty="0" err="1"/>
              <a:t>terus</a:t>
            </a:r>
            <a:r>
              <a:rPr lang="en-US" dirty="0"/>
              <a:t> </a:t>
            </a:r>
            <a:r>
              <a:rPr lang="en-US" dirty="0" err="1"/>
              <a:t>dikembangkan</a:t>
            </a:r>
            <a:r>
              <a:rPr lang="en-US" dirty="0"/>
              <a:t> </a:t>
            </a:r>
            <a:r>
              <a:rPr lang="en-US" dirty="0" err="1"/>
              <a:t>hingga</a:t>
            </a:r>
            <a:r>
              <a:rPr lang="en-US" dirty="0"/>
              <a:t> </a:t>
            </a:r>
            <a:r>
              <a:rPr lang="en-US" dirty="0" err="1"/>
              <a:t>sekarang</a:t>
            </a:r>
            <a:r>
              <a:rPr lang="en-US" dirty="0"/>
              <a:t>.</a:t>
            </a:r>
          </a:p>
          <a:p>
            <a:r>
              <a:rPr lang="en-US" dirty="0"/>
              <a:t>Markdown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alternatif</a:t>
            </a:r>
            <a:r>
              <a:rPr lang="en-US" dirty="0"/>
              <a:t> untuk </a:t>
            </a:r>
            <a:r>
              <a:rPr lang="en-US" dirty="0" err="1"/>
              <a:t>menulis</a:t>
            </a:r>
            <a:r>
              <a:rPr lang="en-US" dirty="0"/>
              <a:t> </a:t>
            </a:r>
            <a:r>
              <a:rPr lang="en-US" dirty="0" err="1"/>
              <a:t>konten</a:t>
            </a:r>
            <a:r>
              <a:rPr lang="en-US" dirty="0"/>
              <a:t> untuk web </a:t>
            </a:r>
            <a:r>
              <a:rPr lang="en-US" dirty="0" err="1"/>
              <a:t>maupun</a:t>
            </a:r>
            <a:r>
              <a:rPr lang="en-US" dirty="0"/>
              <a:t> blog </a:t>
            </a:r>
            <a:r>
              <a:rPr lang="en-US" dirty="0" err="1"/>
              <a:t>tanpa</a:t>
            </a:r>
            <a:r>
              <a:rPr lang="en-US" dirty="0"/>
              <a:t> </a:t>
            </a:r>
            <a:r>
              <a:rPr lang="en-US" dirty="0" err="1"/>
              <a:t>menuliskan</a:t>
            </a:r>
            <a:r>
              <a:rPr lang="en-US" dirty="0"/>
              <a:t> tag HTML,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menuliskan</a:t>
            </a:r>
            <a:r>
              <a:rPr lang="en-US" dirty="0"/>
              <a:t> </a:t>
            </a:r>
            <a:r>
              <a:rPr lang="en-US" dirty="0" err="1"/>
              <a:t>teks</a:t>
            </a:r>
            <a:r>
              <a:rPr lang="en-US" dirty="0"/>
              <a:t> </a:t>
            </a:r>
            <a:r>
              <a:rPr lang="en-US" dirty="0" err="1"/>
              <a:t>biasa</a:t>
            </a:r>
            <a:r>
              <a:rPr lang="en-US" dirty="0"/>
              <a:t> </a:t>
            </a:r>
            <a:r>
              <a:rPr lang="en-US" dirty="0" err="1"/>
              <a:t>ditambah</a:t>
            </a:r>
            <a:r>
              <a:rPr lang="en-US" dirty="0"/>
              <a:t> </a:t>
            </a:r>
            <a:r>
              <a:rPr lang="en-US" dirty="0" err="1"/>
              <a:t>simbol-simbol</a:t>
            </a:r>
            <a:r>
              <a:rPr lang="en-US" dirty="0"/>
              <a:t> yang </a:t>
            </a:r>
            <a:r>
              <a:rPr lang="en-US" dirty="0" err="1"/>
              <a:t>umum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asterisks (*), </a:t>
            </a:r>
            <a:r>
              <a:rPr lang="en-US" dirty="0" err="1"/>
              <a:t>undescore</a:t>
            </a:r>
            <a:r>
              <a:rPr lang="en-US" dirty="0"/>
              <a:t> (_), </a:t>
            </a:r>
            <a:r>
              <a:rPr lang="en-US" dirty="0" err="1"/>
              <a:t>tanda</a:t>
            </a:r>
            <a:r>
              <a:rPr lang="en-US" dirty="0"/>
              <a:t> lebih </a:t>
            </a:r>
            <a:r>
              <a:rPr lang="en-US" dirty="0" err="1"/>
              <a:t>kecil</a:t>
            </a:r>
            <a:r>
              <a:rPr lang="en-US" dirty="0"/>
              <a:t>/</a:t>
            </a:r>
            <a:r>
              <a:rPr lang="en-US" dirty="0" err="1"/>
              <a:t>besar</a:t>
            </a:r>
            <a:r>
              <a:rPr lang="en-US" dirty="0"/>
              <a:t> (&lt; &gt;), dan lain-lain.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demikian</a:t>
            </a:r>
            <a:r>
              <a:rPr lang="en-US" dirty="0"/>
              <a:t> </a:t>
            </a:r>
            <a:r>
              <a:rPr lang="en-US" dirty="0" err="1"/>
              <a:t>selain</a:t>
            </a:r>
            <a:r>
              <a:rPr lang="en-US" dirty="0"/>
              <a:t> lebih </a:t>
            </a:r>
            <a:r>
              <a:rPr lang="en-US" dirty="0" err="1"/>
              <a:t>sederhana</a:t>
            </a:r>
            <a:r>
              <a:rPr lang="en-US" dirty="0"/>
              <a:t>, Markdown sangat </a:t>
            </a:r>
            <a:r>
              <a:rPr lang="en-US" dirty="0" err="1"/>
              <a:t>mudah</a:t>
            </a:r>
            <a:r>
              <a:rPr lang="en-US" dirty="0"/>
              <a:t> </a:t>
            </a:r>
            <a:r>
              <a:rPr lang="en-US" dirty="0" err="1"/>
              <a:t>ditulis</a:t>
            </a:r>
            <a:r>
              <a:rPr lang="en-US" dirty="0"/>
              <a:t> dan juga </a:t>
            </a:r>
            <a:r>
              <a:rPr lang="en-US" dirty="0" err="1"/>
              <a:t>dibaca</a:t>
            </a:r>
            <a:r>
              <a:rPr lang="en-US" dirty="0"/>
              <a:t>. Untuk </a:t>
            </a:r>
            <a:r>
              <a:rPr lang="en-US" dirty="0" err="1"/>
              <a:t>menulis</a:t>
            </a:r>
            <a:r>
              <a:rPr lang="en-US" dirty="0"/>
              <a:t> </a:t>
            </a:r>
            <a:r>
              <a:rPr lang="en-US" dirty="0" err="1"/>
              <a:t>teks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format italic (</a:t>
            </a:r>
            <a:r>
              <a:rPr lang="en-US" dirty="0" err="1"/>
              <a:t>cetak</a:t>
            </a:r>
            <a:r>
              <a:rPr lang="en-US" dirty="0"/>
              <a:t> miring), </a:t>
            </a:r>
            <a:r>
              <a:rPr lang="en-US" dirty="0" err="1"/>
              <a:t>misalnya</a:t>
            </a:r>
            <a:r>
              <a:rPr lang="en-US" dirty="0"/>
              <a:t>,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asterisks (*), </a:t>
            </a:r>
            <a:r>
              <a:rPr lang="en-US" dirty="0" err="1"/>
              <a:t>tidak</a:t>
            </a:r>
            <a:r>
              <a:rPr lang="en-US" dirty="0"/>
              <a:t> lagi </a:t>
            </a:r>
            <a:r>
              <a:rPr lang="en-US" dirty="0" err="1"/>
              <a:t>menggunakan</a:t>
            </a:r>
            <a:r>
              <a:rPr lang="en-US" dirty="0"/>
              <a:t> tag HTML &lt;</a:t>
            </a:r>
            <a:r>
              <a:rPr lang="en-US" dirty="0" err="1"/>
              <a:t>i</a:t>
            </a:r>
            <a:r>
              <a:rPr lang="en-US" dirty="0"/>
              <a:t>&gt;.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339C80F-8E0E-4BA7-B9ED-891723A40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2" y="121702"/>
            <a:ext cx="11189413" cy="1325563"/>
          </a:xfrm>
        </p:spPr>
        <p:txBody>
          <a:bodyPr/>
          <a:lstStyle/>
          <a:p>
            <a:r>
              <a:rPr lang="en-ID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Markdown di R-Studio</a:t>
            </a:r>
          </a:p>
        </p:txBody>
      </p:sp>
    </p:spTree>
    <p:extLst>
      <p:ext uri="{BB962C8B-B14F-4D97-AF65-F5344CB8AC3E}">
        <p14:creationId xmlns:p14="http://schemas.microsoft.com/office/powerpoint/2010/main" val="992254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339C80F-8E0E-4BA7-B9ED-891723A40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2" y="121702"/>
            <a:ext cx="11189413" cy="1325563"/>
          </a:xfrm>
        </p:spPr>
        <p:txBody>
          <a:bodyPr/>
          <a:lstStyle/>
          <a:p>
            <a:r>
              <a:rPr lang="en-ID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Markdown di R-Studio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B9A7A9-4BFF-956E-97DB-5BD16BB59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1" y="1608083"/>
            <a:ext cx="5580942" cy="41260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0F22A9-DC97-1ABB-F3F0-7D619C9190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646"/>
          <a:stretch/>
        </p:blipFill>
        <p:spPr>
          <a:xfrm>
            <a:off x="0" y="1447265"/>
            <a:ext cx="6344044" cy="41260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FDDC0E1-3B7E-152E-4864-1EDD0FD52B77}"/>
              </a:ext>
            </a:extLst>
          </p:cNvPr>
          <p:cNvSpPr txBox="1"/>
          <p:nvPr/>
        </p:nvSpPr>
        <p:spPr>
          <a:xfrm>
            <a:off x="6344044" y="777086"/>
            <a:ext cx="50868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600" b="0" i="0" u="none" strike="noStrike" dirty="0">
                <a:solidFill>
                  <a:srgbClr val="0076DF"/>
                </a:solidFill>
                <a:effectLst/>
                <a:latin typeface="Calibri(Headings)"/>
                <a:hlinkClick r:id="rId4"/>
              </a:rPr>
              <a:t>R Markdown</a:t>
            </a:r>
            <a:r>
              <a:rPr lang="en-ID" sz="1600" b="0" i="0" dirty="0">
                <a:solidFill>
                  <a:srgbClr val="333333"/>
                </a:solidFill>
                <a:effectLst/>
                <a:latin typeface="Calibri(Headings)"/>
              </a:rPr>
              <a:t> </a:t>
            </a:r>
            <a:r>
              <a:rPr lang="en-ID" sz="1600" b="0" i="0" dirty="0" err="1">
                <a:solidFill>
                  <a:srgbClr val="333333"/>
                </a:solidFill>
                <a:effectLst/>
                <a:latin typeface="Calibri(Headings)"/>
              </a:rPr>
              <a:t>mengkombinasikan</a:t>
            </a:r>
            <a:r>
              <a:rPr lang="en-ID" sz="1600" b="0" i="0" dirty="0">
                <a:solidFill>
                  <a:srgbClr val="333333"/>
                </a:solidFill>
                <a:effectLst/>
                <a:latin typeface="Calibri(Headings)"/>
              </a:rPr>
              <a:t> </a:t>
            </a:r>
            <a:r>
              <a:rPr lang="en-ID" sz="1600" b="0" i="0" dirty="0" err="1">
                <a:solidFill>
                  <a:srgbClr val="333333"/>
                </a:solidFill>
                <a:effectLst/>
                <a:latin typeface="Calibri(Headings)"/>
              </a:rPr>
              <a:t>sintaks</a:t>
            </a:r>
            <a:r>
              <a:rPr lang="en-ID" sz="1600" b="0" i="0" dirty="0">
                <a:solidFill>
                  <a:srgbClr val="333333"/>
                </a:solidFill>
                <a:effectLst/>
                <a:latin typeface="Calibri(Headings)"/>
              </a:rPr>
              <a:t> Markdown </a:t>
            </a:r>
            <a:r>
              <a:rPr lang="en-ID" sz="1600" b="0" i="0" dirty="0" err="1">
                <a:solidFill>
                  <a:srgbClr val="333333"/>
                </a:solidFill>
                <a:effectLst/>
                <a:latin typeface="Calibri(Headings)"/>
              </a:rPr>
              <a:t>dengan</a:t>
            </a:r>
            <a:r>
              <a:rPr lang="en-ID" sz="1600" b="0" i="0" dirty="0">
                <a:solidFill>
                  <a:srgbClr val="333333"/>
                </a:solidFill>
                <a:effectLst/>
                <a:latin typeface="Calibri(Headings)"/>
              </a:rPr>
              <a:t> </a:t>
            </a:r>
            <a:r>
              <a:rPr lang="en-ID" sz="1600" b="0" i="0" dirty="0" err="1">
                <a:solidFill>
                  <a:srgbClr val="333333"/>
                </a:solidFill>
                <a:effectLst/>
                <a:latin typeface="Calibri(Headings)"/>
              </a:rPr>
              <a:t>kode</a:t>
            </a:r>
            <a:r>
              <a:rPr lang="en-ID" sz="1600" b="0" i="0" dirty="0">
                <a:solidFill>
                  <a:srgbClr val="333333"/>
                </a:solidFill>
                <a:effectLst/>
                <a:latin typeface="Calibri(Headings)"/>
              </a:rPr>
              <a:t> R </a:t>
            </a:r>
            <a:r>
              <a:rPr lang="en-ID" sz="1600" b="0" i="0" dirty="0" err="1">
                <a:solidFill>
                  <a:srgbClr val="333333"/>
                </a:solidFill>
                <a:effectLst/>
                <a:latin typeface="Calibri(Headings)"/>
              </a:rPr>
              <a:t>untuk</a:t>
            </a:r>
            <a:r>
              <a:rPr lang="en-ID" sz="1600" b="0" i="0" dirty="0">
                <a:solidFill>
                  <a:srgbClr val="333333"/>
                </a:solidFill>
                <a:effectLst/>
                <a:latin typeface="Calibri(Headings)"/>
              </a:rPr>
              <a:t> </a:t>
            </a:r>
            <a:r>
              <a:rPr lang="en-ID" sz="1600" b="0" i="0" dirty="0" err="1">
                <a:solidFill>
                  <a:srgbClr val="333333"/>
                </a:solidFill>
                <a:effectLst/>
                <a:latin typeface="Calibri(Headings)"/>
              </a:rPr>
              <a:t>membuat</a:t>
            </a:r>
            <a:r>
              <a:rPr lang="en-ID" sz="1600" b="0" i="0" dirty="0">
                <a:solidFill>
                  <a:srgbClr val="333333"/>
                </a:solidFill>
                <a:effectLst/>
                <a:latin typeface="Calibri(Headings)"/>
              </a:rPr>
              <a:t> </a:t>
            </a:r>
            <a:r>
              <a:rPr lang="en-ID" sz="1600" b="0" i="0" dirty="0" err="1">
                <a:solidFill>
                  <a:srgbClr val="333333"/>
                </a:solidFill>
                <a:effectLst/>
                <a:latin typeface="Calibri(Headings)"/>
              </a:rPr>
              <a:t>dokumen</a:t>
            </a:r>
            <a:r>
              <a:rPr lang="en-ID" sz="1600" b="0" i="0" dirty="0">
                <a:solidFill>
                  <a:srgbClr val="333333"/>
                </a:solidFill>
                <a:effectLst/>
                <a:latin typeface="Calibri(Headings)"/>
              </a:rPr>
              <a:t>, </a:t>
            </a:r>
            <a:r>
              <a:rPr lang="en-ID" sz="1600" b="0" i="0" dirty="0" err="1">
                <a:solidFill>
                  <a:srgbClr val="333333"/>
                </a:solidFill>
                <a:effectLst/>
                <a:latin typeface="Calibri(Headings)"/>
              </a:rPr>
              <a:t>presentasi</a:t>
            </a:r>
            <a:r>
              <a:rPr lang="en-ID" sz="1600" b="0" i="0" dirty="0">
                <a:solidFill>
                  <a:srgbClr val="333333"/>
                </a:solidFill>
                <a:effectLst/>
                <a:latin typeface="Calibri(Headings)"/>
              </a:rPr>
              <a:t> dan </a:t>
            </a:r>
            <a:r>
              <a:rPr lang="en-ID" sz="1600" b="0" i="0" dirty="0" err="1">
                <a:solidFill>
                  <a:srgbClr val="333333"/>
                </a:solidFill>
                <a:effectLst/>
                <a:latin typeface="Calibri(Headings)"/>
              </a:rPr>
              <a:t>laporan</a:t>
            </a:r>
            <a:r>
              <a:rPr lang="en-ID" sz="1600" b="0" i="0" dirty="0">
                <a:solidFill>
                  <a:srgbClr val="333333"/>
                </a:solidFill>
                <a:effectLst/>
                <a:latin typeface="Calibri(Headings)"/>
              </a:rPr>
              <a:t> </a:t>
            </a:r>
            <a:r>
              <a:rPr lang="en-ID" sz="1600" b="0" i="0" dirty="0" err="1">
                <a:solidFill>
                  <a:srgbClr val="333333"/>
                </a:solidFill>
                <a:effectLst/>
                <a:latin typeface="Calibri(Headings)"/>
              </a:rPr>
              <a:t>dengan</a:t>
            </a:r>
            <a:r>
              <a:rPr lang="en-ID" sz="1600" b="0" i="0" dirty="0">
                <a:solidFill>
                  <a:srgbClr val="333333"/>
                </a:solidFill>
                <a:effectLst/>
                <a:latin typeface="Calibri(Headings)"/>
              </a:rPr>
              <a:t> R.</a:t>
            </a:r>
            <a:endParaRPr lang="en-ID" sz="1600" dirty="0">
              <a:latin typeface="Calibri(Headings)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511685-5C88-96CB-22BB-95D15E368817}"/>
              </a:ext>
            </a:extLst>
          </p:cNvPr>
          <p:cNvSpPr txBox="1"/>
          <p:nvPr/>
        </p:nvSpPr>
        <p:spPr>
          <a:xfrm>
            <a:off x="1794933" y="5734164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Tampilan</a:t>
            </a:r>
            <a:r>
              <a:rPr lang="en-US" dirty="0"/>
              <a:t> di R-Studio (R-Editor)</a:t>
            </a:r>
            <a:endParaRPr lang="en-ID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45A0BE-465B-BE7C-C25E-EBA7596267D4}"/>
              </a:ext>
            </a:extLst>
          </p:cNvPr>
          <p:cNvSpPr txBox="1"/>
          <p:nvPr/>
        </p:nvSpPr>
        <p:spPr>
          <a:xfrm>
            <a:off x="8401755" y="5734164"/>
            <a:ext cx="1718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HTML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38609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55EE154-7414-492F-81E8-F32DCF478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2" y="121702"/>
            <a:ext cx="11189413" cy="1325563"/>
          </a:xfrm>
        </p:spPr>
        <p:txBody>
          <a:bodyPr/>
          <a:lstStyle/>
          <a:p>
            <a:r>
              <a:rPr lang="en-ID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Contoh</a:t>
            </a:r>
            <a:r>
              <a:rPr lang="en-ID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D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Analisis</a:t>
            </a:r>
            <a:r>
              <a:rPr lang="en-ID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di R-Studio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92F7D8-E863-B191-8F7C-51BEE98FD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78" y="1146924"/>
            <a:ext cx="6661492" cy="49215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D9DB08-40D4-DF7B-F519-F826E25747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2244"/>
          <a:stretch/>
        </p:blipFill>
        <p:spPr>
          <a:xfrm>
            <a:off x="4976337" y="1520835"/>
            <a:ext cx="7205153" cy="402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26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55EE154-7414-492F-81E8-F32DCF478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2" y="121702"/>
            <a:ext cx="11189413" cy="1325563"/>
          </a:xfrm>
        </p:spPr>
        <p:txBody>
          <a:bodyPr/>
          <a:lstStyle/>
          <a:p>
            <a:r>
              <a:rPr lang="en-ID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Contoh</a:t>
            </a:r>
            <a:r>
              <a:rPr lang="en-ID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D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Analisis</a:t>
            </a:r>
            <a:r>
              <a:rPr lang="en-ID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di R-Studio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5A01AF-8356-9398-DD24-1D786E529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359" y="1103587"/>
            <a:ext cx="6658168" cy="31846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2E3FB9-3F72-1CD9-386E-D5E252799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5921" y="2827283"/>
            <a:ext cx="7047497" cy="2892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059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55EE154-7414-492F-81E8-F32DCF478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2" y="121702"/>
            <a:ext cx="11189413" cy="1325563"/>
          </a:xfrm>
        </p:spPr>
        <p:txBody>
          <a:bodyPr/>
          <a:lstStyle/>
          <a:p>
            <a:r>
              <a:rPr lang="en-ID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Contoh</a:t>
            </a:r>
            <a:r>
              <a:rPr lang="en-ID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D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Analisis</a:t>
            </a:r>
            <a:r>
              <a:rPr lang="en-ID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di R-Studio</a:t>
            </a:r>
            <a:endParaRPr lang="en-ID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243A28-ABF9-570C-8A53-3FDC82B0A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42" y="1447265"/>
            <a:ext cx="6483683" cy="38673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FB1F08-344E-D791-AF88-8EFE60936A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8759" y="1543386"/>
            <a:ext cx="5347722" cy="4405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794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23" b="17675"/>
          <a:stretch/>
        </p:blipFill>
        <p:spPr bwMode="auto">
          <a:xfrm>
            <a:off x="-13252" y="1"/>
            <a:ext cx="1220525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-13252" y="0"/>
            <a:ext cx="12205252" cy="6858000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38748" y="449570"/>
            <a:ext cx="7985760" cy="1019776"/>
          </a:xfrm>
        </p:spPr>
        <p:txBody>
          <a:bodyPr>
            <a:noAutofit/>
          </a:bodyPr>
          <a:lstStyle/>
          <a:p>
            <a:pPr algn="ctr"/>
            <a:r>
              <a:rPr lang="en-US" sz="7200" b="1" i="1" dirty="0" err="1"/>
              <a:t>Hatur</a:t>
            </a:r>
            <a:r>
              <a:rPr lang="en-US" sz="7200" b="1" i="1" dirty="0"/>
              <a:t> </a:t>
            </a:r>
            <a:r>
              <a:rPr lang="en-US" sz="7200" b="1" i="1" dirty="0" err="1"/>
              <a:t>nuhun</a:t>
            </a:r>
            <a:endParaRPr lang="en-US" sz="7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599" y="4903304"/>
            <a:ext cx="8161021" cy="156428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/>
              <a:t>Department of Economics - IPB University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/>
              <a:t>IPB </a:t>
            </a:r>
            <a:r>
              <a:rPr lang="en-US" sz="1800" dirty="0" err="1"/>
              <a:t>Dramaga</a:t>
            </a:r>
            <a:r>
              <a:rPr lang="en-US" sz="1800" dirty="0"/>
              <a:t> Campus, Bogor 16680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 err="1"/>
              <a:t>Telp</a:t>
            </a:r>
            <a:r>
              <a:rPr lang="en-US" sz="1800" dirty="0"/>
              <a:t>.: 0251-8622602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/>
              <a:t>E-mail: ilmu_ekonomi@ipb.ac.id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/>
              <a:t>Web   : http://ilmuekonomi.fem.pb.ac.id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56" y="4784035"/>
            <a:ext cx="2480384" cy="1683555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3445565" y="4784035"/>
            <a:ext cx="0" cy="16835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3">
            <a:extLst>
              <a:ext uri="{FF2B5EF4-FFF2-40B4-BE49-F238E27FC236}">
                <a16:creationId xmlns:a16="http://schemas.microsoft.com/office/drawing/2014/main" id="{608B0327-7718-4DAA-BFC1-6381E679DF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11666893" y="3180522"/>
            <a:ext cx="538359" cy="367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889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9629</TotalTime>
  <Words>778</Words>
  <Application>Microsoft Office PowerPoint</Application>
  <PresentationFormat>Widescreen</PresentationFormat>
  <Paragraphs>83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Calibri(Headings)</vt:lpstr>
      <vt:lpstr>Cambria</vt:lpstr>
      <vt:lpstr>Lucida Console</vt:lpstr>
      <vt:lpstr>Office Theme</vt:lpstr>
      <vt:lpstr>PowerPoint Presentation</vt:lpstr>
      <vt:lpstr>Pengenalan R-Studio</vt:lpstr>
      <vt:lpstr>Pengenalan Software R-Studio</vt:lpstr>
      <vt:lpstr>Pengenalan Software R-Studio</vt:lpstr>
      <vt:lpstr>Pengenalan Software R-Studio</vt:lpstr>
      <vt:lpstr>Pengenalan Software R-Studio</vt:lpstr>
      <vt:lpstr>Pengenalan Software R-Studio</vt:lpstr>
      <vt:lpstr>Pengenalan Software R-Studio</vt:lpstr>
      <vt:lpstr>Pengenalan Software R-Studio</vt:lpstr>
      <vt:lpstr>Bagmana cara kerja R-Studio</vt:lpstr>
      <vt:lpstr>Markdown di R-Studio</vt:lpstr>
      <vt:lpstr>Markdown di R-Studio</vt:lpstr>
      <vt:lpstr>Contoh Analisis di R-Studio</vt:lpstr>
      <vt:lpstr>Contoh Analisis di R-Studio</vt:lpstr>
      <vt:lpstr>Contoh Analisis di R-Studio</vt:lpstr>
      <vt:lpstr>Hatur nuhun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Fahmi Salam Ahmad</dc:creator>
  <cp:lastModifiedBy>Deri Siswara</cp:lastModifiedBy>
  <cp:revision>866</cp:revision>
  <dcterms:created xsi:type="dcterms:W3CDTF">2020-01-03T09:07:54Z</dcterms:created>
  <dcterms:modified xsi:type="dcterms:W3CDTF">2022-09-30T16:25:57Z</dcterms:modified>
</cp:coreProperties>
</file>