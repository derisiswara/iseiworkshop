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446" r:id="rId3"/>
    <p:sldId id="390" r:id="rId4"/>
    <p:sldId id="406" r:id="rId5"/>
    <p:sldId id="407" r:id="rId6"/>
    <p:sldId id="434" r:id="rId7"/>
    <p:sldId id="408" r:id="rId8"/>
    <p:sldId id="409" r:id="rId9"/>
    <p:sldId id="410" r:id="rId10"/>
    <p:sldId id="411" r:id="rId11"/>
    <p:sldId id="421" r:id="rId12"/>
    <p:sldId id="412" r:id="rId13"/>
    <p:sldId id="422" r:id="rId14"/>
    <p:sldId id="423" r:id="rId15"/>
    <p:sldId id="424" r:id="rId16"/>
    <p:sldId id="425" r:id="rId17"/>
    <p:sldId id="426" r:id="rId18"/>
    <p:sldId id="427" r:id="rId19"/>
    <p:sldId id="428" r:id="rId20"/>
    <p:sldId id="429" r:id="rId21"/>
    <p:sldId id="431" r:id="rId22"/>
    <p:sldId id="430" r:id="rId23"/>
    <p:sldId id="413" r:id="rId24"/>
    <p:sldId id="414" r:id="rId25"/>
    <p:sldId id="415" r:id="rId26"/>
    <p:sldId id="416" r:id="rId27"/>
    <p:sldId id="417" r:id="rId28"/>
    <p:sldId id="418" r:id="rId29"/>
    <p:sldId id="419" r:id="rId30"/>
    <p:sldId id="420" r:id="rId31"/>
    <p:sldId id="432" r:id="rId32"/>
    <p:sldId id="433" r:id="rId33"/>
    <p:sldId id="435" r:id="rId34"/>
    <p:sldId id="436" r:id="rId35"/>
    <p:sldId id="444" r:id="rId36"/>
    <p:sldId id="437" r:id="rId37"/>
    <p:sldId id="439" r:id="rId38"/>
    <p:sldId id="440" r:id="rId39"/>
    <p:sldId id="441" r:id="rId40"/>
    <p:sldId id="445" r:id="rId41"/>
    <p:sldId id="442" r:id="rId42"/>
    <p:sldId id="443" r:id="rId43"/>
    <p:sldId id="366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50" autoAdjust="0"/>
    <p:restoredTop sz="94291" autoAdjust="0"/>
  </p:normalViewPr>
  <p:slideViewPr>
    <p:cSldViewPr snapToGrid="0">
      <p:cViewPr varScale="1">
        <p:scale>
          <a:sx n="58" d="100"/>
          <a:sy n="58" d="100"/>
        </p:scale>
        <p:origin x="824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EA2C72-4039-4AC0-8453-6233B6775934}" type="datetimeFigureOut">
              <a:rPr lang="en-US" smtClean="0"/>
              <a:t>12/25/2020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0B243-5D0D-40B7-940C-120BF66BF7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776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0B243-5D0D-40B7-940C-120BF66BF7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9317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0B243-5D0D-40B7-940C-120BF66BF7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54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0B243-5D0D-40B7-940C-120BF66BF7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130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B243-5D0D-40B7-940C-120BF66BF7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182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b="0" i="0" dirty="0">
                <a:solidFill>
                  <a:srgbClr val="000000"/>
                </a:solidFill>
                <a:effectLst/>
                <a:latin typeface="ProximaNova"/>
              </a:rPr>
              <a:t>Bilangan integer disebut juga bilangan bulat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B243-5D0D-40B7-940C-120BF66BF7F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3845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0B243-5D0D-40B7-940C-120BF66BF7F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4238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C0B243-5D0D-40B7-940C-120BF66BF7FD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971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04EC-A4E1-4B7C-9164-7FC1983687DA}" type="datetimeFigureOut">
              <a:rPr lang="en-US" smtClean="0"/>
              <a:t>12/25/2020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301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raphic 13">
            <a:extLst>
              <a:ext uri="{FF2B5EF4-FFF2-40B4-BE49-F238E27FC236}">
                <a16:creationId xmlns:a16="http://schemas.microsoft.com/office/drawing/2014/main" id="{E3E8C3C2-9512-41D9-8EFB-5AB0E22B88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 rot="5400000" flipH="1">
            <a:off x="4744432" y="-4744434"/>
            <a:ext cx="442678" cy="9931545"/>
          </a:xfrm>
          <a:prstGeom prst="rect">
            <a:avLst/>
          </a:prstGeom>
        </p:spPr>
      </p:pic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4AC291A4-A780-4BC8-8AF3-D2E8544068D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6790" y="136525"/>
            <a:ext cx="2079783" cy="54442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8682FE-8DCF-4B87-A138-AA71F880EC85}"/>
              </a:ext>
            </a:extLst>
          </p:cNvPr>
          <p:cNvCxnSpPr>
            <a:cxnSpLocks/>
          </p:cNvCxnSpPr>
          <p:nvPr userDrawn="1"/>
        </p:nvCxnSpPr>
        <p:spPr>
          <a:xfrm>
            <a:off x="-3" y="6195810"/>
            <a:ext cx="9228224" cy="0"/>
          </a:xfrm>
          <a:prstGeom prst="line">
            <a:avLst/>
          </a:prstGeom>
          <a:ln w="3810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997FF6E-BA6A-49EF-8766-07CED1471F9A}"/>
              </a:ext>
            </a:extLst>
          </p:cNvPr>
          <p:cNvSpPr txBox="1"/>
          <p:nvPr userDrawn="1"/>
        </p:nvSpPr>
        <p:spPr>
          <a:xfrm>
            <a:off x="136483" y="6236752"/>
            <a:ext cx="893928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/>
              <a:t>Department of Economics </a:t>
            </a:r>
            <a:r>
              <a:rPr lang="en-US" sz="1500"/>
              <a:t>| Faculty of Economics and Management</a:t>
            </a:r>
          </a:p>
          <a:p>
            <a:r>
              <a:rPr lang="en-US" sz="1500"/>
              <a:t>☎ +62 251 8626602  ✉ ilmu_ekonomi@ipb.ac.id  </a:t>
            </a:r>
            <a:r>
              <a:rPr lang="en-US" sz="1500" b="1"/>
              <a:t>🌐 </a:t>
            </a:r>
            <a:r>
              <a:rPr lang="en-US" sz="1500"/>
              <a:t>http://ekonomi.fem.ipb.ac.id        @dept.ieipb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C7A538-6D79-4739-B6A1-3D596722B351}"/>
              </a:ext>
            </a:extLst>
          </p:cNvPr>
          <p:cNvPicPr/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480" y="6490037"/>
            <a:ext cx="274320" cy="27432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62363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04EC-A4E1-4B7C-9164-7FC1983687DA}" type="datetimeFigureOut">
              <a:rPr lang="en-US" smtClean="0"/>
              <a:t>12/25/2020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23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04EC-A4E1-4B7C-9164-7FC1983687DA}" type="datetimeFigureOut">
              <a:rPr lang="en-US" smtClean="0"/>
              <a:t>12/25/2020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76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04EC-A4E1-4B7C-9164-7FC1983687DA}" type="datetimeFigureOut">
              <a:rPr lang="en-US" smtClean="0"/>
              <a:t>12/25/2020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677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04EC-A4E1-4B7C-9164-7FC1983687DA}" type="datetimeFigureOut">
              <a:rPr lang="en-US" smtClean="0"/>
              <a:t>12/25/2020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417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04EC-A4E1-4B7C-9164-7FC1983687DA}" type="datetimeFigureOut">
              <a:rPr lang="en-US" smtClean="0"/>
              <a:t>12/25/2020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527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04EC-A4E1-4B7C-9164-7FC1983687DA}" type="datetimeFigureOut">
              <a:rPr lang="en-US" smtClean="0"/>
              <a:t>12/25/2020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328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04EC-A4E1-4B7C-9164-7FC1983687DA}" type="datetimeFigureOut">
              <a:rPr lang="en-US" smtClean="0"/>
              <a:t>12/25/2020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534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04EC-A4E1-4B7C-9164-7FC1983687DA}" type="datetimeFigureOut">
              <a:rPr lang="en-US" smtClean="0"/>
              <a:t>12/25/2020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331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004EC-A4E1-4B7C-9164-7FC1983687DA}" type="datetimeFigureOut">
              <a:rPr lang="en-US" smtClean="0"/>
              <a:t>12/25/2020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87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1004EC-A4E1-4B7C-9164-7FC1983687DA}" type="datetimeFigureOut">
              <a:rPr lang="en-US" smtClean="0"/>
              <a:t>12/25/2020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C5407C-B654-4645-A2B1-556B603E0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6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epo.bppt.go.id/cran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studio.com/products/rstudio/download/#download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hda.com/english/wiki/scatter-plots-r-base-graph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hyperlink" Target="https://www.rdocumentation.org/packages/stats/versions/3.6.2/topics/lm" TargetMode="External"/><Relationship Id="rId4" Type="http://schemas.openxmlformats.org/officeDocument/2006/relationships/hyperlink" Target="https://www.rdocumentation.org/packages/graphics/versions/3.6.2/topics/plot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F47527-0B1C-4661-8BBD-3CB960B3D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33" y="732165"/>
            <a:ext cx="3800475" cy="4800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16711" y="5111111"/>
            <a:ext cx="7516863" cy="42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6510" algn="ctr">
              <a:lnSpc>
                <a:spcPct val="107000"/>
              </a:lnSpc>
              <a:spcBef>
                <a:spcPts val="5"/>
              </a:spcBef>
              <a:spcAft>
                <a:spcPts val="800"/>
              </a:spcAft>
            </a:pPr>
            <a:endParaRPr lang="en-US" sz="2000" b="1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5">
            <a:extLst>
              <a:ext uri="{FF2B5EF4-FFF2-40B4-BE49-F238E27FC236}">
                <a16:creationId xmlns:a16="http://schemas.microsoft.com/office/drawing/2014/main" id="{3061932A-E98F-46C1-B2E8-FBACE3A55E6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9008" y="39380"/>
            <a:ext cx="3584091" cy="93819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D9E32BE-C698-4E0C-BFE4-AC450538B959}"/>
              </a:ext>
            </a:extLst>
          </p:cNvPr>
          <p:cNvSpPr/>
          <p:nvPr/>
        </p:nvSpPr>
        <p:spPr>
          <a:xfrm>
            <a:off x="0" y="6465194"/>
            <a:ext cx="12192000" cy="392806"/>
          </a:xfrm>
          <a:prstGeom prst="rect">
            <a:avLst/>
          </a:prstGeom>
          <a:solidFill>
            <a:srgbClr val="243B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ubtitle 2"/>
          <p:cNvSpPr txBox="1">
            <a:spLocks/>
          </p:cNvSpPr>
          <p:nvPr/>
        </p:nvSpPr>
        <p:spPr>
          <a:xfrm>
            <a:off x="4205800" y="5979581"/>
            <a:ext cx="4586508" cy="39280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en-US" b="1" dirty="0">
                <a:ea typeface="Arial" panose="020B0604020202020204" pitchFamily="34" charset="0"/>
                <a:cs typeface="Arial" panose="020B0604020202020204" pitchFamily="34" charset="0"/>
              </a:rPr>
              <a:t>Bogor</a:t>
            </a:r>
            <a:r>
              <a:rPr lang="id-ID" b="1" dirty="0">
                <a:ea typeface="Arial" panose="020B0604020202020204" pitchFamily="34" charset="0"/>
                <a:cs typeface="Arial" panose="020B0604020202020204" pitchFamily="34" charset="0"/>
              </a:rPr>
              <a:t>, 26</a:t>
            </a:r>
            <a:r>
              <a:rPr lang="en-US" b="1" dirty="0">
                <a:ea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d-ID" b="1" dirty="0">
                <a:ea typeface="Arial" panose="020B0604020202020204" pitchFamily="34" charset="0"/>
                <a:cs typeface="Arial" panose="020B0604020202020204" pitchFamily="34" charset="0"/>
              </a:rPr>
              <a:t>Desember </a:t>
            </a:r>
            <a:r>
              <a:rPr lang="en-US" b="1" dirty="0">
                <a:ea typeface="Arial" panose="020B0604020202020204" pitchFamily="34" charset="0"/>
                <a:cs typeface="Arial" panose="020B0604020202020204" pitchFamily="34" charset="0"/>
              </a:rPr>
              <a:t>2020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4205800" y="4281270"/>
            <a:ext cx="759510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AutoShape 2" descr="Hasil gambar untuk kacang hijau indah"/>
          <p:cNvSpPr>
            <a:spLocks noChangeAspect="1" noChangeArrowheads="1"/>
          </p:cNvSpPr>
          <p:nvPr/>
        </p:nvSpPr>
        <p:spPr bwMode="auto">
          <a:xfrm>
            <a:off x="4739894" y="39530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31" name="AutoShape 2" descr="Hasil gambar untuk produk ekspor sapi indonesia"/>
          <p:cNvSpPr>
            <a:spLocks noChangeAspect="1" noChangeArrowheads="1"/>
          </p:cNvSpPr>
          <p:nvPr/>
        </p:nvSpPr>
        <p:spPr bwMode="auto">
          <a:xfrm>
            <a:off x="4892294" y="825102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id-ID"/>
          </a:p>
        </p:txBody>
      </p:sp>
      <p:sp>
        <p:nvSpPr>
          <p:cNvPr id="32" name="Rectangle 31"/>
          <p:cNvSpPr/>
          <p:nvPr/>
        </p:nvSpPr>
        <p:spPr>
          <a:xfrm>
            <a:off x="4205800" y="3485408"/>
            <a:ext cx="5753691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3200" b="1" dirty="0">
                <a:ea typeface="Calibri" panose="020F0502020204030204" pitchFamily="34" charset="0"/>
                <a:cs typeface="Arial" panose="020B0604020202020204" pitchFamily="34" charset="0"/>
              </a:rPr>
              <a:t>Prof M Firdaus | Deri </a:t>
            </a:r>
            <a:r>
              <a:rPr lang="id-ID" sz="3200" b="1" dirty="0" smtClean="0">
                <a:ea typeface="Calibri" panose="020F0502020204030204" pitchFamily="34" charset="0"/>
                <a:cs typeface="Arial" panose="020B0604020202020204" pitchFamily="34" charset="0"/>
              </a:rPr>
              <a:t>Siswara</a:t>
            </a:r>
            <a:r>
              <a:rPr lang="en-US" sz="3200" b="1" dirty="0" smtClean="0">
                <a:ea typeface="Calibri" panose="020F0502020204030204" pitchFamily="34" charset="0"/>
                <a:cs typeface="Arial" panose="020B0604020202020204" pitchFamily="34" charset="0"/>
              </a:rPr>
              <a:t>, SE</a:t>
            </a:r>
            <a:endParaRPr lang="en-US" sz="3200" b="1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2800" b="1" dirty="0">
              <a:cs typeface="Arial" panose="020B0604020202020204" pitchFamily="34" charset="0"/>
            </a:endParaRPr>
          </a:p>
          <a:p>
            <a:r>
              <a:rPr lang="en-US" sz="2800" b="1" dirty="0" err="1">
                <a:cs typeface="Arial" panose="020B0604020202020204" pitchFamily="34" charset="0"/>
              </a:rPr>
              <a:t>Departemen</a:t>
            </a:r>
            <a:r>
              <a:rPr lang="en-US" sz="2800" b="1" dirty="0">
                <a:cs typeface="Arial" panose="020B0604020202020204" pitchFamily="34" charset="0"/>
              </a:rPr>
              <a:t> </a:t>
            </a:r>
            <a:r>
              <a:rPr lang="en-US" sz="2800" b="1" dirty="0" err="1">
                <a:cs typeface="Arial" panose="020B0604020202020204" pitchFamily="34" charset="0"/>
              </a:rPr>
              <a:t>Ilmu</a:t>
            </a:r>
            <a:r>
              <a:rPr lang="en-US" sz="2800" b="1" dirty="0">
                <a:cs typeface="Arial" panose="020B0604020202020204" pitchFamily="34" charset="0"/>
              </a:rPr>
              <a:t> </a:t>
            </a:r>
            <a:r>
              <a:rPr lang="en-US" sz="2800" b="1" dirty="0" err="1">
                <a:cs typeface="Arial" panose="020B0604020202020204" pitchFamily="34" charset="0"/>
              </a:rPr>
              <a:t>Ekonomi</a:t>
            </a:r>
            <a:endParaRPr lang="en-US" sz="2800" b="1" dirty="0">
              <a:cs typeface="Arial" panose="020B0604020202020204" pitchFamily="34" charset="0"/>
            </a:endParaRPr>
          </a:p>
          <a:p>
            <a:r>
              <a:rPr lang="en-US" sz="2800" b="1" dirty="0" err="1">
                <a:cs typeface="Arial" panose="020B0604020202020204" pitchFamily="34" charset="0"/>
              </a:rPr>
              <a:t>Fakultas</a:t>
            </a:r>
            <a:r>
              <a:rPr lang="en-US" sz="2800" b="1" dirty="0">
                <a:cs typeface="Arial" panose="020B0604020202020204" pitchFamily="34" charset="0"/>
              </a:rPr>
              <a:t> </a:t>
            </a:r>
            <a:r>
              <a:rPr lang="en-US" sz="2800" b="1" dirty="0" err="1">
                <a:cs typeface="Arial" panose="020B0604020202020204" pitchFamily="34" charset="0"/>
              </a:rPr>
              <a:t>Ekonomi</a:t>
            </a:r>
            <a:r>
              <a:rPr lang="en-US" sz="2800" b="1" dirty="0">
                <a:cs typeface="Arial" panose="020B0604020202020204" pitchFamily="34" charset="0"/>
              </a:rPr>
              <a:t> </a:t>
            </a:r>
            <a:r>
              <a:rPr lang="en-US" sz="2800" b="1" dirty="0" err="1">
                <a:cs typeface="Arial" panose="020B0604020202020204" pitchFamily="34" charset="0"/>
              </a:rPr>
              <a:t>dan</a:t>
            </a:r>
            <a:r>
              <a:rPr lang="en-US" sz="2800" b="1" dirty="0">
                <a:cs typeface="Arial" panose="020B0604020202020204" pitchFamily="34" charset="0"/>
              </a:rPr>
              <a:t> </a:t>
            </a:r>
            <a:r>
              <a:rPr lang="en-US" sz="2800" b="1" dirty="0" err="1">
                <a:cs typeface="Arial" panose="020B0604020202020204" pitchFamily="34" charset="0"/>
              </a:rPr>
              <a:t>Manajemen</a:t>
            </a:r>
            <a:endParaRPr lang="en-US" sz="2800" b="1" dirty="0">
              <a:cs typeface="Arial" panose="020B0604020202020204" pitchFamily="34" charset="0"/>
            </a:endParaRPr>
          </a:p>
          <a:p>
            <a:r>
              <a:rPr lang="en-US" sz="2800" b="1" dirty="0" err="1">
                <a:cs typeface="Arial" panose="020B0604020202020204" pitchFamily="34" charset="0"/>
              </a:rPr>
              <a:t>Institut</a:t>
            </a:r>
            <a:r>
              <a:rPr lang="en-US" sz="2800" b="1" dirty="0">
                <a:cs typeface="Arial" panose="020B0604020202020204" pitchFamily="34" charset="0"/>
              </a:rPr>
              <a:t> </a:t>
            </a:r>
            <a:r>
              <a:rPr lang="en-US" sz="2800" b="1" dirty="0" err="1">
                <a:cs typeface="Arial" panose="020B0604020202020204" pitchFamily="34" charset="0"/>
              </a:rPr>
              <a:t>Pertanian</a:t>
            </a:r>
            <a:r>
              <a:rPr lang="en-US" sz="2800" b="1" dirty="0">
                <a:cs typeface="Arial" panose="020B0604020202020204" pitchFamily="34" charset="0"/>
              </a:rPr>
              <a:t> Bogor</a:t>
            </a:r>
            <a:endParaRPr lang="id-ID" sz="2800" dirty="0">
              <a:cs typeface="Arial" panose="020B0604020202020204" pitchFamily="34" charset="0"/>
            </a:endParaRPr>
          </a:p>
        </p:txBody>
      </p:sp>
      <p:sp>
        <p:nvSpPr>
          <p:cNvPr id="33" name="Title 1"/>
          <p:cNvSpPr txBox="1">
            <a:spLocks/>
          </p:cNvSpPr>
          <p:nvPr/>
        </p:nvSpPr>
        <p:spPr>
          <a:xfrm>
            <a:off x="4193612" y="862345"/>
            <a:ext cx="7860155" cy="91315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en-US" sz="54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sz="5400" b="1" dirty="0" err="1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Pengenalan</a:t>
            </a:r>
            <a:r>
              <a:rPr lang="en-US" sz="54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 R</a:t>
            </a:r>
            <a:r>
              <a:rPr lang="id-ID" sz="54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 dan Regresi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itle 1"/>
          <p:cNvSpPr txBox="1">
            <a:spLocks/>
          </p:cNvSpPr>
          <p:nvPr/>
        </p:nvSpPr>
        <p:spPr>
          <a:xfrm>
            <a:off x="120076" y="-37873"/>
            <a:ext cx="10917446" cy="91315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Ekonometrika</a:t>
            </a:r>
            <a:endParaRPr lang="en-US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47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418435" y="1301073"/>
            <a:ext cx="7772400" cy="13824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99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 sz="4500" dirty="0" smtClean="0"/>
              <a:t>GB </a:t>
            </a:r>
            <a:r>
              <a:rPr lang="id-ID" sz="4500" dirty="0" smtClean="0"/>
              <a:t>Dept IE FEM-IPB</a:t>
            </a:r>
            <a:endParaRPr lang="en-US" sz="4500" dirty="0"/>
          </a:p>
        </p:txBody>
      </p:sp>
      <p:pic>
        <p:nvPicPr>
          <p:cNvPr id="9" name="Picture 3" descr="C:\Users\Asus\Pictures\My Note 2019\20190120_201528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929" y="2337828"/>
            <a:ext cx="2298232" cy="3510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7055" y="2337828"/>
            <a:ext cx="2199816" cy="3530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0" y="-923395"/>
            <a:ext cx="10917446" cy="877702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s-ES" sz="8000" b="1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/>
            </a:r>
            <a:br>
              <a:rPr lang="es-ES" sz="8000" b="1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es-ES" sz="8000" b="1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s-ES" sz="6000" b="1" dirty="0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CV M. </a:t>
            </a:r>
            <a:r>
              <a:rPr lang="es-ES" sz="6000" b="1" dirty="0" err="1" smtClean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Firdaus</a:t>
            </a:r>
            <a:endPara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6"/>
          <a:stretch/>
        </p:blipFill>
        <p:spPr>
          <a:xfrm>
            <a:off x="5642078" y="1470927"/>
            <a:ext cx="6301154" cy="4524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953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79853-5E67-4268-A383-8AA079E96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225874"/>
            <a:ext cx="11189413" cy="1325563"/>
          </a:xfrm>
        </p:spPr>
        <p:txBody>
          <a:bodyPr/>
          <a:lstStyle/>
          <a:p>
            <a:r>
              <a:rPr lang="en-ID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Topik</a:t>
            </a:r>
            <a:r>
              <a:rPr lang="en-ID" b="1" dirty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D" b="1" dirty="0" err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Bahasan</a:t>
            </a:r>
            <a:endParaRPr lang="en-ID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41442" y="1601047"/>
            <a:ext cx="11488103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Pengenalan software 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Bagaimana cara kerja R?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Operasi Matematika Sederhana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Objek Data : Vektor, Matriks, Array, Factor, List, Data Frame</a:t>
            </a:r>
            <a:endParaRPr lang="en-US" sz="280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Impor data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Eksplorasi data</a:t>
            </a:r>
            <a:endParaRPr lang="en-US" sz="280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998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79853-5E67-4268-A383-8AA079E96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Pengenalan Software R</a:t>
            </a:r>
            <a:endParaRPr lang="en-ID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41442" y="1447265"/>
            <a:ext cx="11709116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R </a:t>
            </a:r>
            <a:r>
              <a:rPr lang="en-US" sz="2800" dirty="0" err="1"/>
              <a:t>adalah</a:t>
            </a:r>
            <a:r>
              <a:rPr lang="en-US" sz="2800" dirty="0"/>
              <a:t> </a:t>
            </a:r>
            <a:r>
              <a:rPr lang="en-US" sz="2800" b="1" i="1" dirty="0"/>
              <a:t>free software</a:t>
            </a:r>
            <a:r>
              <a:rPr lang="en-US" sz="2800" b="1" i="0" dirty="0"/>
              <a:t> </a:t>
            </a:r>
            <a:r>
              <a:rPr lang="en-US" sz="2800" i="0" dirty="0" err="1"/>
              <a:t>untuk</a:t>
            </a:r>
            <a:r>
              <a:rPr lang="en-US" sz="2800" i="0" dirty="0"/>
              <a:t> </a:t>
            </a:r>
            <a:r>
              <a:rPr lang="en-US" sz="2800" i="0" dirty="0" err="1"/>
              <a:t>analisis</a:t>
            </a:r>
            <a:r>
              <a:rPr lang="en-US" sz="2800" i="0" dirty="0"/>
              <a:t> data dan </a:t>
            </a:r>
            <a:r>
              <a:rPr lang="en-US" sz="2800" i="0" dirty="0" err="1"/>
              <a:t>grafik</a:t>
            </a:r>
            <a:r>
              <a:rPr lang="en-US" sz="2800" i="0" dirty="0"/>
              <a:t> yang </a:t>
            </a:r>
            <a:r>
              <a:rPr lang="en-US" sz="2800" i="0" dirty="0" err="1"/>
              <a:t>didasarkan</a:t>
            </a:r>
            <a:r>
              <a:rPr lang="en-US" sz="2800" i="0" dirty="0"/>
              <a:t> pada </a:t>
            </a:r>
            <a:r>
              <a:rPr lang="en-US" sz="2800" i="0" dirty="0" err="1"/>
              <a:t>bahasa</a:t>
            </a:r>
            <a:r>
              <a:rPr lang="en-US" sz="2800" i="0" dirty="0"/>
              <a:t> </a:t>
            </a:r>
            <a:r>
              <a:rPr lang="en-US" sz="2800" i="0" dirty="0" err="1"/>
              <a:t>pemograman</a:t>
            </a:r>
            <a:r>
              <a:rPr lang="en-US" sz="2800" i="0" dirty="0"/>
              <a:t> 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/>
              <a:t>R </a:t>
            </a:r>
            <a:r>
              <a:rPr lang="en-US" sz="2800" dirty="0" err="1"/>
              <a:t>merupakan</a:t>
            </a:r>
            <a:r>
              <a:rPr lang="en-US" sz="2800" dirty="0"/>
              <a:t> </a:t>
            </a:r>
            <a:r>
              <a:rPr lang="en-US" sz="2800" dirty="0" err="1"/>
              <a:t>bahasa</a:t>
            </a:r>
            <a:r>
              <a:rPr lang="en-US" sz="2800" dirty="0"/>
              <a:t> </a:t>
            </a:r>
            <a:r>
              <a:rPr lang="en-US" sz="2800" dirty="0" err="1"/>
              <a:t>pemograman</a:t>
            </a:r>
            <a:r>
              <a:rPr lang="en-US" sz="2800" dirty="0"/>
              <a:t> </a:t>
            </a:r>
            <a:r>
              <a:rPr lang="en-US" sz="2800" dirty="0" err="1"/>
              <a:t>tingkat</a:t>
            </a:r>
            <a:r>
              <a:rPr lang="en-US" sz="2800" dirty="0"/>
              <a:t> </a:t>
            </a:r>
            <a:r>
              <a:rPr lang="en-US" sz="2800" dirty="0" err="1" smtClean="0"/>
              <a:t>tinggi</a:t>
            </a:r>
            <a:endParaRPr lang="en-US" sz="2800" dirty="0"/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 err="1"/>
              <a:t>Dibuat</a:t>
            </a:r>
            <a:r>
              <a:rPr lang="en-US" sz="2800" dirty="0"/>
              <a:t> oleh Ross Ihaka dan Robert </a:t>
            </a:r>
            <a:r>
              <a:rPr lang="en-US" sz="2800" dirty="0" smtClean="0"/>
              <a:t>Gentleman </a:t>
            </a:r>
            <a:r>
              <a:rPr lang="en-US" sz="2800" dirty="0" err="1" smtClean="0"/>
              <a:t>taun</a:t>
            </a:r>
            <a:r>
              <a:rPr lang="en-US" sz="2800" dirty="0" smtClean="0"/>
              <a:t> 1990-an, </a:t>
            </a:r>
            <a:r>
              <a:rPr lang="en-US" sz="2800" dirty="0"/>
              <a:t>dan </a:t>
            </a:r>
            <a:r>
              <a:rPr lang="en-US" sz="2800" dirty="0" err="1"/>
              <a:t>hingga</a:t>
            </a:r>
            <a:r>
              <a:rPr lang="en-US" sz="2800" dirty="0"/>
              <a:t> </a:t>
            </a:r>
            <a:r>
              <a:rPr lang="en-US" sz="2800" dirty="0" err="1"/>
              <a:t>saat</a:t>
            </a:r>
            <a:r>
              <a:rPr lang="en-US" sz="2800" dirty="0"/>
              <a:t> </a:t>
            </a:r>
            <a:r>
              <a:rPr lang="en-US" sz="2800" dirty="0" err="1"/>
              <a:t>ini</a:t>
            </a:r>
            <a:r>
              <a:rPr lang="en-US" sz="2800" dirty="0"/>
              <a:t> </a:t>
            </a:r>
            <a:r>
              <a:rPr lang="en-US" sz="2800" dirty="0" err="1"/>
              <a:t>terus</a:t>
            </a:r>
            <a:r>
              <a:rPr lang="en-US" sz="2800" dirty="0"/>
              <a:t> </a:t>
            </a:r>
            <a:r>
              <a:rPr lang="en-US" sz="2800" dirty="0" err="1"/>
              <a:t>dikembangkan</a:t>
            </a:r>
            <a:r>
              <a:rPr lang="en-US" sz="2800" dirty="0"/>
              <a:t> oleh R Development Core Team dan juga Microsoft </a:t>
            </a:r>
            <a:r>
              <a:rPr lang="en-US" sz="2800" dirty="0" err="1"/>
              <a:t>untuk</a:t>
            </a:r>
            <a:r>
              <a:rPr lang="en-US" sz="2800" dirty="0"/>
              <a:t> Microsoft R </a:t>
            </a:r>
            <a:r>
              <a:rPr lang="en-US" sz="2800" dirty="0" smtClean="0"/>
              <a:t>Open</a:t>
            </a:r>
            <a:endParaRPr lang="en-US" sz="2800" dirty="0"/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i="1" dirty="0"/>
              <a:t>Installer software</a:t>
            </a:r>
            <a:r>
              <a:rPr lang="en-US" sz="2800" dirty="0"/>
              <a:t> </a:t>
            </a:r>
            <a:r>
              <a:rPr lang="en-US" sz="2800" dirty="0" err="1"/>
              <a:t>dapat</a:t>
            </a:r>
            <a:r>
              <a:rPr lang="en-US" sz="2800" dirty="0"/>
              <a:t> di </a:t>
            </a:r>
            <a:r>
              <a:rPr lang="en-US" sz="2800" dirty="0" err="1"/>
              <a:t>unduh</a:t>
            </a:r>
            <a:r>
              <a:rPr lang="en-US" sz="2800" dirty="0"/>
              <a:t> pada </a:t>
            </a:r>
            <a:r>
              <a:rPr lang="en-US" sz="2800" dirty="0" err="1"/>
              <a:t>alamat</a:t>
            </a:r>
            <a:r>
              <a:rPr lang="en-US" sz="2800" dirty="0"/>
              <a:t>: </a:t>
            </a:r>
            <a:br>
              <a:rPr lang="en-US" sz="2800" dirty="0"/>
            </a:br>
            <a:r>
              <a:rPr lang="id-ID" sz="2800" b="1" dirty="0"/>
              <a:t>R - </a:t>
            </a:r>
            <a:r>
              <a:rPr lang="en-US" sz="2800" u="sng" dirty="0">
                <a:hlinkClick r:id="rId3"/>
              </a:rPr>
              <a:t>https://repo.bppt.go.id/cran/</a:t>
            </a:r>
            <a:endParaRPr lang="id-ID" sz="2800" u="sng" dirty="0"/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id-ID" sz="2800" b="1" dirty="0"/>
              <a:t>R- Studio</a:t>
            </a:r>
            <a:r>
              <a:rPr lang="id-ID" sz="2800" dirty="0"/>
              <a:t> - </a:t>
            </a:r>
            <a:r>
              <a:rPr lang="en-US" sz="2800" i="0" dirty="0">
                <a:hlinkClick r:id="rId4"/>
              </a:rPr>
              <a:t>https://rstudio.com/products/rstudio/download/#download</a:t>
            </a:r>
            <a:endParaRPr lang="id-ID" sz="2800" i="0" dirty="0"/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GB" sz="2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956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55EE154-7414-492F-81E8-F32DCF478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Pengenalan Software R</a:t>
            </a:r>
            <a:endParaRPr lang="en-ID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68CE08-7970-4BAD-B134-1F319DAB75A9}"/>
              </a:ext>
            </a:extLst>
          </p:cNvPr>
          <p:cNvSpPr/>
          <p:nvPr/>
        </p:nvSpPr>
        <p:spPr>
          <a:xfrm>
            <a:off x="241442" y="1447265"/>
            <a:ext cx="11434743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175" lvl="1" defTabSz="914400">
              <a:spcAft>
                <a:spcPts val="1200"/>
              </a:spcAft>
            </a:pPr>
            <a:r>
              <a:rPr lang="en-US" sz="2800" b="1" dirty="0"/>
              <a:t>KELEBIHAN</a:t>
            </a:r>
          </a:p>
          <a:p>
            <a:pPr marL="519113" lvl="1" indent="-515938" defTabSz="914400">
              <a:buFont typeface="Arial" panose="020B0604020202020204" pitchFamily="34" charset="0"/>
              <a:buChar char="•"/>
            </a:pPr>
            <a:r>
              <a:rPr lang="en-US" sz="2800" i="1" dirty="0"/>
              <a:t>Open source</a:t>
            </a:r>
          </a:p>
          <a:p>
            <a:pPr marL="519113" lvl="1" indent="-515938" defTabSz="914400">
              <a:buFont typeface="Arial" panose="020B0604020202020204" pitchFamily="34" charset="0"/>
              <a:buChar char="•"/>
            </a:pPr>
            <a:r>
              <a:rPr lang="en-US" sz="2800" dirty="0" err="1"/>
              <a:t>Efektif</a:t>
            </a:r>
            <a:r>
              <a:rPr lang="en-US" sz="2800" dirty="0"/>
              <a:t> </a:t>
            </a:r>
            <a:r>
              <a:rPr lang="en-US" sz="2800" dirty="0" err="1"/>
              <a:t>dalam</a:t>
            </a:r>
            <a:r>
              <a:rPr lang="en-US" sz="2800" dirty="0"/>
              <a:t> </a:t>
            </a:r>
            <a:r>
              <a:rPr lang="en-US" sz="2800" dirty="0" err="1"/>
              <a:t>penanganan</a:t>
            </a:r>
            <a:r>
              <a:rPr lang="en-US" sz="2800" dirty="0"/>
              <a:t>, </a:t>
            </a:r>
            <a:r>
              <a:rPr lang="en-US" sz="2800" dirty="0" err="1"/>
              <a:t>pengolahan</a:t>
            </a:r>
            <a:r>
              <a:rPr lang="en-US" sz="2800" dirty="0"/>
              <a:t>,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penyimpanan</a:t>
            </a:r>
            <a:r>
              <a:rPr lang="en-US" sz="2800" dirty="0"/>
              <a:t> </a:t>
            </a:r>
            <a:r>
              <a:rPr lang="en-US" sz="2800" dirty="0" smtClean="0"/>
              <a:t>data</a:t>
            </a:r>
            <a:endParaRPr lang="en-US" sz="2800" dirty="0"/>
          </a:p>
          <a:p>
            <a:pPr marL="519113" lvl="1" indent="-515938" defTabSz="914400">
              <a:buFont typeface="Arial" panose="020B0604020202020204" pitchFamily="34" charset="0"/>
              <a:buChar char="•"/>
            </a:pPr>
            <a:r>
              <a:rPr lang="en-US" sz="2800" dirty="0" err="1"/>
              <a:t>Menyediakan</a:t>
            </a:r>
            <a:r>
              <a:rPr lang="en-US" sz="2800" dirty="0"/>
              <a:t> </a:t>
            </a:r>
            <a:r>
              <a:rPr lang="en-US" sz="2800" dirty="0" err="1"/>
              <a:t>berbagai</a:t>
            </a:r>
            <a:r>
              <a:rPr lang="en-US" sz="2800" dirty="0"/>
              <a:t> </a:t>
            </a:r>
            <a:r>
              <a:rPr lang="en-US" sz="2800" dirty="0" err="1"/>
              <a:t>macam</a:t>
            </a:r>
            <a:r>
              <a:rPr lang="en-US" sz="2800" dirty="0"/>
              <a:t> </a:t>
            </a:r>
            <a:r>
              <a:rPr lang="en-US" sz="2800" dirty="0" err="1"/>
              <a:t>analisis</a:t>
            </a:r>
            <a:r>
              <a:rPr lang="en-US" sz="2800" dirty="0"/>
              <a:t> </a:t>
            </a:r>
            <a:r>
              <a:rPr lang="en-US" sz="2800" dirty="0" err="1"/>
              <a:t>statistik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teknik</a:t>
            </a:r>
            <a:r>
              <a:rPr lang="en-US" sz="2800" dirty="0"/>
              <a:t> </a:t>
            </a:r>
            <a:r>
              <a:rPr lang="en-US" sz="2800" dirty="0" err="1" smtClean="0"/>
              <a:t>grafis</a:t>
            </a:r>
            <a:endParaRPr lang="en-US" sz="2800" dirty="0"/>
          </a:p>
          <a:p>
            <a:pPr marL="519113" lvl="1" indent="-515938" defTabSz="914400">
              <a:buFont typeface="Arial" panose="020B0604020202020204" pitchFamily="34" charset="0"/>
              <a:buChar char="•"/>
            </a:pPr>
            <a:r>
              <a:rPr lang="en-US" sz="2800" dirty="0" err="1"/>
              <a:t>Dapat</a:t>
            </a:r>
            <a:r>
              <a:rPr lang="en-US" sz="2800" dirty="0"/>
              <a:t> </a:t>
            </a:r>
            <a:r>
              <a:rPr lang="en-US" sz="2800" dirty="0" err="1"/>
              <a:t>dikembangkan</a:t>
            </a:r>
            <a:r>
              <a:rPr lang="en-US" sz="2800" dirty="0"/>
              <a:t> </a:t>
            </a:r>
            <a:r>
              <a:rPr lang="en-US" sz="2800" dirty="0" err="1"/>
              <a:t>sesuai</a:t>
            </a:r>
            <a:r>
              <a:rPr lang="en-US" sz="2800" dirty="0"/>
              <a:t> </a:t>
            </a:r>
            <a:r>
              <a:rPr lang="en-US" sz="2800" dirty="0" err="1"/>
              <a:t>keperluan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kebutuhan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membuat</a:t>
            </a:r>
            <a:r>
              <a:rPr lang="en-US" sz="2800" dirty="0"/>
              <a:t> </a:t>
            </a:r>
            <a:r>
              <a:rPr lang="en-US" sz="2800" i="1" dirty="0"/>
              <a:t>package </a:t>
            </a:r>
          </a:p>
          <a:p>
            <a:pPr marL="519113" lvl="1" indent="-515938" defTabSz="914400">
              <a:buFont typeface="Arial" panose="020B0604020202020204" pitchFamily="34" charset="0"/>
              <a:buChar char="•"/>
            </a:pPr>
            <a:r>
              <a:rPr lang="en-US" sz="2800" dirty="0"/>
              <a:t>Bahasa </a:t>
            </a:r>
            <a:r>
              <a:rPr lang="en-US" sz="2800" dirty="0" err="1"/>
              <a:t>pemrograman</a:t>
            </a:r>
            <a:r>
              <a:rPr lang="en-US" sz="2800" dirty="0"/>
              <a:t> yang </a:t>
            </a:r>
            <a:r>
              <a:rPr lang="en-US" sz="2800" dirty="0" err="1"/>
              <a:t>dikembangkan</a:t>
            </a:r>
            <a:r>
              <a:rPr lang="en-US" sz="2800" dirty="0"/>
              <a:t> </a:t>
            </a:r>
            <a:r>
              <a:rPr lang="en-US" sz="2800" dirty="0" err="1"/>
              <a:t>dengan</a:t>
            </a:r>
            <a:r>
              <a:rPr lang="en-US" sz="2800" dirty="0"/>
              <a:t> </a:t>
            </a:r>
            <a:r>
              <a:rPr lang="en-US" sz="2800" dirty="0" err="1"/>
              <a:t>baik</a:t>
            </a:r>
            <a:r>
              <a:rPr lang="en-US" sz="2800" dirty="0"/>
              <a:t>, </a:t>
            </a:r>
            <a:r>
              <a:rPr lang="en-US" sz="2800" dirty="0" err="1"/>
              <a:t>sederhana</a:t>
            </a:r>
            <a:r>
              <a:rPr lang="en-US" sz="2800" dirty="0"/>
              <a:t> </a:t>
            </a:r>
            <a:r>
              <a:rPr lang="en-US" sz="2800" dirty="0" err="1"/>
              <a:t>dan</a:t>
            </a:r>
            <a:r>
              <a:rPr lang="en-US" sz="2800" dirty="0"/>
              <a:t> </a:t>
            </a:r>
            <a:r>
              <a:rPr lang="en-US" sz="2800" dirty="0" err="1"/>
              <a:t>efektif</a:t>
            </a:r>
            <a:endParaRPr lang="en-US" sz="2800" dirty="0"/>
          </a:p>
          <a:p>
            <a:pPr marL="519113" lvl="1" indent="-515938" defTabSz="914400">
              <a:buFont typeface="Arial" panose="020B0604020202020204" pitchFamily="34" charset="0"/>
              <a:buChar char="•"/>
            </a:pPr>
            <a:r>
              <a:rPr lang="en-US" sz="2800" dirty="0"/>
              <a:t>R </a:t>
            </a:r>
            <a:r>
              <a:rPr lang="en-US" sz="2800" dirty="0" err="1"/>
              <a:t>bersifat</a:t>
            </a:r>
            <a:r>
              <a:rPr lang="en-US" sz="2800" dirty="0"/>
              <a:t> multiplatform yang </a:t>
            </a:r>
            <a:r>
              <a:rPr lang="en-US" sz="2800" dirty="0" err="1"/>
              <a:t>artinya</a:t>
            </a:r>
            <a:r>
              <a:rPr lang="en-US" sz="2800" dirty="0"/>
              <a:t> </a:t>
            </a:r>
            <a:r>
              <a:rPr lang="en-US" sz="2800" dirty="0" err="1"/>
              <a:t>bisa</a:t>
            </a:r>
            <a:r>
              <a:rPr lang="en-US" sz="2800" dirty="0"/>
              <a:t> </a:t>
            </a:r>
            <a:r>
              <a:rPr lang="en-US" sz="2800" dirty="0" err="1"/>
              <a:t>diinstal</a:t>
            </a:r>
            <a:r>
              <a:rPr lang="en-US" sz="2800" dirty="0"/>
              <a:t> di </a:t>
            </a:r>
            <a:r>
              <a:rPr lang="en-US" sz="2800" dirty="0" err="1"/>
              <a:t>sistem</a:t>
            </a:r>
            <a:r>
              <a:rPr lang="en-US" sz="2800" dirty="0"/>
              <a:t> </a:t>
            </a:r>
            <a:r>
              <a:rPr lang="en-US" sz="2800" dirty="0" err="1"/>
              <a:t>operasi</a:t>
            </a:r>
            <a:r>
              <a:rPr lang="en-US" sz="2800" dirty="0"/>
              <a:t> Windows, UNIX/LINUX </a:t>
            </a:r>
            <a:r>
              <a:rPr lang="en-US" sz="2800" dirty="0" err="1"/>
              <a:t>maupun</a:t>
            </a:r>
            <a:r>
              <a:rPr lang="en-US" sz="2800" dirty="0"/>
              <a:t> </a:t>
            </a:r>
            <a:r>
              <a:rPr lang="en-US" sz="2800" dirty="0" err="1"/>
              <a:t>pada</a:t>
            </a:r>
            <a:r>
              <a:rPr lang="en-US" sz="2800" dirty="0"/>
              <a:t> </a:t>
            </a:r>
            <a:r>
              <a:rPr lang="en-US" sz="2800" dirty="0" smtClean="0"/>
              <a:t>Macintosh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47218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55EE154-7414-492F-81E8-F32DCF478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Pengenalan Software R</a:t>
            </a:r>
            <a:endParaRPr lang="en-ID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69BFE9-5930-4FCE-B883-C65B9AED1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44" y="1171494"/>
            <a:ext cx="11033112" cy="478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332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C239-6763-4698-9D8D-56724D399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05BB89-3D7B-4399-89F4-E6FECAB262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2356"/>
          <a:stretch/>
        </p:blipFill>
        <p:spPr>
          <a:xfrm>
            <a:off x="578348" y="1629137"/>
            <a:ext cx="10515600" cy="435133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5515E2F-F8F4-4E6A-9619-1A9B05D2C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Pengenalan Software R</a:t>
            </a:r>
            <a:endParaRPr lang="en-ID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36A794-564D-4B7B-8DA4-C918F124C36D}"/>
              </a:ext>
            </a:extLst>
          </p:cNvPr>
          <p:cNvSpPr txBox="1"/>
          <p:nvPr/>
        </p:nvSpPr>
        <p:spPr>
          <a:xfrm>
            <a:off x="206165" y="1136694"/>
            <a:ext cx="171110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/>
              <a:t>Tampilan R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6216872-ADA7-45C9-85A3-AF3E17298A0A}"/>
              </a:ext>
            </a:extLst>
          </p:cNvPr>
          <p:cNvSpPr/>
          <p:nvPr/>
        </p:nvSpPr>
        <p:spPr>
          <a:xfrm>
            <a:off x="592416" y="2240821"/>
            <a:ext cx="730822" cy="26978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16444F-079B-460E-9004-4672014E74F1}"/>
              </a:ext>
            </a:extLst>
          </p:cNvPr>
          <p:cNvSpPr/>
          <p:nvPr/>
        </p:nvSpPr>
        <p:spPr>
          <a:xfrm>
            <a:off x="5907508" y="2422583"/>
            <a:ext cx="859786" cy="33993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22F95D-8F3E-418B-B6DF-42D11B8BFBA8}"/>
              </a:ext>
            </a:extLst>
          </p:cNvPr>
          <p:cNvSpPr txBox="1"/>
          <p:nvPr/>
        </p:nvSpPr>
        <p:spPr>
          <a:xfrm>
            <a:off x="1309170" y="5149479"/>
            <a:ext cx="8763000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b="1" kern="0"/>
              <a:t>R console </a:t>
            </a:r>
            <a:r>
              <a:rPr lang="en-US" sz="2400" kern="0"/>
              <a:t>merupakan bagian untuk menjalankan program (</a:t>
            </a:r>
            <a:r>
              <a:rPr lang="en-US" sz="2400" i="1" kern="0"/>
              <a:t>syntax</a:t>
            </a:r>
            <a:r>
              <a:rPr lang="en-US" sz="2400" kern="0"/>
              <a:t>)</a:t>
            </a:r>
          </a:p>
          <a:p>
            <a:r>
              <a:rPr lang="en-US" sz="2400" b="1" kern="0"/>
              <a:t>R editor </a:t>
            </a:r>
            <a:r>
              <a:rPr lang="en-US" sz="2400" kern="0"/>
              <a:t>merupakan bagian untuk mengetik program (</a:t>
            </a:r>
            <a:r>
              <a:rPr lang="en-US" sz="2400" i="1" kern="0"/>
              <a:t>syntax</a:t>
            </a:r>
            <a:r>
              <a:rPr lang="en-US" sz="2400" kern="0"/>
              <a:t>)</a:t>
            </a:r>
            <a:endParaRPr lang="en-US" sz="2400" b="1" kern="0" dirty="0"/>
          </a:p>
        </p:txBody>
      </p:sp>
    </p:spTree>
    <p:extLst>
      <p:ext uri="{BB962C8B-B14F-4D97-AF65-F5344CB8AC3E}">
        <p14:creationId xmlns:p14="http://schemas.microsoft.com/office/powerpoint/2010/main" val="2172141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4F096-E80E-4DA3-A03A-141E113F5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407364-8F41-4B9A-BCF9-DAE0A9B7A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Pengenalan Software R</a:t>
            </a:r>
            <a:endParaRPr lang="en-ID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AF4DF0-3352-4AB2-9853-7D4E0AFED56F}"/>
              </a:ext>
            </a:extLst>
          </p:cNvPr>
          <p:cNvSpPr txBox="1"/>
          <p:nvPr/>
        </p:nvSpPr>
        <p:spPr>
          <a:xfrm>
            <a:off x="206165" y="1136694"/>
            <a:ext cx="257621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/>
              <a:t>Tampilan Rstudio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90EB39-E047-4BBA-BA40-DFA1AD56E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78" y="1610996"/>
            <a:ext cx="9845339" cy="524700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105056C-BB5F-41E6-93AE-219F49ED3D08}"/>
              </a:ext>
            </a:extLst>
          </p:cNvPr>
          <p:cNvSpPr/>
          <p:nvPr/>
        </p:nvSpPr>
        <p:spPr>
          <a:xfrm>
            <a:off x="913478" y="2138289"/>
            <a:ext cx="802780" cy="2958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DE0E8C-C20E-4082-8F90-CE0FA2A7AC1B}"/>
              </a:ext>
            </a:extLst>
          </p:cNvPr>
          <p:cNvSpPr/>
          <p:nvPr/>
        </p:nvSpPr>
        <p:spPr>
          <a:xfrm>
            <a:off x="5836146" y="2147686"/>
            <a:ext cx="1127361" cy="1875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7DA4AD-3F02-4B82-A989-6A343F113B11}"/>
              </a:ext>
            </a:extLst>
          </p:cNvPr>
          <p:cNvSpPr/>
          <p:nvPr/>
        </p:nvSpPr>
        <p:spPr>
          <a:xfrm>
            <a:off x="5836145" y="3493513"/>
            <a:ext cx="1915153" cy="1875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97F680-09B1-42A9-9482-7CD735C3380D}"/>
              </a:ext>
            </a:extLst>
          </p:cNvPr>
          <p:cNvSpPr/>
          <p:nvPr/>
        </p:nvSpPr>
        <p:spPr>
          <a:xfrm>
            <a:off x="927546" y="4318168"/>
            <a:ext cx="788712" cy="2958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D7A2CA-A3E3-47EA-BEDA-36A443E99678}"/>
              </a:ext>
            </a:extLst>
          </p:cNvPr>
          <p:cNvSpPr txBox="1"/>
          <p:nvPr/>
        </p:nvSpPr>
        <p:spPr>
          <a:xfrm>
            <a:off x="2086703" y="3094845"/>
            <a:ext cx="127618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/>
              <a:t>R Editor</a:t>
            </a:r>
          </a:p>
        </p:txBody>
      </p:sp>
    </p:spTree>
    <p:extLst>
      <p:ext uri="{BB962C8B-B14F-4D97-AF65-F5344CB8AC3E}">
        <p14:creationId xmlns:p14="http://schemas.microsoft.com/office/powerpoint/2010/main" val="1784126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D346D45-F96B-4FE9-B54D-248B43A59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Pengenalan Software R</a:t>
            </a:r>
            <a:endParaRPr lang="en-ID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70ACBD-FE07-4F77-AEB5-3DAD24F468ED}"/>
              </a:ext>
            </a:extLst>
          </p:cNvPr>
          <p:cNvSpPr/>
          <p:nvPr/>
        </p:nvSpPr>
        <p:spPr>
          <a:xfrm>
            <a:off x="622707" y="1747439"/>
            <a:ext cx="11145732" cy="12570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noAutofit/>
          </a:bodyPr>
          <a:lstStyle/>
          <a:p>
            <a:pPr marL="519113" lvl="1" indent="-515938" defTabSz="9144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/>
              <a:t>Editor </a:t>
            </a:r>
            <a:r>
              <a:rPr lang="en-US" sz="2400" b="1" dirty="0"/>
              <a:t>window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jendela</a:t>
            </a:r>
            <a:r>
              <a:rPr lang="en-US" sz="2400" dirty="0"/>
              <a:t> yang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membuat</a:t>
            </a:r>
            <a:r>
              <a:rPr lang="en-US" sz="2400" dirty="0"/>
              <a:t>, </a:t>
            </a:r>
            <a:r>
              <a:rPr lang="en-US" sz="2400" dirty="0" err="1"/>
              <a:t>mengedit</a:t>
            </a:r>
            <a:r>
              <a:rPr lang="en-US" sz="2400" dirty="0"/>
              <a:t>, </a:t>
            </a:r>
            <a:r>
              <a:rPr lang="en-US" sz="2400" dirty="0" err="1"/>
              <a:t>dan</a:t>
            </a:r>
            <a:r>
              <a:rPr lang="en-US" sz="2400" dirty="0"/>
              <a:t> </a:t>
            </a:r>
            <a:r>
              <a:rPr lang="en-US" sz="2400" dirty="0" err="1"/>
              <a:t>menyimpan</a:t>
            </a:r>
            <a:r>
              <a:rPr lang="en-US" sz="2400" dirty="0"/>
              <a:t> </a:t>
            </a:r>
            <a:r>
              <a:rPr lang="en-US" sz="2400" i="1" dirty="0"/>
              <a:t>script</a:t>
            </a:r>
            <a:r>
              <a:rPr lang="en-US" sz="2400" dirty="0"/>
              <a:t> R. </a:t>
            </a:r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jendela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, </a:t>
            </a:r>
            <a:r>
              <a:rPr lang="en-US" sz="2400" dirty="0" err="1"/>
              <a:t>tersedia</a:t>
            </a:r>
            <a:r>
              <a:rPr lang="en-US" sz="2400" dirty="0"/>
              <a:t> </a:t>
            </a:r>
            <a:r>
              <a:rPr lang="en-US" sz="2400" dirty="0" err="1"/>
              <a:t>fitur</a:t>
            </a:r>
            <a:r>
              <a:rPr lang="en-US" sz="2400" dirty="0"/>
              <a:t> autocomplete yang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err="1"/>
              <a:t>memudahkan</a:t>
            </a:r>
            <a:r>
              <a:rPr lang="en-US" sz="2400"/>
              <a:t> dalam </a:t>
            </a:r>
            <a:r>
              <a:rPr lang="en-US" sz="2400" dirty="0" err="1"/>
              <a:t>membuat</a:t>
            </a:r>
            <a:r>
              <a:rPr lang="en-US" sz="2400" dirty="0"/>
              <a:t> </a:t>
            </a:r>
            <a:r>
              <a:rPr lang="en-US" sz="2400" i="1" dirty="0"/>
              <a:t>script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BAC243-B4CA-44AC-AD7C-84DCAC52CDA5}"/>
              </a:ext>
            </a:extLst>
          </p:cNvPr>
          <p:cNvSpPr/>
          <p:nvPr/>
        </p:nvSpPr>
        <p:spPr>
          <a:xfrm>
            <a:off x="427941" y="1133358"/>
            <a:ext cx="94550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/>
              <a:t>Editor </a:t>
            </a:r>
            <a:r>
              <a:rPr lang="en-US" sz="2400" b="1" dirty="0"/>
              <a:t>Window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C7AAA6-9C4D-4086-97FC-2F86649DC99B}"/>
              </a:ext>
            </a:extLst>
          </p:cNvPr>
          <p:cNvSpPr/>
          <p:nvPr/>
        </p:nvSpPr>
        <p:spPr>
          <a:xfrm>
            <a:off x="579027" y="3611281"/>
            <a:ext cx="11189412" cy="25863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noAutofit/>
          </a:bodyPr>
          <a:lstStyle/>
          <a:p>
            <a:pPr marL="519113" lvl="1" indent="-515938" defTabSz="914400">
              <a:buFont typeface="Arial" panose="020B0604020202020204" pitchFamily="34" charset="0"/>
              <a:buChar char="•"/>
            </a:pPr>
            <a:r>
              <a:rPr lang="en-US" sz="2300" b="1" dirty="0"/>
              <a:t>Console window</a:t>
            </a:r>
            <a:r>
              <a:rPr lang="en-US" sz="2300" dirty="0"/>
              <a:t> </a:t>
            </a:r>
            <a:r>
              <a:rPr lang="en-US" sz="2300" dirty="0" err="1"/>
              <a:t>adalah</a:t>
            </a:r>
            <a:r>
              <a:rPr lang="en-US" sz="2300" dirty="0"/>
              <a:t> </a:t>
            </a:r>
            <a:r>
              <a:rPr lang="en-US" sz="2300" dirty="0" err="1"/>
              <a:t>jendela</a:t>
            </a:r>
            <a:r>
              <a:rPr lang="en-US" sz="2300" dirty="0"/>
              <a:t> </a:t>
            </a:r>
            <a:r>
              <a:rPr lang="en-US" sz="2300" dirty="0" err="1"/>
              <a:t>tempat</a:t>
            </a:r>
            <a:r>
              <a:rPr lang="en-US" sz="2300" dirty="0"/>
              <a:t> </a:t>
            </a:r>
            <a:r>
              <a:rPr lang="en-US" sz="2300" dirty="0" err="1"/>
              <a:t>mengeksekusi</a:t>
            </a:r>
            <a:r>
              <a:rPr lang="en-US" sz="2300" dirty="0"/>
              <a:t> command </a:t>
            </a:r>
            <a:r>
              <a:rPr lang="en-US" sz="2300" dirty="0" err="1"/>
              <a:t>dari</a:t>
            </a:r>
            <a:r>
              <a:rPr lang="en-US" sz="2300" dirty="0"/>
              <a:t> script R yang </a:t>
            </a:r>
            <a:r>
              <a:rPr lang="en-US" sz="2300" dirty="0" err="1"/>
              <a:t>dibuat</a:t>
            </a:r>
            <a:r>
              <a:rPr lang="en-US" sz="2300" dirty="0"/>
              <a:t>. </a:t>
            </a:r>
          </a:p>
          <a:p>
            <a:pPr marL="519113" lvl="1" indent="-515938" defTabSz="914400">
              <a:buFont typeface="Arial" panose="020B0604020202020204" pitchFamily="34" charset="0"/>
              <a:buChar char="•"/>
            </a:pPr>
            <a:r>
              <a:rPr lang="en-US" sz="2300" dirty="0"/>
              <a:t>Script </a:t>
            </a:r>
            <a:r>
              <a:rPr lang="en-US" sz="2300" dirty="0" err="1"/>
              <a:t>tersebut</a:t>
            </a:r>
            <a:r>
              <a:rPr lang="en-US" sz="2300" dirty="0"/>
              <a:t> </a:t>
            </a:r>
            <a:r>
              <a:rPr lang="en-US" sz="2300" dirty="0" err="1"/>
              <a:t>dapat</a:t>
            </a:r>
            <a:r>
              <a:rPr lang="en-US" sz="2300" dirty="0"/>
              <a:t> </a:t>
            </a:r>
            <a:r>
              <a:rPr lang="en-US" sz="2300" dirty="0" err="1"/>
              <a:t>dijalankan</a:t>
            </a:r>
            <a:r>
              <a:rPr lang="en-US" sz="2300" dirty="0"/>
              <a:t> </a:t>
            </a:r>
            <a:r>
              <a:rPr lang="en-US" sz="2300" dirty="0" err="1"/>
              <a:t>dari</a:t>
            </a:r>
            <a:r>
              <a:rPr lang="en-US" sz="2300" dirty="0"/>
              <a:t> Source/Editor window </a:t>
            </a:r>
            <a:r>
              <a:rPr lang="en-US" sz="2300" dirty="0" err="1"/>
              <a:t>maupun</a:t>
            </a:r>
            <a:r>
              <a:rPr lang="en-US" sz="2300" dirty="0"/>
              <a:t> </a:t>
            </a:r>
            <a:r>
              <a:rPr lang="en-US" sz="2300" dirty="0" err="1"/>
              <a:t>dengan</a:t>
            </a:r>
            <a:r>
              <a:rPr lang="en-US" sz="2300" dirty="0"/>
              <a:t> </a:t>
            </a:r>
            <a:r>
              <a:rPr lang="en-US" sz="2300" dirty="0" err="1"/>
              <a:t>langsung</a:t>
            </a:r>
            <a:r>
              <a:rPr lang="en-US" sz="2300" dirty="0"/>
              <a:t> </a:t>
            </a:r>
            <a:r>
              <a:rPr lang="en-US" sz="2300" dirty="0" err="1"/>
              <a:t>mengetikkan</a:t>
            </a:r>
            <a:r>
              <a:rPr lang="en-US" sz="2300" dirty="0"/>
              <a:t> script </a:t>
            </a:r>
            <a:r>
              <a:rPr lang="en-US" sz="2300" dirty="0" err="1"/>
              <a:t>pada</a:t>
            </a:r>
            <a:r>
              <a:rPr lang="en-US" sz="2300" dirty="0"/>
              <a:t> </a:t>
            </a:r>
            <a:r>
              <a:rPr lang="en-US" sz="2300" dirty="0" err="1"/>
              <a:t>jendela</a:t>
            </a:r>
            <a:r>
              <a:rPr lang="en-US" sz="2300" dirty="0"/>
              <a:t> </a:t>
            </a:r>
            <a:r>
              <a:rPr lang="en-US" sz="2300" dirty="0" err="1"/>
              <a:t>ini</a:t>
            </a:r>
            <a:r>
              <a:rPr lang="en-US" sz="2300" dirty="0"/>
              <a:t>.</a:t>
            </a:r>
          </a:p>
          <a:p>
            <a:pPr marL="519113" lvl="1" indent="-515938" defTabSz="914400">
              <a:buFont typeface="Arial" panose="020B0604020202020204" pitchFamily="34" charset="0"/>
              <a:buChar char="•"/>
            </a:pPr>
            <a:r>
              <a:rPr lang="en-US" sz="2300" dirty="0" err="1"/>
              <a:t>Jendela</a:t>
            </a:r>
            <a:r>
              <a:rPr lang="en-US" sz="2300" dirty="0"/>
              <a:t> </a:t>
            </a:r>
            <a:r>
              <a:rPr lang="en-US" sz="2300" dirty="0" err="1"/>
              <a:t>ini</a:t>
            </a:r>
            <a:r>
              <a:rPr lang="en-US" sz="2300" dirty="0"/>
              <a:t> </a:t>
            </a:r>
            <a:r>
              <a:rPr lang="en-US" sz="2300" dirty="0" err="1"/>
              <a:t>akan</a:t>
            </a:r>
            <a:r>
              <a:rPr lang="en-US" sz="2300" dirty="0"/>
              <a:t> </a:t>
            </a:r>
            <a:r>
              <a:rPr lang="en-US" sz="2300" dirty="0" err="1"/>
              <a:t>menampilkan</a:t>
            </a:r>
            <a:r>
              <a:rPr lang="en-US" sz="2300" dirty="0"/>
              <a:t> output </a:t>
            </a:r>
            <a:r>
              <a:rPr lang="en-US" sz="2300" dirty="0" err="1"/>
              <a:t>dari</a:t>
            </a:r>
            <a:r>
              <a:rPr lang="en-US" sz="2300" dirty="0"/>
              <a:t> </a:t>
            </a:r>
            <a:r>
              <a:rPr lang="en-US" sz="2300" dirty="0" err="1"/>
              <a:t>setiap</a:t>
            </a:r>
            <a:r>
              <a:rPr lang="en-US" sz="2300" dirty="0"/>
              <a:t> </a:t>
            </a:r>
            <a:r>
              <a:rPr lang="en-US" sz="2300" dirty="0" err="1"/>
              <a:t>satu</a:t>
            </a:r>
            <a:r>
              <a:rPr lang="en-US" sz="2300" dirty="0"/>
              <a:t> proses/</a:t>
            </a:r>
            <a:r>
              <a:rPr lang="en-US" sz="2300" dirty="0" err="1"/>
              <a:t>baris</a:t>
            </a:r>
            <a:r>
              <a:rPr lang="en-US" sz="2300" dirty="0"/>
              <a:t> command R yang </a:t>
            </a:r>
            <a:r>
              <a:rPr lang="en-US" sz="2300" dirty="0" err="1"/>
              <a:t>dijalankan</a:t>
            </a:r>
            <a:r>
              <a:rPr lang="en-US" sz="2300" dirty="0"/>
              <a:t>. </a:t>
            </a:r>
            <a:r>
              <a:rPr lang="en-US" sz="2300" dirty="0" err="1"/>
              <a:t>Jendela</a:t>
            </a:r>
            <a:r>
              <a:rPr lang="en-US" sz="2300" dirty="0"/>
              <a:t> </a:t>
            </a:r>
            <a:r>
              <a:rPr lang="en-US" sz="2300" dirty="0" err="1"/>
              <a:t>ini</a:t>
            </a:r>
            <a:r>
              <a:rPr lang="en-US" sz="2300" dirty="0"/>
              <a:t> </a:t>
            </a:r>
            <a:r>
              <a:rPr lang="en-US" sz="2300" dirty="0" err="1"/>
              <a:t>sebetulnya</a:t>
            </a:r>
            <a:r>
              <a:rPr lang="en-US" sz="2300" dirty="0"/>
              <a:t> </a:t>
            </a:r>
            <a:r>
              <a:rPr lang="en-US" sz="2300" dirty="0" err="1"/>
              <a:t>merupakan</a:t>
            </a:r>
            <a:r>
              <a:rPr lang="en-US" sz="2300" dirty="0"/>
              <a:t> </a:t>
            </a:r>
            <a:r>
              <a:rPr lang="en-US" sz="2300" dirty="0" err="1"/>
              <a:t>tampilan</a:t>
            </a:r>
            <a:r>
              <a:rPr lang="en-US" sz="2300" dirty="0"/>
              <a:t> </a:t>
            </a:r>
            <a:r>
              <a:rPr lang="en-US" sz="2300" dirty="0" err="1"/>
              <a:t>langsung</a:t>
            </a:r>
            <a:r>
              <a:rPr lang="en-US" sz="2300" dirty="0"/>
              <a:t> </a:t>
            </a:r>
            <a:r>
              <a:rPr lang="en-US" sz="2300" dirty="0" err="1"/>
              <a:t>dari</a:t>
            </a:r>
            <a:r>
              <a:rPr lang="en-US" sz="2300" dirty="0"/>
              <a:t> </a:t>
            </a:r>
            <a:r>
              <a:rPr lang="en-US" sz="2300" dirty="0" err="1"/>
              <a:t>setiap</a:t>
            </a:r>
            <a:r>
              <a:rPr lang="en-US" sz="2300" dirty="0"/>
              <a:t> proses yang </a:t>
            </a:r>
            <a:r>
              <a:rPr lang="en-US" sz="2300" dirty="0" err="1"/>
              <a:t>dikerjakan</a:t>
            </a:r>
            <a:r>
              <a:rPr lang="en-US" sz="2300" dirty="0"/>
              <a:t> </a:t>
            </a:r>
            <a:r>
              <a:rPr lang="en-US" sz="2300" dirty="0" err="1"/>
              <a:t>oleh</a:t>
            </a:r>
            <a:r>
              <a:rPr lang="en-US" sz="2300" dirty="0"/>
              <a:t> R.</a:t>
            </a:r>
          </a:p>
          <a:p>
            <a:pPr marL="519113" lvl="1" indent="-515938" defTabSz="914400">
              <a:buFont typeface="Arial" panose="020B0604020202020204" pitchFamily="34" charset="0"/>
              <a:buChar char="•"/>
            </a:pPr>
            <a:endParaRPr lang="en-US" sz="23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C6D670-5882-4B77-A4B3-46A27BD48F52}"/>
              </a:ext>
            </a:extLst>
          </p:cNvPr>
          <p:cNvSpPr/>
          <p:nvPr/>
        </p:nvSpPr>
        <p:spPr>
          <a:xfrm>
            <a:off x="427940" y="3149414"/>
            <a:ext cx="94550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Console Window</a:t>
            </a:r>
          </a:p>
        </p:txBody>
      </p:sp>
    </p:spTree>
    <p:extLst>
      <p:ext uri="{BB962C8B-B14F-4D97-AF65-F5344CB8AC3E}">
        <p14:creationId xmlns:p14="http://schemas.microsoft.com/office/powerpoint/2010/main" val="1523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6A99BED-45CB-4DC1-851F-652732E06BCE}"/>
              </a:ext>
            </a:extLst>
          </p:cNvPr>
          <p:cNvSpPr/>
          <p:nvPr/>
        </p:nvSpPr>
        <p:spPr>
          <a:xfrm>
            <a:off x="427941" y="1569933"/>
            <a:ext cx="11002914" cy="5190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noAutofit/>
          </a:bodyPr>
          <a:lstStyle/>
          <a:p>
            <a:pPr marL="3175" lvl="1" defTabSz="914400"/>
            <a:r>
              <a:rPr lang="en-US" sz="2200" b="1" dirty="0"/>
              <a:t>Tab environment </a:t>
            </a:r>
            <a:r>
              <a:rPr lang="en-US" sz="2200" dirty="0" err="1"/>
              <a:t>akan</a:t>
            </a:r>
            <a:r>
              <a:rPr lang="en-US" sz="2200" dirty="0"/>
              <a:t> </a:t>
            </a:r>
            <a:r>
              <a:rPr lang="en-US" sz="2200" dirty="0" err="1"/>
              <a:t>menampilkan</a:t>
            </a:r>
            <a:r>
              <a:rPr lang="en-US" sz="2200" dirty="0"/>
              <a:t> </a:t>
            </a:r>
            <a:r>
              <a:rPr lang="en-US" sz="2200" dirty="0" err="1"/>
              <a:t>daftar</a:t>
            </a:r>
            <a:r>
              <a:rPr lang="en-US" sz="2200" dirty="0"/>
              <a:t> data </a:t>
            </a:r>
            <a:r>
              <a:rPr lang="en-US" sz="2200" dirty="0" err="1"/>
              <a:t>dan</a:t>
            </a:r>
            <a:r>
              <a:rPr lang="en-US" sz="2200" dirty="0"/>
              <a:t> </a:t>
            </a:r>
            <a:r>
              <a:rPr lang="en-US" sz="2200" dirty="0" err="1"/>
              <a:t>nilai</a:t>
            </a:r>
            <a:r>
              <a:rPr lang="en-US" sz="2200" dirty="0"/>
              <a:t> yang </a:t>
            </a:r>
            <a:r>
              <a:rPr lang="en-US" sz="2200" dirty="0" err="1"/>
              <a:t>sedang</a:t>
            </a:r>
            <a:r>
              <a:rPr lang="en-US" sz="2200" dirty="0"/>
              <a:t> </a:t>
            </a:r>
            <a:r>
              <a:rPr lang="en-US" sz="2200" err="1"/>
              <a:t>aktif</a:t>
            </a:r>
            <a:r>
              <a:rPr lang="en-US" sz="2200"/>
              <a:t> di dalam RAM. </a:t>
            </a:r>
            <a:endParaRPr lang="en-US" sz="22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DBBD1B-D2C6-4D71-8686-E4226D39098E}"/>
              </a:ext>
            </a:extLst>
          </p:cNvPr>
          <p:cNvSpPr/>
          <p:nvPr/>
        </p:nvSpPr>
        <p:spPr>
          <a:xfrm>
            <a:off x="427941" y="1133358"/>
            <a:ext cx="94550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Tab Environment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826060-4DB2-45B1-B3AA-D0ACD034C58E}"/>
              </a:ext>
            </a:extLst>
          </p:cNvPr>
          <p:cNvSpPr/>
          <p:nvPr/>
        </p:nvSpPr>
        <p:spPr>
          <a:xfrm>
            <a:off x="427940" y="2631593"/>
            <a:ext cx="10474522" cy="79535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noAutofit/>
          </a:bodyPr>
          <a:lstStyle/>
          <a:p>
            <a:pPr lvl="1" defTabSz="914400">
              <a:spcAft>
                <a:spcPts val="1200"/>
              </a:spcAft>
              <a:tabLst>
                <a:tab pos="395288" algn="l"/>
              </a:tabLst>
            </a:pPr>
            <a:r>
              <a:rPr lang="en-US" sz="2200" b="1" dirty="0"/>
              <a:t>Tab History </a:t>
            </a:r>
            <a:r>
              <a:rPr lang="en-US" sz="2200" dirty="0" err="1"/>
              <a:t>akan</a:t>
            </a:r>
            <a:r>
              <a:rPr lang="en-US" sz="2200" dirty="0"/>
              <a:t> </a:t>
            </a:r>
            <a:r>
              <a:rPr lang="en-US" sz="2200" dirty="0" err="1"/>
              <a:t>menampilkan</a:t>
            </a:r>
            <a:r>
              <a:rPr lang="en-US" sz="2200" dirty="0"/>
              <a:t> </a:t>
            </a:r>
            <a:r>
              <a:rPr lang="en-US" sz="2200" dirty="0" err="1"/>
              <a:t>daftar</a:t>
            </a:r>
            <a:r>
              <a:rPr lang="en-US" sz="2200" dirty="0"/>
              <a:t> command yang </a:t>
            </a:r>
            <a:r>
              <a:rPr lang="en-US" sz="2200" dirty="0" err="1"/>
              <a:t>telah</a:t>
            </a:r>
            <a:r>
              <a:rPr lang="en-US" sz="2200" dirty="0"/>
              <a:t> </a:t>
            </a:r>
            <a:r>
              <a:rPr lang="en-US" sz="2200" dirty="0" err="1"/>
              <a:t>dijalankan</a:t>
            </a:r>
            <a:r>
              <a:rPr lang="en-US" sz="2200" dirty="0"/>
              <a:t> </a:t>
            </a:r>
            <a:r>
              <a:rPr lang="en-US" sz="2200" dirty="0" err="1"/>
              <a:t>sebelumnya</a:t>
            </a:r>
            <a:r>
              <a:rPr lang="en-US" sz="2200" dirty="0"/>
              <a:t> </a:t>
            </a:r>
            <a:r>
              <a:rPr lang="en-US" sz="2200" dirty="0" err="1"/>
              <a:t>dalam</a:t>
            </a:r>
            <a:r>
              <a:rPr lang="en-US" sz="2200" dirty="0"/>
              <a:t> </a:t>
            </a:r>
            <a:r>
              <a:rPr lang="en-US" sz="2200" dirty="0" err="1"/>
              <a:t>satu</a:t>
            </a:r>
            <a:r>
              <a:rPr lang="en-US" sz="2200" dirty="0"/>
              <a:t> </a:t>
            </a:r>
            <a:r>
              <a:rPr lang="en-US" sz="2200" i="1" dirty="0"/>
              <a:t>session</a:t>
            </a:r>
            <a:r>
              <a:rPr lang="en-US" sz="2200" dirty="0"/>
              <a:t> yang </a:t>
            </a:r>
            <a:r>
              <a:rPr lang="en-US" sz="2200" dirty="0" err="1"/>
              <a:t>aktif</a:t>
            </a:r>
            <a:r>
              <a:rPr lang="en-US" sz="2200" dirty="0"/>
              <a:t>.</a:t>
            </a:r>
            <a:endParaRPr lang="en-US" sz="2200" i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0A61F7-F0E2-48FE-8229-A9900FF4B95B}"/>
              </a:ext>
            </a:extLst>
          </p:cNvPr>
          <p:cNvSpPr/>
          <p:nvPr/>
        </p:nvSpPr>
        <p:spPr>
          <a:xfrm>
            <a:off x="427941" y="2145061"/>
            <a:ext cx="94550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Tab History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4DEE97-BB4A-43F6-8892-2B4DB3BCC192}"/>
              </a:ext>
            </a:extLst>
          </p:cNvPr>
          <p:cNvSpPr/>
          <p:nvPr/>
        </p:nvSpPr>
        <p:spPr>
          <a:xfrm>
            <a:off x="427940" y="3991244"/>
            <a:ext cx="11336120" cy="21071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noAutofit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200" dirty="0" err="1"/>
              <a:t>Jendela</a:t>
            </a:r>
            <a:r>
              <a:rPr lang="en-US" sz="2200" dirty="0"/>
              <a:t> </a:t>
            </a:r>
            <a:r>
              <a:rPr lang="en-US" sz="2200" dirty="0" err="1"/>
              <a:t>ini</a:t>
            </a:r>
            <a:r>
              <a:rPr lang="en-US" sz="2200" dirty="0"/>
              <a:t> </a:t>
            </a:r>
            <a:r>
              <a:rPr lang="en-US" sz="2200" dirty="0" err="1"/>
              <a:t>merupakan</a:t>
            </a:r>
            <a:r>
              <a:rPr lang="en-US" sz="2200" dirty="0"/>
              <a:t> </a:t>
            </a:r>
            <a:r>
              <a:rPr lang="en-US" sz="2200" dirty="0" err="1"/>
              <a:t>fitur</a:t>
            </a:r>
            <a:r>
              <a:rPr lang="en-US" sz="2200" dirty="0"/>
              <a:t> </a:t>
            </a:r>
            <a:r>
              <a:rPr lang="en-US" sz="2200" dirty="0" err="1"/>
              <a:t>tambahan</a:t>
            </a:r>
            <a:r>
              <a:rPr lang="en-US" sz="2200" dirty="0"/>
              <a:t> yang </a:t>
            </a:r>
            <a:r>
              <a:rPr lang="en-US" sz="2200" err="1"/>
              <a:t>bermanfaat</a:t>
            </a:r>
            <a:r>
              <a:rPr lang="en-US" sz="2200"/>
              <a:t> dalam </a:t>
            </a:r>
            <a:r>
              <a:rPr lang="en-US" sz="2200" dirty="0" err="1"/>
              <a:t>manajemen</a:t>
            </a:r>
            <a:r>
              <a:rPr lang="en-US" sz="2200" dirty="0"/>
              <a:t> file, </a:t>
            </a:r>
            <a:r>
              <a:rPr lang="en-US" sz="2200" dirty="0" err="1"/>
              <a:t>menampilkan</a:t>
            </a:r>
            <a:r>
              <a:rPr lang="en-US" sz="2200" dirty="0"/>
              <a:t> output </a:t>
            </a:r>
            <a:r>
              <a:rPr lang="en-US" sz="2200" i="1" dirty="0"/>
              <a:t>command</a:t>
            </a:r>
            <a:r>
              <a:rPr lang="en-US" sz="2200" dirty="0"/>
              <a:t> </a:t>
            </a:r>
            <a:r>
              <a:rPr lang="en-US" sz="2200" dirty="0" err="1"/>
              <a:t>berupa</a:t>
            </a:r>
            <a:r>
              <a:rPr lang="en-US" sz="2200" dirty="0"/>
              <a:t> plot, </a:t>
            </a:r>
            <a:r>
              <a:rPr lang="en-US" sz="2200" dirty="0" err="1"/>
              <a:t>informasi</a:t>
            </a:r>
            <a:r>
              <a:rPr lang="en-US" sz="2200" dirty="0"/>
              <a:t> </a:t>
            </a:r>
            <a:r>
              <a:rPr lang="en-US" sz="2200" dirty="0" err="1"/>
              <a:t>dan</a:t>
            </a:r>
            <a:r>
              <a:rPr lang="en-US" sz="2200" dirty="0"/>
              <a:t> </a:t>
            </a:r>
            <a:r>
              <a:rPr lang="en-US" sz="2200" dirty="0" err="1"/>
              <a:t>bantuan</a:t>
            </a:r>
            <a:r>
              <a:rPr lang="en-US" sz="2200" dirty="0"/>
              <a:t> </a:t>
            </a:r>
            <a:r>
              <a:rPr lang="en-US" sz="2200" dirty="0" err="1"/>
              <a:t>dalam</a:t>
            </a:r>
            <a:r>
              <a:rPr lang="en-US" sz="2200" dirty="0"/>
              <a:t> </a:t>
            </a:r>
            <a:r>
              <a:rPr lang="en-US" sz="2200" dirty="0" err="1"/>
              <a:t>penulisan</a:t>
            </a:r>
            <a:r>
              <a:rPr lang="en-US" sz="2200" dirty="0"/>
              <a:t> </a:t>
            </a:r>
            <a:r>
              <a:rPr lang="en-US" sz="2200" i="1" dirty="0"/>
              <a:t>script</a:t>
            </a:r>
            <a:r>
              <a:rPr lang="en-US" sz="2200" dirty="0"/>
              <a:t>, </a:t>
            </a:r>
            <a:r>
              <a:rPr lang="en-US" sz="2200" dirty="0" err="1"/>
              <a:t>dan</a:t>
            </a:r>
            <a:r>
              <a:rPr lang="en-US" sz="2200" dirty="0"/>
              <a:t> web viewer.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200" dirty="0" err="1"/>
              <a:t>Khusus</a:t>
            </a:r>
            <a:r>
              <a:rPr lang="en-US" sz="2200" dirty="0"/>
              <a:t> </a:t>
            </a:r>
            <a:r>
              <a:rPr lang="en-US" sz="2200" dirty="0" err="1"/>
              <a:t>pada</a:t>
            </a:r>
            <a:r>
              <a:rPr lang="en-US" sz="2200" dirty="0"/>
              <a:t> tab Packages</a:t>
            </a:r>
            <a:r>
              <a:rPr lang="en-US" sz="2200"/>
              <a:t>, dapat dilihat </a:t>
            </a:r>
            <a:r>
              <a:rPr lang="en-US" sz="2200" dirty="0" err="1"/>
              <a:t>daftar</a:t>
            </a:r>
            <a:r>
              <a:rPr lang="en-US" sz="2200" dirty="0"/>
              <a:t> </a:t>
            </a:r>
            <a:r>
              <a:rPr lang="en-US" sz="2200" i="1" dirty="0"/>
              <a:t>library</a:t>
            </a:r>
            <a:r>
              <a:rPr lang="en-US" sz="2200" dirty="0"/>
              <a:t> R yang </a:t>
            </a:r>
            <a:r>
              <a:rPr lang="en-US" sz="2200" dirty="0" err="1"/>
              <a:t>telah</a:t>
            </a:r>
            <a:r>
              <a:rPr lang="en-US" sz="2200" dirty="0"/>
              <a:t> </a:t>
            </a:r>
            <a:r>
              <a:rPr lang="en-US" sz="2200" dirty="0" err="1"/>
              <a:t>terinstall</a:t>
            </a:r>
            <a:r>
              <a:rPr lang="en-US" sz="2200" dirty="0"/>
              <a:t> </a:t>
            </a:r>
            <a:r>
              <a:rPr lang="en-US" sz="2200" err="1"/>
              <a:t>pada</a:t>
            </a:r>
            <a:r>
              <a:rPr lang="en-US" sz="2200"/>
              <a:t> PC. </a:t>
            </a:r>
            <a:endParaRPr lang="en-US" sz="2200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2200" err="1"/>
              <a:t>Apabila</a:t>
            </a:r>
            <a:r>
              <a:rPr lang="en-US" sz="2200"/>
              <a:t> ingin </a:t>
            </a:r>
            <a:r>
              <a:rPr lang="en-US" sz="2200" dirty="0" err="1"/>
              <a:t>menambahkan</a:t>
            </a:r>
            <a:r>
              <a:rPr lang="en-US" sz="2200" dirty="0"/>
              <a:t> </a:t>
            </a:r>
            <a:r>
              <a:rPr lang="en-US" sz="2200" i="1" dirty="0"/>
              <a:t>library</a:t>
            </a:r>
            <a:r>
              <a:rPr lang="en-US" sz="2200" dirty="0"/>
              <a:t> </a:t>
            </a:r>
            <a:r>
              <a:rPr lang="en-US" sz="2200" dirty="0" err="1"/>
              <a:t>baru</a:t>
            </a:r>
            <a:r>
              <a:rPr lang="en-US" sz="2200" dirty="0"/>
              <a:t>, </a:t>
            </a:r>
            <a:r>
              <a:rPr lang="en-US" sz="2200" dirty="0" err="1"/>
              <a:t>cukup</a:t>
            </a:r>
            <a:r>
              <a:rPr lang="en-US" sz="2200" dirty="0"/>
              <a:t> </a:t>
            </a:r>
            <a:r>
              <a:rPr lang="en-US" sz="2200" dirty="0" err="1"/>
              <a:t>dengan</a:t>
            </a:r>
            <a:r>
              <a:rPr lang="en-US" sz="2200" dirty="0"/>
              <a:t> </a:t>
            </a:r>
            <a:r>
              <a:rPr lang="en-US" sz="2200" dirty="0" err="1"/>
              <a:t>menekan</a:t>
            </a:r>
            <a:r>
              <a:rPr lang="en-US" sz="2200" dirty="0"/>
              <a:t> </a:t>
            </a:r>
            <a:r>
              <a:rPr lang="en-US" sz="2200" dirty="0" err="1"/>
              <a:t>tombol</a:t>
            </a:r>
            <a:r>
              <a:rPr lang="en-US" sz="2200" dirty="0"/>
              <a:t> install, </a:t>
            </a:r>
            <a:r>
              <a:rPr lang="en-US" sz="2200" dirty="0" err="1"/>
              <a:t>kemudian</a:t>
            </a:r>
            <a:r>
              <a:rPr lang="en-US" sz="2200" dirty="0"/>
              <a:t> </a:t>
            </a:r>
            <a:r>
              <a:rPr lang="en-US" sz="2200" dirty="0" err="1"/>
              <a:t>mengetikkan</a:t>
            </a:r>
            <a:r>
              <a:rPr lang="en-US" sz="2200" dirty="0"/>
              <a:t> </a:t>
            </a:r>
            <a:r>
              <a:rPr lang="en-US" sz="2200" dirty="0" err="1"/>
              <a:t>nama</a:t>
            </a:r>
            <a:r>
              <a:rPr lang="en-US" sz="2200" dirty="0"/>
              <a:t> </a:t>
            </a:r>
            <a:r>
              <a:rPr lang="en-US" sz="2200" dirty="0" err="1"/>
              <a:t>dari</a:t>
            </a:r>
            <a:r>
              <a:rPr lang="en-US" sz="2200" dirty="0"/>
              <a:t> library yang </a:t>
            </a:r>
            <a:r>
              <a:rPr lang="en-US" sz="2200" err="1"/>
              <a:t>ingin</a:t>
            </a:r>
            <a:r>
              <a:rPr lang="en-US" sz="2200"/>
              <a:t> diinstall. [cara lainnya dengan mengetik </a:t>
            </a:r>
            <a:r>
              <a:rPr lang="en-US" b="1">
                <a:solidFill>
                  <a:srgbClr val="0000CC"/>
                </a:solidFill>
                <a:latin typeface="Lucida Console" panose="020B0609040504020204" pitchFamily="49" charset="0"/>
              </a:rPr>
              <a:t>install.packages(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00CC"/>
                </a:solidFill>
                <a:effectLst/>
                <a:latin typeface="Lucida Console" panose="020B0609040504020204" pitchFamily="49" charset="0"/>
              </a:rPr>
              <a:t>"</a:t>
            </a:r>
            <a:r>
              <a:rPr lang="en-US" b="1">
                <a:solidFill>
                  <a:srgbClr val="0000CC"/>
                </a:solidFill>
                <a:latin typeface="Lucida Console" panose="020B0609040504020204" pitchFamily="49" charset="0"/>
              </a:rPr>
              <a:t>namapackage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0000CC"/>
                </a:solidFill>
                <a:effectLst/>
                <a:latin typeface="Lucida Console" panose="020B0609040504020204" pitchFamily="49" charset="0"/>
              </a:rPr>
              <a:t>"</a:t>
            </a:r>
            <a:r>
              <a:rPr lang="en-US" b="1">
                <a:solidFill>
                  <a:srgbClr val="0000CC"/>
                </a:solidFill>
                <a:latin typeface="Lucida Console" panose="020B0609040504020204" pitchFamily="49" charset="0"/>
              </a:rPr>
              <a:t>)</a:t>
            </a:r>
            <a:r>
              <a:rPr lang="en-US" sz="2200"/>
              <a:t> pada Console Window]</a:t>
            </a:r>
            <a:endParaRPr lang="en-US" sz="2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3EB9B7-F890-4C27-838D-734F3DC84389}"/>
              </a:ext>
            </a:extLst>
          </p:cNvPr>
          <p:cNvSpPr/>
          <p:nvPr/>
        </p:nvSpPr>
        <p:spPr>
          <a:xfrm>
            <a:off x="427941" y="3532580"/>
            <a:ext cx="94550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/>
              <a:t>Tab Files/Plots/Packages/Help/Viewer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F349374B-C708-4213-A393-56D1A06B2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Pengenalan Software R</a:t>
            </a:r>
            <a:endParaRPr lang="en-ID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6560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73F40-DA5B-4E3A-B947-097D3F565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443" y="1242646"/>
            <a:ext cx="11526318" cy="4900245"/>
          </a:xfrm>
        </p:spPr>
        <p:txBody>
          <a:bodyPr>
            <a:normAutofit/>
          </a:bodyPr>
          <a:lstStyle/>
          <a:p>
            <a:r>
              <a:rPr lang="en-US"/>
              <a:t>Setelah R terinstal pada komputer dan dijalankan, akan terlihat prompt “&gt;” yang menunjukkan bahwa R siap menunggu perintah</a:t>
            </a:r>
          </a:p>
          <a:p>
            <a:r>
              <a:rPr lang="en-US"/>
              <a:t>Penamaan objek bersifat case sensitive (membedakan huruf kapital dan huruf kecil)</a:t>
            </a:r>
          </a:p>
          <a:p>
            <a:pPr lvl="1"/>
            <a:r>
              <a:rPr lang="en-US"/>
              <a:t>A&lt;-7 berbeda dengan a&lt;-7 </a:t>
            </a:r>
          </a:p>
          <a:p>
            <a:r>
              <a:rPr lang="en-US" b="1"/>
              <a:t>Penamaan objek</a:t>
            </a:r>
          </a:p>
          <a:p>
            <a:pPr lvl="1"/>
            <a:r>
              <a:rPr lang="en-US"/>
              <a:t>Diawali huruf (A-Z atau a-z) atau titik (.)</a:t>
            </a:r>
          </a:p>
          <a:p>
            <a:pPr lvl="1"/>
            <a:r>
              <a:rPr lang="en-US"/>
              <a:t>Tidak menggunakan spasi dan karakter spesial (!,@,#, dst)</a:t>
            </a:r>
          </a:p>
          <a:p>
            <a:pPr lvl="1"/>
            <a:r>
              <a:rPr lang="en-US"/>
              <a:t>Hindari penamaan yg sama dengan fungsi</a:t>
            </a:r>
            <a:br>
              <a:rPr lang="en-US"/>
            </a:br>
            <a:r>
              <a:rPr lang="en-US"/>
              <a:t>Contoh : c, q, s, t, diff, length, mean, dll</a:t>
            </a:r>
          </a:p>
          <a:p>
            <a:pPr lvl="1"/>
            <a:r>
              <a:rPr lang="en-US"/>
              <a:t>Terdapat reserved word yg tidak dapat digunakan → FALSE,</a:t>
            </a:r>
            <a:br>
              <a:rPr lang="en-US"/>
            </a:br>
            <a:r>
              <a:rPr lang="en-US"/>
              <a:t>TRUE, inf, NA, NaN, NULL, break, else, for , dll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339C80F-8E0E-4BA7-B9ED-891723A40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Bagaimana Cara Kerja R?</a:t>
            </a:r>
            <a:endParaRPr lang="en-ID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227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C04EDA-D462-4FD5-BE35-24EC7A3A09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647"/>
          <a:stretch/>
        </p:blipFill>
        <p:spPr>
          <a:xfrm>
            <a:off x="610369" y="1619917"/>
            <a:ext cx="4503960" cy="3957261"/>
          </a:xfrm>
          <a:prstGeom prst="rect">
            <a:avLst/>
          </a:prstGeom>
          <a:ln>
            <a:solidFill>
              <a:srgbClr val="0000CC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4A55D8-C839-46AA-B93E-84EA6C6D0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125" y="1619917"/>
            <a:ext cx="5494284" cy="2928092"/>
          </a:xfrm>
          <a:prstGeom prst="rect">
            <a:avLst/>
          </a:prstGeom>
          <a:ln>
            <a:solidFill>
              <a:srgbClr val="0000CC"/>
            </a:solidFill>
          </a:ln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F487A46-41A4-4076-83A9-D803F7632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Operasi Matematika Sederhana</a:t>
            </a:r>
            <a:endParaRPr lang="en-ID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614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1DA84-2977-415A-A5C9-98B94081F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/>
              <a:t>Vektor merupakan tipe sederhana dari objek data dalam R dalam hampir digunakan oleh semua objek data.</a:t>
            </a:r>
          </a:p>
          <a:p>
            <a:r>
              <a:rPr lang="en-US" sz="2400"/>
              <a:t>Semua elemen memiliki mode yang sama.</a:t>
            </a:r>
          </a:p>
          <a:p>
            <a:r>
              <a:rPr lang="en-US" sz="2400"/>
              <a:t>Untuk menciptakan vektor yang sederhana dapat menggunakan perintah concatenate (yaitu c)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3C97409-B05A-4AC2-A975-0D099D753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Objek Data</a:t>
            </a:r>
            <a:endParaRPr lang="en-ID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970420-0771-4B85-BFB2-23DE6D919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293" y="3946460"/>
            <a:ext cx="4025755" cy="1931773"/>
          </a:xfrm>
          <a:prstGeom prst="rect">
            <a:avLst/>
          </a:prstGeom>
          <a:ln>
            <a:solidFill>
              <a:srgbClr val="0000CC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3A4FD2-0B94-44AE-940E-6AF91A74F8FF}"/>
              </a:ext>
            </a:extLst>
          </p:cNvPr>
          <p:cNvSpPr txBox="1"/>
          <p:nvPr/>
        </p:nvSpPr>
        <p:spPr>
          <a:xfrm>
            <a:off x="241442" y="1288368"/>
            <a:ext cx="1385059" cy="477054"/>
          </a:xfrm>
          <a:prstGeom prst="rect">
            <a:avLst/>
          </a:prstGeom>
          <a:solidFill>
            <a:srgbClr val="0070C0"/>
          </a:solidFill>
        </p:spPr>
        <p:txBody>
          <a:bodyPr wrap="none" rtlCol="0">
            <a:spAutoFit/>
          </a:bodyPr>
          <a:lstStyle/>
          <a:p>
            <a:r>
              <a:rPr lang="en-US" sz="2500" b="1">
                <a:solidFill>
                  <a:schemeClr val="bg1"/>
                </a:solidFill>
              </a:rPr>
              <a:t>1. Vektor</a:t>
            </a:r>
          </a:p>
        </p:txBody>
      </p:sp>
    </p:spTree>
    <p:extLst>
      <p:ext uri="{BB962C8B-B14F-4D97-AF65-F5344CB8AC3E}">
        <p14:creationId xmlns:p14="http://schemas.microsoft.com/office/powerpoint/2010/main" val="3596365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33837-27A1-493A-B791-6244E6CE7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437" y="1825625"/>
            <a:ext cx="11549575" cy="435133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Perintah-perintah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membuat</a:t>
            </a:r>
            <a:r>
              <a:rPr lang="en-US" sz="2400" dirty="0"/>
              <a:t> </a:t>
            </a:r>
            <a:r>
              <a:rPr lang="en-US" sz="2400" dirty="0" err="1"/>
              <a:t>vektor</a:t>
            </a:r>
            <a:r>
              <a:rPr lang="en-US" sz="2400" dirty="0"/>
              <a:t> </a:t>
            </a:r>
            <a:r>
              <a:rPr lang="en-US" sz="2400" dirty="0" err="1"/>
              <a:t>selain</a:t>
            </a:r>
            <a:r>
              <a:rPr lang="en-US" sz="2400" dirty="0"/>
              <a:t> </a:t>
            </a:r>
            <a:r>
              <a:rPr lang="en-US" sz="2400" dirty="0" err="1"/>
              <a:t>perintah</a:t>
            </a:r>
            <a:r>
              <a:rPr lang="en-US" sz="2400" dirty="0"/>
              <a:t> c: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dirty="0"/>
              <a:t>scan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dirty="0"/>
              <a:t>rep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dirty="0"/>
              <a:t>seq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dirty="0"/>
              <a:t>vector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dirty="0" err="1"/>
              <a:t>as.vector</a:t>
            </a:r>
            <a:endParaRPr lang="en-US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dirty="0" err="1"/>
              <a:t>Akses</a:t>
            </a:r>
            <a:r>
              <a:rPr lang="en-US" sz="2400" b="1" dirty="0"/>
              <a:t> </a:t>
            </a:r>
            <a:r>
              <a:rPr lang="en-US" sz="2400" b="1" dirty="0" err="1"/>
              <a:t>terhadap</a:t>
            </a:r>
            <a:r>
              <a:rPr lang="en-US" sz="2400" b="1" dirty="0"/>
              <a:t> </a:t>
            </a:r>
            <a:r>
              <a:rPr lang="en-US" sz="2400" b="1" dirty="0" err="1"/>
              <a:t>Vektor</a:t>
            </a:r>
            <a:endParaRPr lang="en-US" sz="2400" b="1" dirty="0"/>
          </a:p>
          <a:p>
            <a:pPr marL="800100" indent="-4572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Jika x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objek</a:t>
            </a:r>
            <a:r>
              <a:rPr lang="en-US" sz="2400" dirty="0"/>
              <a:t> </a:t>
            </a:r>
            <a:r>
              <a:rPr lang="en-US" sz="2400" dirty="0" err="1"/>
              <a:t>vektor</a:t>
            </a:r>
            <a:r>
              <a:rPr lang="en-US" sz="2400" dirty="0"/>
              <a:t>,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akses</a:t>
            </a:r>
            <a:r>
              <a:rPr lang="en-US" sz="2400" dirty="0"/>
              <a:t> </a:t>
            </a:r>
            <a:r>
              <a:rPr lang="en-US" sz="2400" dirty="0" err="1"/>
              <a:t>terhadap</a:t>
            </a:r>
            <a:r>
              <a:rPr lang="en-US" sz="2400" dirty="0"/>
              <a:t> </a:t>
            </a:r>
            <a:r>
              <a:rPr lang="en-US" sz="2400" dirty="0" err="1"/>
              <a:t>elemen</a:t>
            </a:r>
            <a:r>
              <a:rPr lang="en-US" sz="2400" dirty="0"/>
              <a:t> </a:t>
            </a:r>
            <a:r>
              <a:rPr lang="en-US" sz="2400" dirty="0" err="1"/>
              <a:t>ke-i</a:t>
            </a:r>
            <a:r>
              <a:rPr lang="en-US" sz="2400" dirty="0"/>
              <a:t> </a:t>
            </a:r>
            <a:r>
              <a:rPr lang="en-US" sz="2400" dirty="0" err="1"/>
              <a:t>dilakukan</a:t>
            </a:r>
            <a:r>
              <a:rPr lang="en-US" sz="2400" dirty="0"/>
              <a:t> </a:t>
            </a:r>
            <a:r>
              <a:rPr lang="en-US" sz="2400" dirty="0" err="1"/>
              <a:t>melalui</a:t>
            </a:r>
            <a:r>
              <a:rPr lang="en-US" sz="2400" dirty="0"/>
              <a:t> x[</a:t>
            </a:r>
            <a:r>
              <a:rPr lang="en-US" sz="2400" dirty="0" err="1"/>
              <a:t>i</a:t>
            </a:r>
            <a:r>
              <a:rPr lang="en-US" sz="2400" dirty="0"/>
              <a:t>]</a:t>
            </a:r>
          </a:p>
          <a:p>
            <a:pPr marL="800100" indent="-45720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400" dirty="0"/>
              <a:t>Index </a:t>
            </a:r>
            <a:r>
              <a:rPr lang="en-US" sz="2400" dirty="0" err="1"/>
              <a:t>i</a:t>
            </a:r>
            <a:r>
              <a:rPr lang="en-US" sz="2400" dirty="0"/>
              <a:t> </a:t>
            </a:r>
            <a:r>
              <a:rPr lang="en-US" sz="2400" dirty="0" err="1"/>
              <a:t>berupa</a:t>
            </a:r>
            <a:r>
              <a:rPr lang="en-US" sz="2400" dirty="0"/>
              <a:t> </a:t>
            </a:r>
            <a:r>
              <a:rPr lang="en-US" sz="2400" dirty="0" err="1"/>
              <a:t>bilangan</a:t>
            </a:r>
            <a:r>
              <a:rPr lang="en-US" sz="2400" dirty="0"/>
              <a:t> integer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nama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index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elemen</a:t>
            </a:r>
            <a:r>
              <a:rPr lang="en-US" sz="2400" dirty="0"/>
              <a:t> logical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objek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BDFA51-E476-4D50-865F-9268E225688D}"/>
              </a:ext>
            </a:extLst>
          </p:cNvPr>
          <p:cNvSpPr txBox="1"/>
          <p:nvPr/>
        </p:nvSpPr>
        <p:spPr>
          <a:xfrm>
            <a:off x="241442" y="1288368"/>
            <a:ext cx="2755691" cy="477054"/>
          </a:xfrm>
          <a:prstGeom prst="rect">
            <a:avLst/>
          </a:prstGeom>
          <a:solidFill>
            <a:srgbClr val="0070C0"/>
          </a:solidFill>
        </p:spPr>
        <p:txBody>
          <a:bodyPr wrap="none" rtlCol="0">
            <a:spAutoFit/>
          </a:bodyPr>
          <a:lstStyle/>
          <a:p>
            <a:r>
              <a:rPr lang="en-US" sz="2500" b="1">
                <a:solidFill>
                  <a:schemeClr val="bg1"/>
                </a:solidFill>
              </a:rPr>
              <a:t>1. Vektor (lanjutan)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EEC85B9-6E31-499A-A410-03A8313D2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Objek Data</a:t>
            </a:r>
            <a:endParaRPr lang="en-ID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301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A63CF5-2E48-4712-BD3F-7BDDB05891B1}"/>
              </a:ext>
            </a:extLst>
          </p:cNvPr>
          <p:cNvSpPr txBox="1"/>
          <p:nvPr/>
        </p:nvSpPr>
        <p:spPr>
          <a:xfrm>
            <a:off x="241442" y="1288368"/>
            <a:ext cx="2755691" cy="477054"/>
          </a:xfrm>
          <a:prstGeom prst="rect">
            <a:avLst/>
          </a:prstGeom>
          <a:solidFill>
            <a:srgbClr val="0070C0"/>
          </a:solidFill>
        </p:spPr>
        <p:txBody>
          <a:bodyPr wrap="none" rtlCol="0">
            <a:spAutoFit/>
          </a:bodyPr>
          <a:lstStyle/>
          <a:p>
            <a:r>
              <a:rPr lang="en-US" sz="2500" b="1">
                <a:solidFill>
                  <a:schemeClr val="bg1"/>
                </a:solidFill>
              </a:rPr>
              <a:t>1. Vektor (lanjutan)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3033004-4E74-4B82-A712-166FDDB49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Objek Data</a:t>
            </a:r>
            <a:endParaRPr lang="en-ID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76E132-B566-44C8-A77D-7987BD142667}"/>
              </a:ext>
            </a:extLst>
          </p:cNvPr>
          <p:cNvSpPr/>
          <p:nvPr/>
        </p:nvSpPr>
        <p:spPr>
          <a:xfrm>
            <a:off x="2925922" y="1859206"/>
            <a:ext cx="8977744" cy="42375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noAutofit/>
          </a:bodyPr>
          <a:lstStyle/>
          <a:p>
            <a:pPr marL="811213"/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&gt; x</a:t>
            </a:r>
          </a:p>
          <a:p>
            <a:pPr marL="811213"/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 a   b   c   d   e </a:t>
            </a:r>
          </a:p>
          <a:p>
            <a:pPr marL="811213"/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2.3 4.5  NA 5.4 3.3 </a:t>
            </a:r>
          </a:p>
          <a:p>
            <a:pPr marL="811213"/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&gt; x[4]</a:t>
            </a:r>
          </a:p>
          <a:p>
            <a:pPr marL="811213"/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 d </a:t>
            </a:r>
          </a:p>
          <a:p>
            <a:pPr marL="811213"/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5.4 </a:t>
            </a:r>
          </a:p>
          <a:p>
            <a:pPr marL="811213"/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&gt; x[1:3]</a:t>
            </a:r>
          </a:p>
          <a:p>
            <a:pPr marL="811213"/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 a   b   c </a:t>
            </a:r>
          </a:p>
          <a:p>
            <a:pPr marL="811213"/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2.3 4.5  NA </a:t>
            </a:r>
          </a:p>
          <a:p>
            <a:pPr marL="811213"/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&gt; x[c(2,4)]</a:t>
            </a:r>
          </a:p>
          <a:p>
            <a:pPr marL="811213"/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 b   d </a:t>
            </a:r>
          </a:p>
          <a:p>
            <a:pPr marL="811213"/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4.5 5.4 </a:t>
            </a:r>
          </a:p>
          <a:p>
            <a:pPr marL="811213"/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&gt; x["a"]</a:t>
            </a:r>
          </a:p>
          <a:p>
            <a:pPr marL="811213"/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 a </a:t>
            </a:r>
          </a:p>
          <a:p>
            <a:pPr marL="811213"/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2.3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404BE2-86CF-4DD6-9BCF-E20AEE61BFF9}"/>
              </a:ext>
            </a:extLst>
          </p:cNvPr>
          <p:cNvSpPr/>
          <p:nvPr/>
        </p:nvSpPr>
        <p:spPr>
          <a:xfrm>
            <a:off x="7414794" y="1945723"/>
            <a:ext cx="4953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 marL="811213"/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&gt; x[!is.na(x)]</a:t>
            </a:r>
          </a:p>
          <a:p>
            <a:pPr marL="811213"/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 a   b   d   e </a:t>
            </a:r>
          </a:p>
          <a:p>
            <a:pPr marL="811213"/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2.3 4.5 5.4 3.3 </a:t>
            </a:r>
          </a:p>
          <a:p>
            <a:pPr marL="811213"/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&gt; x[-3]</a:t>
            </a:r>
          </a:p>
          <a:p>
            <a:pPr marL="811213"/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 a   b   d   e </a:t>
            </a:r>
          </a:p>
          <a:p>
            <a:pPr marL="811213"/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2.3 4.5 5.4 3.3 </a:t>
            </a:r>
          </a:p>
          <a:p>
            <a:pPr marL="811213"/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&gt; x[x&gt;4 &amp; !is.na(x)]</a:t>
            </a:r>
          </a:p>
          <a:p>
            <a:pPr marL="811213"/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  b   d </a:t>
            </a:r>
          </a:p>
          <a:p>
            <a:pPr marL="811213"/>
            <a:r>
              <a:rPr lang="pt-BR" dirty="0">
                <a:solidFill>
                  <a:srgbClr val="000000"/>
                </a:solidFill>
                <a:latin typeface="Courier New" panose="02070309020205020404" pitchFamily="49" charset="0"/>
              </a:rPr>
              <a:t>4.5 5.4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5A7B3A-E0B5-4429-A267-CDA180245D4C}"/>
              </a:ext>
            </a:extLst>
          </p:cNvPr>
          <p:cNvSpPr txBox="1"/>
          <p:nvPr/>
        </p:nvSpPr>
        <p:spPr>
          <a:xfrm>
            <a:off x="241442" y="1999334"/>
            <a:ext cx="25713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/>
              <a:t>Akses terhadap vektor</a:t>
            </a:r>
          </a:p>
        </p:txBody>
      </p:sp>
    </p:spTree>
    <p:extLst>
      <p:ext uri="{BB962C8B-B14F-4D97-AF65-F5344CB8AC3E}">
        <p14:creationId xmlns:p14="http://schemas.microsoft.com/office/powerpoint/2010/main" val="410244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61C92-FF8E-4D9B-B936-C7AA41884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088" y="1825625"/>
            <a:ext cx="10951712" cy="4351338"/>
          </a:xfrm>
        </p:spPr>
        <p:txBody>
          <a:bodyPr>
            <a:normAutofit/>
          </a:bodyPr>
          <a:lstStyle/>
          <a:p>
            <a:r>
              <a:rPr lang="en-US"/>
              <a:t>Matriks merupakan objek data yang banyak digunakan dalam analisis statistika</a:t>
            </a:r>
          </a:p>
          <a:p>
            <a:r>
              <a:rPr lang="en-US"/>
              <a:t>Matriks pada R umumnya dibuat melalui vektor.</a:t>
            </a:r>
          </a:p>
          <a:p>
            <a:r>
              <a:rPr lang="en-US"/>
              <a:t>Perintah-perintah untuk membuat matriks/mengkonversi vektor menjadi matriks:</a:t>
            </a:r>
          </a:p>
          <a:p>
            <a:pPr lvl="1"/>
            <a:r>
              <a:rPr lang="en-US"/>
              <a:t>matrix</a:t>
            </a:r>
          </a:p>
          <a:p>
            <a:pPr lvl="1"/>
            <a:r>
              <a:rPr lang="en-US"/>
              <a:t>dim</a:t>
            </a:r>
          </a:p>
          <a:p>
            <a:pPr lvl="1"/>
            <a:r>
              <a:rPr lang="en-US"/>
              <a:t>rbind</a:t>
            </a:r>
          </a:p>
          <a:p>
            <a:pPr lvl="1"/>
            <a:r>
              <a:rPr lang="en-US"/>
              <a:t>cbind</a:t>
            </a:r>
          </a:p>
          <a:p>
            <a:pPr lvl="1"/>
            <a:r>
              <a:rPr lang="en-US"/>
              <a:t>as.matrix</a:t>
            </a:r>
          </a:p>
          <a:p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47924C4-90A3-4CC2-B56E-605786C1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Objek Data</a:t>
            </a:r>
            <a:endParaRPr lang="en-ID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B50072-F0A7-4A91-87A4-0293B161D0DA}"/>
              </a:ext>
            </a:extLst>
          </p:cNvPr>
          <p:cNvSpPr txBox="1"/>
          <p:nvPr/>
        </p:nvSpPr>
        <p:spPr>
          <a:xfrm>
            <a:off x="241442" y="1288368"/>
            <a:ext cx="1522340" cy="477054"/>
          </a:xfrm>
          <a:prstGeom prst="rect">
            <a:avLst/>
          </a:prstGeom>
          <a:solidFill>
            <a:srgbClr val="0070C0"/>
          </a:solidFill>
        </p:spPr>
        <p:txBody>
          <a:bodyPr wrap="none" rtlCol="0">
            <a:spAutoFit/>
          </a:bodyPr>
          <a:lstStyle/>
          <a:p>
            <a:r>
              <a:rPr lang="en-US" sz="2500" b="1">
                <a:solidFill>
                  <a:schemeClr val="bg1"/>
                </a:solidFill>
              </a:rPr>
              <a:t>2. Matriks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581C2C-C72E-4E63-8292-CB76D9B59D5A}"/>
              </a:ext>
            </a:extLst>
          </p:cNvPr>
          <p:cNvSpPr/>
          <p:nvPr/>
        </p:nvSpPr>
        <p:spPr>
          <a:xfrm>
            <a:off x="5944121" y="3816158"/>
            <a:ext cx="5845791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 &lt;- matrix(c(1, 2, 3, 4, 5, 6, 7, 8, 9), </a:t>
            </a:r>
          </a:p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	nrow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3,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ncol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3,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byrow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TRUE)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FAB17E7-FF23-4CA9-B354-C610DB3D5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6074" y="4635351"/>
            <a:ext cx="2563838" cy="1176349"/>
          </a:xfrm>
          <a:prstGeom prst="rect">
            <a:avLst/>
          </a:prstGeom>
          <a:ln>
            <a:solidFill>
              <a:srgbClr val="0000CC"/>
            </a:solidFill>
          </a:ln>
        </p:spPr>
      </p:pic>
    </p:spTree>
    <p:extLst>
      <p:ext uri="{BB962C8B-B14F-4D97-AF65-F5344CB8AC3E}">
        <p14:creationId xmlns:p14="http://schemas.microsoft.com/office/powerpoint/2010/main" val="1032245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BB273-62BD-4B9A-A314-7F21F3095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254" y="2048043"/>
            <a:ext cx="10515600" cy="4351338"/>
          </a:xfrm>
        </p:spPr>
        <p:txBody>
          <a:bodyPr/>
          <a:lstStyle/>
          <a:p>
            <a:r>
              <a:rPr lang="en-US" dirty="0"/>
              <a:t>Jika A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objek</a:t>
            </a:r>
            <a:r>
              <a:rPr lang="en-US" dirty="0"/>
              <a:t> </a:t>
            </a:r>
            <a:r>
              <a:rPr lang="en-US" dirty="0" err="1"/>
              <a:t>matriks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akses</a:t>
            </a:r>
            <a:r>
              <a:rPr lang="en-US" dirty="0"/>
              <a:t> </a:t>
            </a:r>
            <a:r>
              <a:rPr lang="en-US" dirty="0" err="1"/>
              <a:t>terhadap</a:t>
            </a:r>
            <a:r>
              <a:rPr lang="en-US" dirty="0"/>
              <a:t>:</a:t>
            </a:r>
          </a:p>
          <a:p>
            <a:r>
              <a:rPr lang="en-US" dirty="0"/>
              <a:t>Individual element</a:t>
            </a:r>
            <a:br>
              <a:rPr lang="en-US" dirty="0"/>
            </a:br>
            <a:r>
              <a:rPr lang="en-US" dirty="0"/>
              <a:t>A[</a:t>
            </a:r>
            <a:r>
              <a:rPr lang="en-US" dirty="0" err="1"/>
              <a:t>r,c</a:t>
            </a:r>
            <a:r>
              <a:rPr lang="en-US" dirty="0"/>
              <a:t>] </a:t>
            </a:r>
            <a:r>
              <a:rPr lang="en-US" dirty="0" err="1"/>
              <a:t>atau</a:t>
            </a:r>
            <a:r>
              <a:rPr lang="en-US" dirty="0"/>
              <a:t> A[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  <a:p>
            <a:r>
              <a:rPr lang="en-US" dirty="0"/>
              <a:t>Baris </a:t>
            </a:r>
            <a:br>
              <a:rPr lang="en-US" dirty="0"/>
            </a:br>
            <a:r>
              <a:rPr lang="en-US" dirty="0"/>
              <a:t>A[r,]</a:t>
            </a:r>
          </a:p>
          <a:p>
            <a:r>
              <a:rPr lang="en-US" dirty="0"/>
              <a:t>Kolom</a:t>
            </a:r>
            <a:br>
              <a:rPr lang="en-US" dirty="0"/>
            </a:br>
            <a:r>
              <a:rPr lang="en-US" dirty="0"/>
              <a:t>A[,c]</a:t>
            </a:r>
          </a:p>
          <a:p>
            <a:r>
              <a:rPr lang="en-US" dirty="0"/>
              <a:t>r, c, dan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bilangan</a:t>
            </a:r>
            <a:r>
              <a:rPr lang="en-US" dirty="0"/>
              <a:t> integer</a:t>
            </a: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C77BFB-CCC6-4943-A58C-63FFF30F5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Objek Data</a:t>
            </a:r>
            <a:endParaRPr lang="en-ID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3D068E-44BA-4263-B976-CE427572C5B3}"/>
              </a:ext>
            </a:extLst>
          </p:cNvPr>
          <p:cNvSpPr txBox="1"/>
          <p:nvPr/>
        </p:nvSpPr>
        <p:spPr>
          <a:xfrm>
            <a:off x="241442" y="1288368"/>
            <a:ext cx="2892971" cy="477054"/>
          </a:xfrm>
          <a:prstGeom prst="rect">
            <a:avLst/>
          </a:prstGeom>
          <a:solidFill>
            <a:srgbClr val="0070C0"/>
          </a:solidFill>
        </p:spPr>
        <p:txBody>
          <a:bodyPr wrap="none" rtlCol="0">
            <a:spAutoFit/>
          </a:bodyPr>
          <a:lstStyle/>
          <a:p>
            <a:r>
              <a:rPr lang="en-US" sz="2500" b="1">
                <a:solidFill>
                  <a:schemeClr val="bg1"/>
                </a:solidFill>
              </a:rPr>
              <a:t>2. Matriks (lanjutan)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6F37DE-6CD6-4CAA-8263-6A7FDB911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1969" y="2294547"/>
            <a:ext cx="2896208" cy="3498887"/>
          </a:xfrm>
          <a:prstGeom prst="rect">
            <a:avLst/>
          </a:prstGeom>
          <a:ln>
            <a:solidFill>
              <a:srgbClr val="0000CC"/>
            </a:solidFill>
          </a:ln>
        </p:spPr>
      </p:pic>
    </p:spTree>
    <p:extLst>
      <p:ext uri="{BB962C8B-B14F-4D97-AF65-F5344CB8AC3E}">
        <p14:creationId xmlns:p14="http://schemas.microsoft.com/office/powerpoint/2010/main" val="25030760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BDEA9-FA60-4969-B075-B7B549CF4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khusus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Array. </a:t>
            </a:r>
            <a:r>
              <a:rPr lang="en-US" dirty="0" err="1"/>
              <a:t>Perbedaan</a:t>
            </a:r>
            <a:r>
              <a:rPr lang="en-US" dirty="0"/>
              <a:t> di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keduanya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dimensinya</a:t>
            </a:r>
            <a:r>
              <a:rPr lang="en-US" dirty="0"/>
              <a:t>. </a:t>
            </a:r>
          </a:p>
          <a:p>
            <a:r>
              <a:rPr lang="en-US" dirty="0" err="1"/>
              <a:t>Matriks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Array </a:t>
            </a:r>
            <a:r>
              <a:rPr lang="en-US" dirty="0" err="1"/>
              <a:t>berdimensi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.</a:t>
            </a:r>
          </a:p>
          <a:p>
            <a:r>
              <a:rPr lang="en-US" dirty="0" err="1"/>
              <a:t>Perintah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Array </a:t>
            </a:r>
            <a:r>
              <a:rPr lang="en-US" dirty="0" err="1"/>
              <a:t>adalah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array</a:t>
            </a:r>
          </a:p>
          <a:p>
            <a:pPr lvl="1"/>
            <a:r>
              <a:rPr lang="en-US" dirty="0"/>
              <a:t>dim</a:t>
            </a:r>
          </a:p>
          <a:p>
            <a:pPr lvl="1"/>
            <a:r>
              <a:rPr lang="en-US" dirty="0" err="1"/>
              <a:t>as.array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F86DA-3613-4E72-8DCD-1202613E2C7E}"/>
              </a:ext>
            </a:extLst>
          </p:cNvPr>
          <p:cNvSpPr txBox="1"/>
          <p:nvPr/>
        </p:nvSpPr>
        <p:spPr>
          <a:xfrm>
            <a:off x="241442" y="1288368"/>
            <a:ext cx="1223412" cy="477054"/>
          </a:xfrm>
          <a:prstGeom prst="rect">
            <a:avLst/>
          </a:prstGeom>
          <a:solidFill>
            <a:srgbClr val="0070C0"/>
          </a:solidFill>
        </p:spPr>
        <p:txBody>
          <a:bodyPr wrap="none" rtlCol="0">
            <a:spAutoFit/>
          </a:bodyPr>
          <a:lstStyle/>
          <a:p>
            <a:r>
              <a:rPr lang="en-US" sz="2500" b="1">
                <a:solidFill>
                  <a:schemeClr val="bg1"/>
                </a:solidFill>
              </a:rPr>
              <a:t>3. Array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A24FAAA-5665-49FD-AB18-9093F0A05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Objek Data</a:t>
            </a:r>
            <a:endParaRPr lang="en-ID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DBE1F1-3F2D-468C-8FEC-C1FC03C5B926}"/>
              </a:ext>
            </a:extLst>
          </p:cNvPr>
          <p:cNvSpPr/>
          <p:nvPr/>
        </p:nvSpPr>
        <p:spPr>
          <a:xfrm>
            <a:off x="1464854" y="5288009"/>
            <a:ext cx="353845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array(1:9,dim = c(3, 3))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2260C4-0AD8-4D9B-8AC5-65450924598A}"/>
              </a:ext>
            </a:extLst>
          </p:cNvPr>
          <p:cNvSpPr/>
          <p:nvPr/>
        </p:nvSpPr>
        <p:spPr>
          <a:xfrm>
            <a:off x="6414979" y="5149509"/>
            <a:ext cx="3699910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matrix(1:9,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3,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ncol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3)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2A05BA-1075-43F2-9F94-0643BE3DD9CE}"/>
              </a:ext>
            </a:extLst>
          </p:cNvPr>
          <p:cNvSpPr txBox="1"/>
          <p:nvPr/>
        </p:nvSpPr>
        <p:spPr>
          <a:xfrm>
            <a:off x="5003311" y="5288009"/>
            <a:ext cx="1943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1228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A28CF-0BB6-4ECC-B1DB-D061DCD90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348" y="1859206"/>
            <a:ext cx="10515600" cy="435133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Merupakan tipe khusus </a:t>
            </a:r>
            <a:r>
              <a:rPr lang="en-US" sz="2400" b="1"/>
              <a:t>vektor dengan elemen data kategori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Faktor diprint tanpa diapit oleh quotes “” --&gt; memiliki metode print khusus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Pada dasarnya faktor adalah vektor yang mengindikasikan taraf (level) dari peubah kategori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Perintah-perintah untuk membuat faktor: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400"/>
              <a:t>factor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400"/>
              <a:t>ordered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400"/>
              <a:t>as.factor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400"/>
              <a:t>as.ordered</a:t>
            </a:r>
          </a:p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90B80A-525E-4D4B-86E1-DED071CE7F08}"/>
              </a:ext>
            </a:extLst>
          </p:cNvPr>
          <p:cNvSpPr txBox="1"/>
          <p:nvPr/>
        </p:nvSpPr>
        <p:spPr>
          <a:xfrm>
            <a:off x="241442" y="1288368"/>
            <a:ext cx="1330108" cy="477054"/>
          </a:xfrm>
          <a:prstGeom prst="rect">
            <a:avLst/>
          </a:prstGeom>
          <a:solidFill>
            <a:srgbClr val="0070C0"/>
          </a:solidFill>
        </p:spPr>
        <p:txBody>
          <a:bodyPr wrap="none" rtlCol="0">
            <a:spAutoFit/>
          </a:bodyPr>
          <a:lstStyle/>
          <a:p>
            <a:r>
              <a:rPr lang="en-US" sz="2500" b="1">
                <a:solidFill>
                  <a:schemeClr val="bg1"/>
                </a:solidFill>
              </a:rPr>
              <a:t>4. Factor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DF2C318-A92D-450F-8FB2-C40A04BEA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Objek Data</a:t>
            </a:r>
            <a:endParaRPr lang="en-ID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61A4FB-68F9-43F7-B709-7F104994E805}"/>
              </a:ext>
            </a:extLst>
          </p:cNvPr>
          <p:cNvSpPr/>
          <p:nvPr/>
        </p:nvSpPr>
        <p:spPr>
          <a:xfrm>
            <a:off x="3771100" y="4270300"/>
            <a:ext cx="4593527" cy="175432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&lt;- c("SD", "SMP", "SMA“, “PT”)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sekolah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&lt;- factor(x)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sekolah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sekolah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&lt;- factor(x, levels = x)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sekolah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A32687F-AA2C-4FFC-B339-12B39768B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9732" y="3834201"/>
            <a:ext cx="3724132" cy="2334139"/>
          </a:xfrm>
          <a:prstGeom prst="rect">
            <a:avLst/>
          </a:prstGeom>
          <a:ln>
            <a:solidFill>
              <a:srgbClr val="0000CC"/>
            </a:solidFill>
          </a:ln>
        </p:spPr>
      </p:pic>
    </p:spTree>
    <p:extLst>
      <p:ext uri="{BB962C8B-B14F-4D97-AF65-F5344CB8AC3E}">
        <p14:creationId xmlns:p14="http://schemas.microsoft.com/office/powerpoint/2010/main" val="16759453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42AFE-0A03-4D25-BA55-D77F0014D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348" y="1842721"/>
            <a:ext cx="10515600" cy="4351338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/>
              <a:t>List</a:t>
            </a:r>
            <a:r>
              <a:rPr lang="en-US" sz="2400" dirty="0"/>
              <a:t> </a:t>
            </a:r>
            <a:r>
              <a:rPr lang="en-US" sz="2400" dirty="0" err="1"/>
              <a:t>merupakan</a:t>
            </a:r>
            <a:r>
              <a:rPr lang="en-US" sz="2400" dirty="0"/>
              <a:t> </a:t>
            </a:r>
            <a:r>
              <a:rPr lang="en-US" sz="2400" dirty="0" err="1"/>
              <a:t>objek</a:t>
            </a:r>
            <a:r>
              <a:rPr lang="en-US" sz="2400" dirty="0"/>
              <a:t> data yang </a:t>
            </a:r>
            <a:r>
              <a:rPr lang="en-US" sz="2400" dirty="0" err="1"/>
              <a:t>elemen</a:t>
            </a:r>
            <a:r>
              <a:rPr lang="en-US" sz="2400" dirty="0"/>
              <a:t> </a:t>
            </a:r>
            <a:r>
              <a:rPr lang="en-US" sz="2400" dirty="0" err="1"/>
              <a:t>didalamnya</a:t>
            </a:r>
            <a:r>
              <a:rPr lang="en-US" sz="2400" dirty="0"/>
              <a:t> </a:t>
            </a:r>
            <a:r>
              <a:rPr lang="en-US" sz="2400" dirty="0" err="1"/>
              <a:t>boleh</a:t>
            </a:r>
            <a:r>
              <a:rPr lang="en-US" sz="2400" dirty="0"/>
              <a:t> </a:t>
            </a:r>
            <a:r>
              <a:rPr lang="en-US" sz="2400" dirty="0" err="1"/>
              <a:t>memiliki</a:t>
            </a:r>
            <a:r>
              <a:rPr lang="en-US" sz="2400" dirty="0"/>
              <a:t> mode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objek</a:t>
            </a:r>
            <a:r>
              <a:rPr lang="en-US" sz="2400" dirty="0"/>
              <a:t> yang </a:t>
            </a:r>
            <a:r>
              <a:rPr lang="en-US" sz="2400" dirty="0" err="1"/>
              <a:t>berbeda</a:t>
            </a:r>
            <a:r>
              <a:rPr lang="en-US" sz="2400" dirty="0"/>
              <a:t>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Perintah-perintah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membuat</a:t>
            </a:r>
            <a:r>
              <a:rPr lang="en-US" sz="2400" dirty="0"/>
              <a:t> list:</a:t>
            </a:r>
          </a:p>
          <a:p>
            <a:pPr marL="800100" lvl="1" indent="-3429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400" dirty="0"/>
              <a:t>list</a:t>
            </a:r>
          </a:p>
          <a:p>
            <a:pPr marL="800100" lvl="1" indent="-3429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sz="2400" dirty="0" err="1"/>
              <a:t>as.list</a:t>
            </a:r>
            <a:endParaRPr lang="en-US" sz="24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Umumnya</a:t>
            </a:r>
            <a:r>
              <a:rPr lang="en-US" sz="2400" dirty="0"/>
              <a:t> list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menyimpan</a:t>
            </a:r>
            <a:r>
              <a:rPr lang="en-US" sz="2400" dirty="0"/>
              <a:t> </a:t>
            </a:r>
            <a:r>
              <a:rPr lang="en-US" sz="2400" dirty="0" err="1"/>
              <a:t>hasil</a:t>
            </a:r>
            <a:r>
              <a:rPr lang="en-US" sz="2400" dirty="0"/>
              <a:t> </a:t>
            </a:r>
            <a:r>
              <a:rPr lang="en-US" sz="2400" dirty="0" err="1"/>
              <a:t>suatu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endParaRPr lang="en-US" sz="2400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 err="1"/>
              <a:t>Perintah</a:t>
            </a:r>
            <a:r>
              <a:rPr lang="en-US" sz="2400" dirty="0"/>
              <a:t> </a:t>
            </a:r>
            <a:r>
              <a:rPr lang="en-US" sz="2400" dirty="0" err="1"/>
              <a:t>unlist</a:t>
            </a:r>
            <a:r>
              <a:rPr lang="en-US" sz="2400" dirty="0"/>
              <a:t>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membuat</a:t>
            </a:r>
            <a:r>
              <a:rPr lang="en-US" sz="2400" dirty="0"/>
              <a:t> list </a:t>
            </a:r>
            <a:r>
              <a:rPr lang="en-US" sz="2400" dirty="0" err="1"/>
              <a:t>menjadi</a:t>
            </a:r>
            <a:r>
              <a:rPr lang="en-US" sz="2400" dirty="0"/>
              <a:t> </a:t>
            </a:r>
            <a:r>
              <a:rPr lang="en-US" sz="2400" dirty="0" err="1"/>
              <a:t>vektor</a:t>
            </a:r>
            <a:r>
              <a:rPr lang="en-US" sz="2400" dirty="0"/>
              <a:t>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61625F0-6867-4B14-9610-B0E259EC2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Objek Data</a:t>
            </a:r>
            <a:endParaRPr lang="en-ID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FD6A23-1D5D-4CFF-A942-B3FFE01D1195}"/>
              </a:ext>
            </a:extLst>
          </p:cNvPr>
          <p:cNvSpPr txBox="1"/>
          <p:nvPr/>
        </p:nvSpPr>
        <p:spPr>
          <a:xfrm>
            <a:off x="241442" y="1288368"/>
            <a:ext cx="953723" cy="477054"/>
          </a:xfrm>
          <a:prstGeom prst="rect">
            <a:avLst/>
          </a:prstGeom>
          <a:solidFill>
            <a:srgbClr val="0070C0"/>
          </a:solidFill>
        </p:spPr>
        <p:txBody>
          <a:bodyPr wrap="none" rtlCol="0">
            <a:spAutoFit/>
          </a:bodyPr>
          <a:lstStyle/>
          <a:p>
            <a:r>
              <a:rPr lang="en-US" sz="2500" b="1">
                <a:solidFill>
                  <a:schemeClr val="bg1"/>
                </a:solidFill>
              </a:rPr>
              <a:t>5. List</a:t>
            </a:r>
          </a:p>
        </p:txBody>
      </p:sp>
    </p:spTree>
    <p:extLst>
      <p:ext uri="{BB962C8B-B14F-4D97-AF65-F5344CB8AC3E}">
        <p14:creationId xmlns:p14="http://schemas.microsoft.com/office/powerpoint/2010/main" val="1203270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26C141D-AA3D-4487-BC71-E62B647FC736}"/>
              </a:ext>
            </a:extLst>
          </p:cNvPr>
          <p:cNvSpPr/>
          <p:nvPr/>
        </p:nvSpPr>
        <p:spPr>
          <a:xfrm>
            <a:off x="1438582" y="1872964"/>
            <a:ext cx="8246326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 &lt;- list(1:12, c(3, 3, 3), c("a", "b"), A = matrix(1:9,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nrow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3,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ncol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3))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247B9-F32C-4314-82BB-EB0A7298E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581" y="2707697"/>
            <a:ext cx="8113381" cy="3278261"/>
          </a:xfrm>
          <a:prstGeom prst="rect">
            <a:avLst/>
          </a:prstGeom>
          <a:ln>
            <a:solidFill>
              <a:srgbClr val="0000CC"/>
            </a:solidFill>
          </a:ln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F4C7D19-2C50-4CCE-92E0-1668DED48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Objek Data</a:t>
            </a:r>
            <a:endParaRPr lang="en-ID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BCE4E2-B207-46E5-8F8B-D462621A0CFF}"/>
              </a:ext>
            </a:extLst>
          </p:cNvPr>
          <p:cNvSpPr txBox="1"/>
          <p:nvPr/>
        </p:nvSpPr>
        <p:spPr>
          <a:xfrm>
            <a:off x="241442" y="1288368"/>
            <a:ext cx="2324354" cy="477054"/>
          </a:xfrm>
          <a:prstGeom prst="rect">
            <a:avLst/>
          </a:prstGeom>
          <a:solidFill>
            <a:srgbClr val="0070C0"/>
          </a:solidFill>
        </p:spPr>
        <p:txBody>
          <a:bodyPr wrap="none" rtlCol="0">
            <a:spAutoFit/>
          </a:bodyPr>
          <a:lstStyle/>
          <a:p>
            <a:r>
              <a:rPr lang="en-US" sz="2500" b="1">
                <a:solidFill>
                  <a:schemeClr val="bg1"/>
                </a:solidFill>
              </a:rPr>
              <a:t>5. List (lanjutan)</a:t>
            </a:r>
          </a:p>
        </p:txBody>
      </p:sp>
    </p:spTree>
    <p:extLst>
      <p:ext uri="{BB962C8B-B14F-4D97-AF65-F5344CB8AC3E}">
        <p14:creationId xmlns:p14="http://schemas.microsoft.com/office/powerpoint/2010/main" val="25342062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16447-7490-4CE9-8A8F-630CBF900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348" y="1812314"/>
            <a:ext cx="10515600" cy="4351338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/>
              <a:t>Merupakan tipe khusus list yang digunakan untuk menyimpan data dari berbagai macam tipe dalam bentuk matriks.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/>
              <a:t>Perintah-perintah untuk membuat data frames:</a:t>
            </a:r>
          </a:p>
          <a:p>
            <a:pPr marL="800100" lvl="1" indent="-3429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b="1"/>
              <a:t>data.frame</a:t>
            </a:r>
            <a:r>
              <a:rPr lang="en-US"/>
              <a:t> #untuk membuat data menjadi data.frame</a:t>
            </a:r>
          </a:p>
          <a:p>
            <a:pPr marL="800100" lvl="1" indent="-3429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b="1"/>
              <a:t>read.table</a:t>
            </a:r>
          </a:p>
          <a:p>
            <a:pPr marL="800100" lvl="1" indent="-3429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b="1"/>
              <a:t>as.data.frame</a:t>
            </a:r>
          </a:p>
          <a:p>
            <a:pPr marL="800100" lvl="1" indent="-3429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b="1"/>
              <a:t>nrow() </a:t>
            </a:r>
            <a:r>
              <a:rPr lang="en-US"/>
              <a:t> #menampilkan jumlah baris</a:t>
            </a:r>
          </a:p>
          <a:p>
            <a:pPr marL="800100" lvl="1" indent="-3429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b="1"/>
              <a:t>ncol()</a:t>
            </a:r>
            <a:r>
              <a:rPr lang="en-US"/>
              <a:t>  #menampilkan jumlah kolom</a:t>
            </a:r>
          </a:p>
          <a:p>
            <a:pPr marL="800100" lvl="1" indent="-3429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b="1"/>
              <a:t>colnames() </a:t>
            </a:r>
            <a:r>
              <a:rPr lang="en-US"/>
              <a:t> #menampilkan nama kolom</a:t>
            </a:r>
          </a:p>
          <a:p>
            <a:pPr marL="800100" lvl="1" indent="-342900"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en-US" b="1"/>
              <a:t>rownames()</a:t>
            </a:r>
            <a:r>
              <a:rPr lang="en-US"/>
              <a:t>  #menampilkan nama baris atau index baris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6A86B1-377A-4EE3-8A61-8F9606DCA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Objek Data</a:t>
            </a:r>
            <a:endParaRPr lang="en-ID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C42425-E7FA-42E4-8236-72B3D3DF38EB}"/>
              </a:ext>
            </a:extLst>
          </p:cNvPr>
          <p:cNvSpPr txBox="1"/>
          <p:nvPr/>
        </p:nvSpPr>
        <p:spPr>
          <a:xfrm>
            <a:off x="241442" y="1288368"/>
            <a:ext cx="2035814" cy="477054"/>
          </a:xfrm>
          <a:prstGeom prst="rect">
            <a:avLst/>
          </a:prstGeom>
          <a:solidFill>
            <a:srgbClr val="0070C0"/>
          </a:solidFill>
        </p:spPr>
        <p:txBody>
          <a:bodyPr wrap="none" rtlCol="0">
            <a:spAutoFit/>
          </a:bodyPr>
          <a:lstStyle/>
          <a:p>
            <a:r>
              <a:rPr lang="en-US" sz="2500" b="1">
                <a:solidFill>
                  <a:schemeClr val="bg1"/>
                </a:solidFill>
              </a:rPr>
              <a:t>6. Data Frame</a:t>
            </a:r>
          </a:p>
        </p:txBody>
      </p:sp>
    </p:spTree>
    <p:extLst>
      <p:ext uri="{BB962C8B-B14F-4D97-AF65-F5344CB8AC3E}">
        <p14:creationId xmlns:p14="http://schemas.microsoft.com/office/powerpoint/2010/main" val="31106139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D291F6E-5F99-4054-BE8A-D3046D450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Impor Data dari Excel</a:t>
            </a:r>
            <a:endParaRPr lang="en-ID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8444A73-1596-4772-A6C8-6445BB057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758" y="1469397"/>
            <a:ext cx="6577818" cy="123110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>
                <a:solidFill>
                  <a:srgbClr val="0000CC"/>
                </a:solidFill>
                <a:latin typeface="Lucida Console" panose="020B0609040504020204" pitchFamily="49" charset="0"/>
              </a:rPr>
              <a:t>install.packages(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CC"/>
                </a:solidFill>
                <a:effectLst/>
                <a:latin typeface="Lucida Console" panose="020B0609040504020204" pitchFamily="49" charset="0"/>
              </a:rPr>
              <a:t>"</a:t>
            </a:r>
            <a:r>
              <a:rPr lang="en-US" altLang="en-US" sz="2000">
                <a:solidFill>
                  <a:srgbClr val="0000CC"/>
                </a:solidFill>
                <a:latin typeface="Lucida Console" panose="020B0609040504020204" pitchFamily="49" charset="0"/>
              </a:rPr>
              <a:t>readxl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CC"/>
                </a:solidFill>
                <a:effectLst/>
                <a:latin typeface="Lucida Console" panose="020B0609040504020204" pitchFamily="49" charset="0"/>
              </a:rPr>
              <a:t>"</a:t>
            </a:r>
            <a:r>
              <a:rPr lang="en-US" altLang="en-US" sz="2000">
                <a:solidFill>
                  <a:srgbClr val="0000CC"/>
                </a:solidFill>
                <a:latin typeface="Lucida Console" panose="020B0609040504020204" pitchFamily="49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CC"/>
                </a:solidFill>
                <a:effectLst/>
                <a:latin typeface="Lucida Console" panose="020B0609040504020204" pitchFamily="49" charset="0"/>
              </a:rPr>
              <a:t>library(readxl)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rgbClr val="0000CC"/>
                </a:solidFill>
                <a:effectLst/>
                <a:latin typeface="Lucida Console" panose="020B0609040504020204" pitchFamily="49" charset="0"/>
              </a:rPr>
              <a:t>auto &lt;- read_excel("E:/auto.xlsx")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>
                <a:solidFill>
                  <a:srgbClr val="0000CC"/>
                </a:solidFill>
                <a:latin typeface="Lucida Console" panose="020B0609040504020204" pitchFamily="49" charset="0"/>
              </a:rPr>
              <a:t>View(auto)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rgbClr val="0000CC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6A522E-40A8-4F84-8CDE-1E04D65C0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641" y="2446757"/>
            <a:ext cx="7506214" cy="3626598"/>
          </a:xfrm>
          <a:prstGeom prst="rect">
            <a:avLst/>
          </a:prstGeom>
          <a:ln>
            <a:solidFill>
              <a:srgbClr val="0000CC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2EA1ABF-7F4C-45B6-81E4-880229994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6050" y="1195176"/>
            <a:ext cx="3358661" cy="7386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/>
              <a:t>Lokasi file ini disesuaikan di PC masing-masing</a:t>
            </a:r>
            <a:endParaRPr kumimoji="0" lang="en-US" altLang="en-US" sz="2400" b="0" i="0" u="none" strike="noStrike" cap="none" normalizeH="0" baseline="0">
              <a:ln>
                <a:noFill/>
              </a:ln>
              <a:effectLst/>
            </a:endParaRP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3F7606CE-631A-480C-9161-1AE7523DC1D7}"/>
              </a:ext>
            </a:extLst>
          </p:cNvPr>
          <p:cNvSpPr/>
          <p:nvPr/>
        </p:nvSpPr>
        <p:spPr>
          <a:xfrm rot="3909484">
            <a:off x="6101603" y="1243951"/>
            <a:ext cx="392787" cy="13159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7106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C57F24A-DAAD-42A5-A3EB-DBCFBF11D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Eksplorasi Data</a:t>
            </a:r>
            <a:endParaRPr lang="en-ID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7294D9-AC04-4624-BBE2-FD92592FC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145" y="1294229"/>
            <a:ext cx="9846230" cy="17437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00CC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0A34EC-0DC3-494B-8F8F-13B7D2F6C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45" y="3150485"/>
            <a:ext cx="10201238" cy="2996679"/>
          </a:xfrm>
          <a:prstGeom prst="rect">
            <a:avLst/>
          </a:prstGeom>
          <a:ln>
            <a:solidFill>
              <a:srgbClr val="0000CC"/>
            </a:solidFill>
          </a:ln>
        </p:spPr>
      </p:pic>
    </p:spTree>
    <p:extLst>
      <p:ext uri="{BB962C8B-B14F-4D97-AF65-F5344CB8AC3E}">
        <p14:creationId xmlns:p14="http://schemas.microsoft.com/office/powerpoint/2010/main" val="25469723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844745C-7741-4B46-BF85-E28B932A8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Eksplorasi Data</a:t>
            </a:r>
            <a:endParaRPr lang="en-ID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C1A026-F2FA-4961-B08B-DF7EFE8D3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308" y="2569163"/>
            <a:ext cx="3823248" cy="3325200"/>
          </a:xfrm>
          <a:prstGeom prst="rect">
            <a:avLst/>
          </a:prstGeom>
          <a:ln>
            <a:solidFill>
              <a:srgbClr val="0000CC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F8C005-0E5D-4AA3-9446-A5D75F7C0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207" y="2818187"/>
            <a:ext cx="3969732" cy="3076176"/>
          </a:xfrm>
          <a:prstGeom prst="rect">
            <a:avLst/>
          </a:prstGeom>
          <a:ln>
            <a:solidFill>
              <a:srgbClr val="0000CC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209106E-E527-4CD8-9129-8BB4E474D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308" y="1613390"/>
            <a:ext cx="6577818" cy="6771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/>
              <a:t>Menampilkan 3 kolom pertama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>
                <a:solidFill>
                  <a:srgbClr val="0000CC"/>
                </a:solidFill>
                <a:latin typeface="Lucida Console" panose="020B0609040504020204" pitchFamily="49" charset="0"/>
              </a:rPr>
              <a:t>auto[,c(1,2,3)]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07C0EF-2C9A-41C4-856E-7BF8651E5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462" y="1529135"/>
            <a:ext cx="5595351" cy="1046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a-DK" altLang="en-US" sz="2400" dirty="0"/>
              <a:t>Menampilkan observasi 1 sampai 10 untuk variabel mpg dan cylinders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a-DK" altLang="en-US" sz="2000" dirty="0">
                <a:solidFill>
                  <a:srgbClr val="0000CC"/>
                </a:solidFill>
                <a:latin typeface="Lucida Console" panose="020B0609040504020204" pitchFamily="49" charset="0"/>
              </a:rPr>
              <a:t>auto[1:10,c("mpg","cylinders")]</a:t>
            </a:r>
            <a:endParaRPr lang="en-US" altLang="en-US" sz="2000" dirty="0">
              <a:solidFill>
                <a:srgbClr val="0000CC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42906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6513511-0A75-46D0-B406-C2F26FB22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Eksplorasi Data</a:t>
            </a:r>
            <a:endParaRPr lang="en-ID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F9ECE9-B3B2-45EA-88B3-0576615A0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581" y="1627603"/>
            <a:ext cx="9168599" cy="1524336"/>
          </a:xfrm>
          <a:prstGeom prst="rect">
            <a:avLst/>
          </a:prstGeom>
          <a:ln>
            <a:solidFill>
              <a:srgbClr val="0000CC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2CAA7C-716D-4DDC-8600-4506FEA42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797" y="3762334"/>
            <a:ext cx="9383133" cy="2405063"/>
          </a:xfrm>
          <a:prstGeom prst="rect">
            <a:avLst/>
          </a:prstGeom>
          <a:ln>
            <a:solidFill>
              <a:srgbClr val="0000CC"/>
            </a:solidFill>
          </a:ln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C489114-973C-44EA-81DA-B8E5B1CD3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42" y="1155325"/>
            <a:ext cx="8439389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/>
              <a:t>Menampilkan 5 observasi pertama:	</a:t>
            </a:r>
            <a:r>
              <a:rPr lang="en-US" altLang="en-US" sz="2000">
                <a:solidFill>
                  <a:srgbClr val="0000CC"/>
                </a:solidFill>
                <a:latin typeface="Lucida Console" panose="020B0609040504020204" pitchFamily="49" charset="0"/>
              </a:rPr>
              <a:t>head(auto, n=5)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81FD05-4F72-4EB0-84A0-79EC4D98B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42" y="3311157"/>
            <a:ext cx="7686714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/>
              <a:t>Menampilkan 10 observasi terakhir:	</a:t>
            </a:r>
            <a:r>
              <a:rPr lang="en-US" altLang="en-US" sz="2000">
                <a:solidFill>
                  <a:srgbClr val="0000CC"/>
                </a:solidFill>
                <a:latin typeface="Lucida Console" panose="020B0609040504020204" pitchFamily="49" charset="0"/>
              </a:rPr>
              <a:t>tail(auto, n=10)</a:t>
            </a:r>
          </a:p>
        </p:txBody>
      </p:sp>
    </p:spTree>
    <p:extLst>
      <p:ext uri="{BB962C8B-B14F-4D97-AF65-F5344CB8AC3E}">
        <p14:creationId xmlns:p14="http://schemas.microsoft.com/office/powerpoint/2010/main" val="2859654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DCCC7AB-6B48-456C-993D-C58C214FB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Eksplorasi Data</a:t>
            </a:r>
            <a:endParaRPr lang="en-ID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40E568-1EA0-493A-8A3E-4078AAF4A5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90" y="1636746"/>
            <a:ext cx="8535501" cy="1730169"/>
          </a:xfrm>
          <a:prstGeom prst="rect">
            <a:avLst/>
          </a:prstGeom>
          <a:ln>
            <a:solidFill>
              <a:srgbClr val="0000CC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1A945A-0716-483A-90D2-657407190F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410" y="3427588"/>
            <a:ext cx="4533043" cy="2791340"/>
          </a:xfrm>
          <a:prstGeom prst="rect">
            <a:avLst/>
          </a:prstGeom>
          <a:ln>
            <a:solidFill>
              <a:srgbClr val="0000CC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E1D7494-2AF7-4F3E-9375-A41ED870E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889" y="1190474"/>
            <a:ext cx="10462775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/>
              <a:t>Memfilter mobil dengan 3 silinder:	</a:t>
            </a:r>
            <a:r>
              <a:rPr lang="en-US" altLang="en-US" sz="2000">
                <a:solidFill>
                  <a:srgbClr val="0000CC"/>
                </a:solidFill>
                <a:latin typeface="Lucida Console" panose="020B0609040504020204" pitchFamily="49" charset="0"/>
              </a:rPr>
              <a:t>subset(auto,subset=cylinders==3)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F05B45-F4CC-49C0-84A0-3CBE87AD0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627" y="3641187"/>
            <a:ext cx="5018579" cy="2523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 err="1"/>
              <a:t>Pemusatan</a:t>
            </a:r>
            <a:r>
              <a:rPr lang="en-US" altLang="en-US" sz="2400" dirty="0"/>
              <a:t> dan </a:t>
            </a:r>
            <a:r>
              <a:rPr lang="en-US" altLang="en-US" sz="2400" dirty="0" err="1"/>
              <a:t>penyebaran</a:t>
            </a:r>
            <a:r>
              <a:rPr lang="en-US" altLang="en-US" sz="2400" dirty="0"/>
              <a:t> data mpg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0000CC"/>
                </a:solidFill>
                <a:latin typeface="Lucida Console" panose="020B0609040504020204" pitchFamily="49" charset="0"/>
              </a:rPr>
              <a:t>mean(</a:t>
            </a:r>
            <a:r>
              <a:rPr lang="en-US" altLang="en-US" sz="2000" dirty="0" err="1">
                <a:solidFill>
                  <a:srgbClr val="0000CC"/>
                </a:solidFill>
                <a:latin typeface="Lucida Console" panose="020B0609040504020204" pitchFamily="49" charset="0"/>
              </a:rPr>
              <a:t>auto$mpg</a:t>
            </a:r>
            <a:r>
              <a:rPr lang="en-US" altLang="en-US" sz="2000" dirty="0">
                <a:solidFill>
                  <a:srgbClr val="0000CC"/>
                </a:solidFill>
                <a:latin typeface="Lucida Console" panose="020B0609040504020204" pitchFamily="49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 err="1">
                <a:solidFill>
                  <a:srgbClr val="0000CC"/>
                </a:solidFill>
                <a:latin typeface="Lucida Console" panose="020B0609040504020204" pitchFamily="49" charset="0"/>
              </a:rPr>
              <a:t>sd</a:t>
            </a:r>
            <a:r>
              <a:rPr lang="en-US" altLang="en-US" sz="2000" dirty="0">
                <a:solidFill>
                  <a:srgbClr val="0000CC"/>
                </a:solidFill>
                <a:latin typeface="Lucida Console" panose="020B0609040504020204" pitchFamily="49" charset="0"/>
              </a:rPr>
              <a:t>(</a:t>
            </a:r>
            <a:r>
              <a:rPr lang="en-US" altLang="en-US" sz="2000" dirty="0" err="1">
                <a:solidFill>
                  <a:srgbClr val="0000CC"/>
                </a:solidFill>
                <a:latin typeface="Lucida Console" panose="020B0609040504020204" pitchFamily="49" charset="0"/>
              </a:rPr>
              <a:t>auto$mpg</a:t>
            </a:r>
            <a:r>
              <a:rPr lang="en-US" altLang="en-US" sz="2000" dirty="0">
                <a:solidFill>
                  <a:srgbClr val="0000CC"/>
                </a:solidFill>
                <a:latin typeface="Lucida Console" panose="020B0609040504020204" pitchFamily="49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0000CC"/>
                </a:solidFill>
                <a:latin typeface="Lucida Console" panose="020B0609040504020204" pitchFamily="49" charset="0"/>
              </a:rPr>
              <a:t>max(</a:t>
            </a:r>
            <a:r>
              <a:rPr lang="en-US" altLang="en-US" sz="2000" dirty="0" err="1">
                <a:solidFill>
                  <a:srgbClr val="0000CC"/>
                </a:solidFill>
                <a:latin typeface="Lucida Console" panose="020B0609040504020204" pitchFamily="49" charset="0"/>
              </a:rPr>
              <a:t>auto$mpg</a:t>
            </a:r>
            <a:r>
              <a:rPr lang="en-US" altLang="en-US" sz="2000" dirty="0">
                <a:solidFill>
                  <a:srgbClr val="0000CC"/>
                </a:solidFill>
                <a:latin typeface="Lucida Console" panose="020B0609040504020204" pitchFamily="49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0000CC"/>
                </a:solidFill>
                <a:latin typeface="Lucida Console" panose="020B0609040504020204" pitchFamily="49" charset="0"/>
              </a:rPr>
              <a:t>min(</a:t>
            </a:r>
            <a:r>
              <a:rPr lang="en-US" altLang="en-US" sz="2000" dirty="0" err="1">
                <a:solidFill>
                  <a:srgbClr val="0000CC"/>
                </a:solidFill>
                <a:latin typeface="Lucida Console" panose="020B0609040504020204" pitchFamily="49" charset="0"/>
              </a:rPr>
              <a:t>auto$mpg</a:t>
            </a:r>
            <a:r>
              <a:rPr lang="en-US" altLang="en-US" sz="2000" dirty="0">
                <a:solidFill>
                  <a:srgbClr val="0000CC"/>
                </a:solidFill>
                <a:latin typeface="Lucida Console" panose="020B0609040504020204" pitchFamily="49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0000CC"/>
                </a:solidFill>
                <a:latin typeface="Lucida Console" panose="020B0609040504020204" pitchFamily="49" charset="0"/>
              </a:rPr>
              <a:t>median(</a:t>
            </a:r>
            <a:r>
              <a:rPr lang="en-US" altLang="en-US" sz="2000" dirty="0" err="1">
                <a:solidFill>
                  <a:srgbClr val="0000CC"/>
                </a:solidFill>
                <a:latin typeface="Lucida Console" panose="020B0609040504020204" pitchFamily="49" charset="0"/>
              </a:rPr>
              <a:t>auto$mpg</a:t>
            </a:r>
            <a:r>
              <a:rPr lang="en-US" altLang="en-US" sz="2000" dirty="0">
                <a:solidFill>
                  <a:srgbClr val="0000CC"/>
                </a:solidFill>
                <a:latin typeface="Lucida Console" panose="020B0609040504020204" pitchFamily="49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0000CC"/>
                </a:solidFill>
                <a:latin typeface="Lucida Console" panose="020B0609040504020204" pitchFamily="49" charset="0"/>
              </a:rPr>
              <a:t>quantile(</a:t>
            </a:r>
            <a:r>
              <a:rPr lang="en-US" altLang="en-US" sz="2000" dirty="0" err="1">
                <a:solidFill>
                  <a:srgbClr val="0000CC"/>
                </a:solidFill>
                <a:latin typeface="Lucida Console" panose="020B0609040504020204" pitchFamily="49" charset="0"/>
              </a:rPr>
              <a:t>auto$mpg</a:t>
            </a:r>
            <a:r>
              <a:rPr lang="en-US" altLang="en-US" sz="2000" dirty="0">
                <a:solidFill>
                  <a:srgbClr val="0000CC"/>
                </a:solidFill>
                <a:latin typeface="Lucida Console" panose="020B0609040504020204" pitchFamily="49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0000CC"/>
                </a:solidFill>
                <a:latin typeface="Lucida Console" panose="020B0609040504020204" pitchFamily="49" charset="0"/>
              </a:rPr>
              <a:t>summary(</a:t>
            </a:r>
            <a:r>
              <a:rPr lang="en-US" altLang="en-US" sz="2000" dirty="0" err="1">
                <a:solidFill>
                  <a:srgbClr val="0000CC"/>
                </a:solidFill>
                <a:latin typeface="Lucida Console" panose="020B0609040504020204" pitchFamily="49" charset="0"/>
              </a:rPr>
              <a:t>auto$mpg</a:t>
            </a:r>
            <a:r>
              <a:rPr lang="en-US" altLang="en-US" sz="2000" dirty="0">
                <a:solidFill>
                  <a:srgbClr val="0000CC"/>
                </a:solidFill>
                <a:latin typeface="Lucida Console" panose="020B06090405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86572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45967D9-4DF4-4B5A-9A0E-40AA37BE7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Eksplorasi Data</a:t>
            </a:r>
            <a:endParaRPr lang="en-ID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CF5100-EAD2-4E07-A336-BB862B1D5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79" y="2356545"/>
            <a:ext cx="11309151" cy="3101720"/>
          </a:xfrm>
          <a:prstGeom prst="rect">
            <a:avLst/>
          </a:prstGeom>
          <a:ln>
            <a:solidFill>
              <a:srgbClr val="0000CC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FFD540B-1360-43CA-9454-C80C4DF801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821" y="1532573"/>
            <a:ext cx="10462775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/>
              <a:t>Ringkasan data seluruh variabel:	</a:t>
            </a:r>
            <a:r>
              <a:rPr lang="en-US" altLang="en-US" sz="2000">
                <a:solidFill>
                  <a:srgbClr val="0000CC"/>
                </a:solidFill>
                <a:latin typeface="Lucida Console" panose="020B0609040504020204" pitchFamily="49" charset="0"/>
              </a:rPr>
              <a:t>summary(auto)</a:t>
            </a:r>
          </a:p>
        </p:txBody>
      </p:sp>
    </p:spTree>
    <p:extLst>
      <p:ext uri="{BB962C8B-B14F-4D97-AF65-F5344CB8AC3E}">
        <p14:creationId xmlns:p14="http://schemas.microsoft.com/office/powerpoint/2010/main" val="5566437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88154A1-9185-4858-BC32-DED95FF41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Eksplorasi Data</a:t>
            </a:r>
            <a:endParaRPr lang="en-ID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97AD01-A5FD-4BA9-A61C-A4E652493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037" y="1972006"/>
            <a:ext cx="6345601" cy="4061704"/>
          </a:xfrm>
          <a:prstGeom prst="rect">
            <a:avLst/>
          </a:prstGeom>
          <a:ln>
            <a:solidFill>
              <a:srgbClr val="0000CC"/>
            </a:solidFill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5A97FFC-056D-4F31-B79B-4DD11D53B194}"/>
              </a:ext>
            </a:extLst>
          </p:cNvPr>
          <p:cNvSpPr/>
          <p:nvPr/>
        </p:nvSpPr>
        <p:spPr>
          <a:xfrm>
            <a:off x="241442" y="1817261"/>
            <a:ext cx="2994127" cy="433960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cs typeface="Courier New" panose="02070309020205020404" pitchFamily="49" charset="0"/>
              </a:rPr>
              <a:t>Base Graphics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 err="1">
                <a:cs typeface="Courier New" panose="02070309020205020404" pitchFamily="49" charset="0"/>
              </a:rPr>
              <a:t>hist</a:t>
            </a:r>
            <a:endParaRPr lang="en-US" sz="2000" dirty="0">
              <a:cs typeface="Courier New" panose="02070309020205020404" pitchFamily="49" charset="0"/>
            </a:endParaRP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>
                <a:cs typeface="Courier New" panose="02070309020205020404" pitchFamily="49" charset="0"/>
              </a:rPr>
              <a:t>density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>
                <a:cs typeface="Courier New" panose="02070309020205020404" pitchFamily="49" charset="0"/>
              </a:rPr>
              <a:t>bar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>
                <a:cs typeface="Courier New" panose="02070309020205020404" pitchFamily="49" charset="0"/>
              </a:rPr>
              <a:t>pie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>
                <a:cs typeface="Courier New" panose="02070309020205020404" pitchFamily="49" charset="0"/>
              </a:rPr>
              <a:t>boxplot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>
                <a:cs typeface="Courier New" panose="02070309020205020404" pitchFamily="49" charset="0"/>
              </a:rPr>
              <a:t>plot</a:t>
            </a:r>
          </a:p>
          <a:p>
            <a:pPr marL="342900" indent="-3429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cs typeface="Courier New" panose="02070309020205020404" pitchFamily="49" charset="0"/>
              </a:rPr>
              <a:t>ggplot2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 err="1">
                <a:cs typeface="Courier New" panose="02070309020205020404" pitchFamily="49" charset="0"/>
              </a:rPr>
              <a:t>geom_histogram</a:t>
            </a:r>
            <a:endParaRPr lang="en-US" sz="2000" dirty="0">
              <a:cs typeface="Courier New" panose="02070309020205020404" pitchFamily="49" charset="0"/>
            </a:endParaRP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 err="1">
                <a:cs typeface="Courier New" panose="02070309020205020404" pitchFamily="49" charset="0"/>
              </a:rPr>
              <a:t>geom_density</a:t>
            </a:r>
            <a:endParaRPr lang="en-US" sz="2000" dirty="0">
              <a:cs typeface="Courier New" panose="02070309020205020404" pitchFamily="49" charset="0"/>
            </a:endParaRP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 err="1">
                <a:cs typeface="Courier New" panose="02070309020205020404" pitchFamily="49" charset="0"/>
              </a:rPr>
              <a:t>geom_bar</a:t>
            </a:r>
            <a:endParaRPr lang="en-US" sz="2000" dirty="0">
              <a:cs typeface="Courier New" panose="02070309020205020404" pitchFamily="49" charset="0"/>
            </a:endParaRP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 err="1">
                <a:cs typeface="Courier New" panose="02070309020205020404" pitchFamily="49" charset="0"/>
              </a:rPr>
              <a:t>geom_boxplot</a:t>
            </a:r>
            <a:endParaRPr lang="en-US" sz="2000" dirty="0">
              <a:cs typeface="Courier New" panose="02070309020205020404" pitchFamily="49" charset="0"/>
            </a:endParaRP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en-US" sz="2000" dirty="0" err="1">
                <a:cs typeface="Courier New" panose="02070309020205020404" pitchFamily="49" charset="0"/>
              </a:rPr>
              <a:t>geom_point</a:t>
            </a:r>
            <a:endParaRPr lang="en-US" sz="2000" dirty="0"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1A0BB4-3573-47A6-91C1-956E1314732D}"/>
              </a:ext>
            </a:extLst>
          </p:cNvPr>
          <p:cNvSpPr txBox="1"/>
          <p:nvPr/>
        </p:nvSpPr>
        <p:spPr>
          <a:xfrm>
            <a:off x="718161" y="1201043"/>
            <a:ext cx="102034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/>
              <a:t>Grafik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90CD75-1496-4697-A764-85744ACDF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4037" y="1416487"/>
            <a:ext cx="5895464" cy="3077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>
                <a:solidFill>
                  <a:srgbClr val="0000CC"/>
                </a:solidFill>
                <a:latin typeface="Lucida Console" panose="020B0609040504020204" pitchFamily="49" charset="0"/>
              </a:rPr>
              <a:t>boxplot(auto$mpg, main="Boxplot mpg")</a:t>
            </a:r>
          </a:p>
        </p:txBody>
      </p:sp>
    </p:spTree>
    <p:extLst>
      <p:ext uri="{BB962C8B-B14F-4D97-AF65-F5344CB8AC3E}">
        <p14:creationId xmlns:p14="http://schemas.microsoft.com/office/powerpoint/2010/main" val="7805425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964A8C2-C80E-412B-89D5-E9C8F4A31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21702"/>
            <a:ext cx="11189413" cy="1325563"/>
          </a:xfrm>
        </p:spPr>
        <p:txBody>
          <a:bodyPr/>
          <a:lstStyle/>
          <a:p>
            <a:r>
              <a:rPr lang="en-ID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Eksplorasi Data</a:t>
            </a:r>
            <a:endParaRPr lang="en-ID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B3990E-02D5-4C5B-9FF3-1FF685F85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386" y="2083430"/>
            <a:ext cx="8463228" cy="4746439"/>
          </a:xfrm>
          <a:prstGeom prst="rect">
            <a:avLst/>
          </a:prstGeom>
          <a:ln>
            <a:solidFill>
              <a:srgbClr val="0000CC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E33677E-9B31-458D-9764-46E045701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543" y="1210229"/>
            <a:ext cx="12056012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>
                <a:solidFill>
                  <a:srgbClr val="0000CC"/>
                </a:solidFill>
                <a:latin typeface="Lucida Console" panose="020B0609040504020204" pitchFamily="49" charset="0"/>
              </a:rPr>
              <a:t>par(mfrow = c(1, 2))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>
                <a:solidFill>
                  <a:srgbClr val="0000CC"/>
                </a:solidFill>
                <a:latin typeface="Lucida Console" panose="020B0609040504020204" pitchFamily="49" charset="0"/>
              </a:rPr>
              <a:t>hist(auto$mpg, main="Histogram mpg",col="yellow", xlab="mpg mobil")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>
                <a:solidFill>
                  <a:srgbClr val="0000CC"/>
                </a:solidFill>
                <a:latin typeface="Lucida Console" panose="020B0609040504020204" pitchFamily="49" charset="0"/>
              </a:rPr>
              <a:t>hist(auto$cylinders, main="Histogram cylinders",col="green", xlab="banyaknya silinder") </a:t>
            </a:r>
          </a:p>
        </p:txBody>
      </p:sp>
    </p:spTree>
    <p:extLst>
      <p:ext uri="{BB962C8B-B14F-4D97-AF65-F5344CB8AC3E}">
        <p14:creationId xmlns:p14="http://schemas.microsoft.com/office/powerpoint/2010/main" val="10396273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8B3990E-02D5-4C5B-9FF3-1FF685F85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386" y="2083430"/>
            <a:ext cx="8463228" cy="4746439"/>
          </a:xfrm>
          <a:prstGeom prst="rect">
            <a:avLst/>
          </a:prstGeom>
          <a:ln>
            <a:solidFill>
              <a:srgbClr val="0000CC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27D9249-AEC7-4D15-BF8D-69DDFE956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968" y="-28132"/>
            <a:ext cx="8914860" cy="6886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8484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EB824F7-5EC5-49AA-A3FF-D6AA97F23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936" y="0"/>
            <a:ext cx="88421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735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79853-5E67-4268-A383-8AA079E96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225874"/>
            <a:ext cx="11189413" cy="1325563"/>
          </a:xfrm>
        </p:spPr>
        <p:txBody>
          <a:bodyPr/>
          <a:lstStyle/>
          <a:p>
            <a:r>
              <a:rPr lang="en-ID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Mengimpor Data dari Excel</a:t>
            </a:r>
            <a:endParaRPr lang="en-ID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41442" y="1347591"/>
            <a:ext cx="114881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 sz="240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Klik File </a:t>
            </a:r>
            <a:r>
              <a:rPr lang="en-US" sz="240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Wingdings" panose="05000000000000000000" pitchFamily="2" charset="2"/>
              </a:rPr>
              <a:t> Import Dataset  From Excel</a:t>
            </a:r>
            <a:endParaRPr lang="en-US" sz="240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A8C1D9-786D-4AFA-B10E-65DCC2ECCD02}"/>
              </a:ext>
            </a:extLst>
          </p:cNvPr>
          <p:cNvSpPr/>
          <p:nvPr/>
        </p:nvSpPr>
        <p:spPr>
          <a:xfrm>
            <a:off x="5045363" y="6774198"/>
            <a:ext cx="11488103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hlinkClick r:id="rId3"/>
              </a:rPr>
              <a:t>http://www.sthda.com/english/wiki/scatter-plots-r-base-graphs</a:t>
            </a:r>
            <a:endParaRPr lang="en-US" sz="220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hlinkClick r:id="rId4"/>
              </a:rPr>
              <a:t>https://www.rdocumentation.org/packages/graphics/versions/3.6.2/topics/plot</a:t>
            </a:r>
            <a:endParaRPr lang="en-US" sz="220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hlinkClick r:id="rId5"/>
              </a:rPr>
              <a:t>https://www.rdocumentation.org/packages/stats/versions/3.6.2/topics/lm</a:t>
            </a:r>
            <a:endParaRPr lang="en-US" sz="220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20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https://www.rdocumentation.org/packages/openintro/versions/2.0.0/topics/boxPlot</a:t>
            </a:r>
            <a:endParaRPr lang="en-US" sz="2200" dirty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B9F1F0-CA90-4392-A10C-3ADF427CAC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040" y="1809256"/>
            <a:ext cx="10504216" cy="504874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79F60DB-AC62-4C1B-9C0C-F7FAC67410A2}"/>
              </a:ext>
            </a:extLst>
          </p:cNvPr>
          <p:cNvSpPr/>
          <p:nvPr/>
        </p:nvSpPr>
        <p:spPr>
          <a:xfrm>
            <a:off x="10261599" y="2235200"/>
            <a:ext cx="711200" cy="33382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0439E0-2100-4074-9458-79BEE3803B95}"/>
              </a:ext>
            </a:extLst>
          </p:cNvPr>
          <p:cNvSpPr/>
          <p:nvPr/>
        </p:nvSpPr>
        <p:spPr>
          <a:xfrm>
            <a:off x="9737420" y="2673154"/>
            <a:ext cx="24545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>
                <a:ea typeface="Cambria" panose="02040503050406030204" pitchFamily="18" charset="0"/>
                <a:cs typeface="Arial" panose="020B0604020202020204" pitchFamily="34" charset="0"/>
              </a:rPr>
              <a:t>Klik ini untuk mencari file excel yang dimaksud</a:t>
            </a:r>
            <a:endParaRPr lang="en-US" dirty="0"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C764E0-40AF-4C81-9BE3-04A78F5B393E}"/>
              </a:ext>
            </a:extLst>
          </p:cNvPr>
          <p:cNvSpPr/>
          <p:nvPr/>
        </p:nvSpPr>
        <p:spPr>
          <a:xfrm>
            <a:off x="1342569" y="5483907"/>
            <a:ext cx="1458687" cy="321808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538993-DA5A-4DF2-94A6-56A6387CDA65}"/>
              </a:ext>
            </a:extLst>
          </p:cNvPr>
          <p:cNvSpPr/>
          <p:nvPr/>
        </p:nvSpPr>
        <p:spPr>
          <a:xfrm>
            <a:off x="0" y="5845409"/>
            <a:ext cx="245458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>
                <a:ea typeface="Cambria" panose="02040503050406030204" pitchFamily="18" charset="0"/>
                <a:cs typeface="Arial" panose="020B0604020202020204" pitchFamily="34" charset="0"/>
              </a:rPr>
              <a:t>Ganti nama objeknya</a:t>
            </a:r>
            <a:endParaRPr lang="en-US" dirty="0"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23E0AF-A68F-4E88-A93F-01A12E4B3F22}"/>
              </a:ext>
            </a:extLst>
          </p:cNvPr>
          <p:cNvSpPr/>
          <p:nvPr/>
        </p:nvSpPr>
        <p:spPr>
          <a:xfrm>
            <a:off x="9590312" y="6516379"/>
            <a:ext cx="700316" cy="27233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D68A71-C657-47FD-9D4F-BF4FAF61344F}"/>
              </a:ext>
            </a:extLst>
          </p:cNvPr>
          <p:cNvSpPr/>
          <p:nvPr/>
        </p:nvSpPr>
        <p:spPr>
          <a:xfrm>
            <a:off x="10128991" y="6151395"/>
            <a:ext cx="20630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>
                <a:ea typeface="Cambria" panose="02040503050406030204" pitchFamily="18" charset="0"/>
                <a:cs typeface="Arial" panose="020B0604020202020204" pitchFamily="34" charset="0"/>
              </a:rPr>
              <a:t>Terakhir, klik Import</a:t>
            </a:r>
            <a:endParaRPr lang="en-US" dirty="0"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2810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F9624B7-49FA-4F5F-8C13-316522E88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76" y="637146"/>
            <a:ext cx="3962400" cy="25527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16B7587-0E0A-4B9C-95F2-0F20925C31A0}"/>
              </a:ext>
            </a:extLst>
          </p:cNvPr>
          <p:cNvSpPr/>
          <p:nvPr/>
        </p:nvSpPr>
        <p:spPr>
          <a:xfrm>
            <a:off x="119576" y="3324779"/>
            <a:ext cx="3962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en-US">
                <a:ea typeface="Cambria" panose="02040503050406030204" pitchFamily="18" charset="0"/>
                <a:cs typeface="Arial" panose="020B0604020202020204" pitchFamily="34" charset="0"/>
              </a:rPr>
              <a:t>Ini data yang sudah diimport dari Excel</a:t>
            </a:r>
            <a:endParaRPr lang="en-US" dirty="0"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FBEC071-DF85-41D8-BC9E-AF8C42BAF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9286" y="563249"/>
            <a:ext cx="6591569" cy="681492"/>
          </a:xfrm>
        </p:spPr>
        <p:txBody>
          <a:bodyPr>
            <a:normAutofit/>
          </a:bodyPr>
          <a:lstStyle/>
          <a:p>
            <a:r>
              <a:rPr lang="en-ID" sz="3600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Korelasi</a:t>
            </a:r>
            <a:endParaRPr lang="en-ID" sz="3600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955E83-CD75-44E0-AC34-4F3A23952968}"/>
              </a:ext>
            </a:extLst>
          </p:cNvPr>
          <p:cNvSpPr/>
          <p:nvPr/>
        </p:nvSpPr>
        <p:spPr>
          <a:xfrm>
            <a:off x="4839286" y="1323041"/>
            <a:ext cx="57114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ea typeface="Cambria" panose="02040503050406030204" pitchFamily="18" charset="0"/>
                <a:cs typeface="Arial" panose="020B0604020202020204" pitchFamily="34" charset="0"/>
              </a:rPr>
              <a:t>korelasi = cor(data1[,c(2,3,4,5)], method="pearson")</a:t>
            </a:r>
          </a:p>
          <a:p>
            <a:r>
              <a:rPr lang="en-US">
                <a:ea typeface="Cambria" panose="02040503050406030204" pitchFamily="18" charset="0"/>
                <a:cs typeface="Arial" panose="020B0604020202020204" pitchFamily="34" charset="0"/>
              </a:rPr>
              <a:t>round(korelasi,3)</a:t>
            </a:r>
            <a:endParaRPr lang="en-US" dirty="0"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B3A67D8-1002-4C3B-8D3E-D15627356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628" y="2125972"/>
            <a:ext cx="4839579" cy="1160173"/>
          </a:xfrm>
          <a:prstGeom prst="rect">
            <a:avLst/>
          </a:prstGeom>
          <a:ln>
            <a:solidFill>
              <a:srgbClr val="0000CC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76EEE14-DD5B-4F00-AC93-0A274C589FD2}"/>
              </a:ext>
            </a:extLst>
          </p:cNvPr>
          <p:cNvSpPr/>
          <p:nvPr/>
        </p:nvSpPr>
        <p:spPr>
          <a:xfrm>
            <a:off x="4839286" y="3472634"/>
            <a:ext cx="571148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ea typeface="Cambria" panose="02040503050406030204" pitchFamily="18" charset="0"/>
                <a:cs typeface="Arial" panose="020B0604020202020204" pitchFamily="34" charset="0"/>
              </a:rPr>
              <a:t>promosi1 = subset(data1,subset=PROMOSI==1)</a:t>
            </a:r>
          </a:p>
          <a:p>
            <a:r>
              <a:rPr lang="en-US">
                <a:ea typeface="Cambria" panose="02040503050406030204" pitchFamily="18" charset="0"/>
                <a:cs typeface="Arial" panose="020B0604020202020204" pitchFamily="34" charset="0"/>
              </a:rPr>
              <a:t>mean(promosi1$Y)</a:t>
            </a:r>
          </a:p>
          <a:p>
            <a:r>
              <a:rPr lang="en-US">
                <a:ea typeface="Cambria" panose="02040503050406030204" pitchFamily="18" charset="0"/>
                <a:cs typeface="Arial" panose="020B0604020202020204" pitchFamily="34" charset="0"/>
              </a:rPr>
              <a:t>promosi0 = subset(data1,subset=PROMOSI==0)</a:t>
            </a:r>
          </a:p>
          <a:p>
            <a:r>
              <a:rPr lang="en-US">
                <a:ea typeface="Cambria" panose="02040503050406030204" pitchFamily="18" charset="0"/>
                <a:cs typeface="Arial" panose="020B0604020202020204" pitchFamily="34" charset="0"/>
              </a:rPr>
              <a:t>mean(promosi0$Y)</a:t>
            </a:r>
            <a:endParaRPr lang="en-US" dirty="0"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CB8493-3974-4D3B-95E4-D059A58ED8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6628" y="4854504"/>
            <a:ext cx="4408878" cy="1096130"/>
          </a:xfrm>
          <a:prstGeom prst="rect">
            <a:avLst/>
          </a:prstGeom>
          <a:ln>
            <a:solidFill>
              <a:srgbClr val="0000CC"/>
            </a:solidFill>
          </a:ln>
        </p:spPr>
      </p:pic>
    </p:spTree>
    <p:extLst>
      <p:ext uri="{BB962C8B-B14F-4D97-AF65-F5344CB8AC3E}">
        <p14:creationId xmlns:p14="http://schemas.microsoft.com/office/powerpoint/2010/main" val="19929886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79853-5E67-4268-A383-8AA079E96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994" y="213803"/>
            <a:ext cx="11189413" cy="1325563"/>
          </a:xfrm>
        </p:spPr>
        <p:txBody>
          <a:bodyPr/>
          <a:lstStyle/>
          <a:p>
            <a:r>
              <a:rPr lang="en-ID" b="1" dirty="0" err="1" smtClean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Garis</a:t>
            </a:r>
            <a:r>
              <a:rPr lang="en-ID" b="1" dirty="0" smtClean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D" b="1" dirty="0" err="1" smtClean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Regresi</a:t>
            </a:r>
            <a:endParaRPr lang="en-ID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3881614" y="1811332"/>
            <a:ext cx="1524000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konstanta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5211701" y="1786325"/>
            <a:ext cx="1700593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Koefisien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8639602" y="2161545"/>
            <a:ext cx="2204545" cy="3975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sz="20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Residual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sisaan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Line 10"/>
          <p:cNvSpPr>
            <a:spLocks noChangeShapeType="1"/>
          </p:cNvSpPr>
          <p:nvPr/>
        </p:nvSpPr>
        <p:spPr bwMode="auto">
          <a:xfrm>
            <a:off x="4347910" y="2252566"/>
            <a:ext cx="753877" cy="72419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Line 11"/>
          <p:cNvSpPr>
            <a:spLocks noChangeShapeType="1"/>
          </p:cNvSpPr>
          <p:nvPr/>
        </p:nvSpPr>
        <p:spPr bwMode="auto">
          <a:xfrm>
            <a:off x="2985508" y="2863890"/>
            <a:ext cx="609600" cy="381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Line 12"/>
          <p:cNvSpPr>
            <a:spLocks noChangeShapeType="1"/>
          </p:cNvSpPr>
          <p:nvPr/>
        </p:nvSpPr>
        <p:spPr bwMode="auto">
          <a:xfrm flipH="1">
            <a:off x="7401909" y="2340015"/>
            <a:ext cx="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Line 13"/>
          <p:cNvSpPr>
            <a:spLocks noChangeShapeType="1"/>
          </p:cNvSpPr>
          <p:nvPr/>
        </p:nvSpPr>
        <p:spPr bwMode="auto">
          <a:xfrm rot="20940815" flipH="1">
            <a:off x="8849732" y="2584357"/>
            <a:ext cx="304754" cy="41164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>
            <a:off x="6084416" y="2208877"/>
            <a:ext cx="527490" cy="7407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04D6F0D-E954-437A-9DB5-57D4F9B82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1752" y="4257974"/>
            <a:ext cx="11500489" cy="637200"/>
          </a:xfrm>
        </p:spPr>
        <p:txBody>
          <a:bodyPr>
            <a:noAutofit/>
          </a:bodyPr>
          <a:lstStyle/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US" dirty="0" smtClean="0">
                <a:latin typeface="Arial" panose="020B0604020202020204" pitchFamily="34" charset="0"/>
                <a:cs typeface="Arial" pitchFamily="34" charset="0"/>
              </a:rPr>
              <a:t>OLS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atau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i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ordinary least squares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adalah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teknik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estimasi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regresi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sampel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dengan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meminimumkan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jumlah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kuadrat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dari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sisaan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atau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min </a:t>
            </a:r>
            <a:r>
              <a:rPr lang="en-US" b="1" dirty="0" smtClean="0">
                <a:latin typeface="Arial" pitchFamily="34" charset="0"/>
                <a:cs typeface="Arial" pitchFamily="34" charset="0"/>
                <a:sym typeface="Symbol"/>
              </a:rPr>
              <a:t>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(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c</a:t>
            </a:r>
            <a:r>
              <a:rPr lang="en-US" b="1" baseline="-25000" dirty="0" smtClean="0">
                <a:latin typeface="Arial" pitchFamily="34" charset="0"/>
                <a:cs typeface="Arial" pitchFamily="34" charset="0"/>
              </a:rPr>
              <a:t>i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 – b</a:t>
            </a:r>
            <a:r>
              <a:rPr lang="en-US" b="1" baseline="-25000" dirty="0" smtClean="0">
                <a:latin typeface="Arial" pitchFamily="34" charset="0"/>
                <a:cs typeface="Arial" pitchFamily="34" charset="0"/>
              </a:rPr>
              <a:t>0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 – b</a:t>
            </a:r>
            <a:r>
              <a:rPr lang="en-US" b="1" baseline="-25000" dirty="0">
                <a:latin typeface="Arial" pitchFamily="34" charset="0"/>
                <a:cs typeface="Arial" pitchFamily="34" charset="0"/>
              </a:rPr>
              <a:t>1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y</a:t>
            </a:r>
            <a:r>
              <a:rPr lang="en-US" b="1" baseline="-25000" dirty="0" smtClean="0">
                <a:latin typeface="Arial" pitchFamily="34" charset="0"/>
                <a:cs typeface="Arial" pitchFamily="34" charset="0"/>
              </a:rPr>
              <a:t>i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)</a:t>
            </a:r>
            <a:r>
              <a:rPr lang="en-US" b="1" baseline="30000" dirty="0" smtClean="0">
                <a:latin typeface="Arial" pitchFamily="34" charset="0"/>
                <a:cs typeface="Arial" pitchFamily="34" charset="0"/>
              </a:rPr>
              <a:t>2</a:t>
            </a:r>
            <a:r>
              <a:rPr lang="en-US" b="1" baseline="300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  <a:defRPr/>
            </a:pPr>
            <a:r>
              <a:rPr lang="en-US" dirty="0" err="1" smtClean="0">
                <a:latin typeface="Arial" pitchFamily="34" charset="0"/>
                <a:cs typeface="Arial" pitchFamily="34" charset="0"/>
              </a:rPr>
              <a:t>disebut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i="1" dirty="0" smtClean="0">
                <a:latin typeface="Arial" pitchFamily="34" charset="0"/>
                <a:cs typeface="Arial" pitchFamily="34" charset="0"/>
              </a:rPr>
              <a:t>ordinary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karena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ada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G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LS,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2S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LS, </a:t>
            </a:r>
            <a:r>
              <a:rPr lang="en-US" b="1" dirty="0" smtClean="0">
                <a:latin typeface="Arial" pitchFamily="34" charset="0"/>
                <a:cs typeface="Arial" pitchFamily="34" charset="0"/>
              </a:rPr>
              <a:t>3S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LS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dll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marL="0" lvl="0" indent="0">
              <a:lnSpc>
                <a:spcPct val="100000"/>
              </a:lnSpc>
              <a:spcBef>
                <a:spcPct val="0"/>
              </a:spcBef>
              <a:buNone/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5" name="Rectangle 14"/>
          <p:cNvSpPr>
            <a:spLocks noChangeArrowheads="1"/>
          </p:cNvSpPr>
          <p:nvPr/>
        </p:nvSpPr>
        <p:spPr bwMode="auto">
          <a:xfrm>
            <a:off x="1426545" y="2062066"/>
            <a:ext cx="1604963" cy="101309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Variabel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dependen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konsumsi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36" name="Rectangle 35"/>
          <p:cNvSpPr>
            <a:spLocks noChangeArrowheads="1"/>
          </p:cNvSpPr>
          <p:nvPr/>
        </p:nvSpPr>
        <p:spPr bwMode="auto">
          <a:xfrm>
            <a:off x="6718380" y="1315028"/>
            <a:ext cx="1889089" cy="14747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44450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Variabel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independen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2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pendapatan</a:t>
            </a: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ctr" eaLnBrk="0" hangingPunct="0">
              <a:spcBef>
                <a:spcPct val="50000"/>
              </a:spcBef>
            </a:pPr>
            <a:r>
              <a:rPr 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    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8909" y="2831056"/>
            <a:ext cx="5910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5400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5400" dirty="0" smtClean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sz="5400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sz="5400" baseline="-25000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sz="5400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+ b</a:t>
            </a:r>
            <a:r>
              <a:rPr lang="en-US" sz="5400" baseline="-25000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sz="5400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Y</a:t>
            </a:r>
            <a:r>
              <a:rPr lang="en-US" sz="5400" baseline="-25000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n-US" sz="5400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+ </a:t>
            </a:r>
            <a:r>
              <a:rPr lang="en-US" sz="5400" dirty="0" err="1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</a:t>
            </a:r>
            <a:r>
              <a:rPr lang="en-US" sz="5400" baseline="-25000" dirty="0" err="1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endParaRPr lang="en-US" sz="54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752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9598F8A-AAD2-4D0A-A90E-9060A1648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68493"/>
            <a:ext cx="10622280" cy="681492"/>
          </a:xfrm>
        </p:spPr>
        <p:txBody>
          <a:bodyPr>
            <a:normAutofit/>
          </a:bodyPr>
          <a:lstStyle/>
          <a:p>
            <a:pPr algn="ctr"/>
            <a:r>
              <a:rPr lang="en-ID" sz="3600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Plot Variabel Dependen dengan Variabel Bebas</a:t>
            </a:r>
            <a:endParaRPr lang="en-ID" sz="3600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4338D5-1BBD-4FB5-97AD-A9FD6F86AE2C}"/>
              </a:ext>
            </a:extLst>
          </p:cNvPr>
          <p:cNvSpPr/>
          <p:nvPr/>
        </p:nvSpPr>
        <p:spPr>
          <a:xfrm>
            <a:off x="838200" y="1095240"/>
            <a:ext cx="1074383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>
                <a:ea typeface="Cambria" panose="02040503050406030204" pitchFamily="18" charset="0"/>
                <a:cs typeface="Arial" panose="020B0604020202020204" pitchFamily="34" charset="0"/>
              </a:rPr>
              <a:t>par(mfrow = c(1,4))</a:t>
            </a:r>
          </a:p>
          <a:p>
            <a:r>
              <a:rPr lang="en-US" sz="1500">
                <a:ea typeface="Cambria" panose="02040503050406030204" pitchFamily="18" charset="0"/>
                <a:cs typeface="Arial" panose="020B0604020202020204" pitchFamily="34" charset="0"/>
              </a:rPr>
              <a:t>plot(data1$MODAL, data1$Y, xlab="Ln dari rata-rata modal yang dikeluarkan", ylab="Ln dari omzet setelah sertifikasi")</a:t>
            </a:r>
          </a:p>
          <a:p>
            <a:r>
              <a:rPr lang="en-US" sz="1500">
                <a:ea typeface="Cambria" panose="02040503050406030204" pitchFamily="18" charset="0"/>
                <a:cs typeface="Arial" panose="020B0604020202020204" pitchFamily="34" charset="0"/>
              </a:rPr>
              <a:t>abline(lm(Y ~ MODAL, data = data1), col = "blue")</a:t>
            </a:r>
          </a:p>
          <a:p>
            <a:r>
              <a:rPr lang="en-US" sz="1500">
                <a:ea typeface="Cambria" panose="02040503050406030204" pitchFamily="18" charset="0"/>
                <a:cs typeface="Arial" panose="020B0604020202020204" pitchFamily="34" charset="0"/>
              </a:rPr>
              <a:t>plot(data1$LU, data1$Y, xlab="lama usaha (tahun)", ylab="Ln dari omzet setelah sertifikasi ")</a:t>
            </a:r>
          </a:p>
          <a:p>
            <a:r>
              <a:rPr lang="en-US" sz="1500">
                <a:ea typeface="Cambria" panose="02040503050406030204" pitchFamily="18" charset="0"/>
                <a:cs typeface="Arial" panose="020B0604020202020204" pitchFamily="34" charset="0"/>
              </a:rPr>
              <a:t>abline(lm(Y ~ LU, data = data1), col = "red")</a:t>
            </a:r>
          </a:p>
          <a:p>
            <a:r>
              <a:rPr lang="en-US" sz="1500">
                <a:ea typeface="Cambria" panose="02040503050406030204" pitchFamily="18" charset="0"/>
                <a:cs typeface="Arial" panose="020B0604020202020204" pitchFamily="34" charset="0"/>
              </a:rPr>
              <a:t>plot(data1$JK, data1$Y, xlab="jam kerja per minggu", ylab="Ln dari omzet setelah sertifikasi ")</a:t>
            </a:r>
          </a:p>
          <a:p>
            <a:r>
              <a:rPr lang="en-US" sz="1500">
                <a:ea typeface="Cambria" panose="02040503050406030204" pitchFamily="18" charset="0"/>
                <a:cs typeface="Arial" panose="020B0604020202020204" pitchFamily="34" charset="0"/>
              </a:rPr>
              <a:t>abline(lm(Y ~ JK, data = data1), col = "chocolate")</a:t>
            </a:r>
          </a:p>
          <a:p>
            <a:r>
              <a:rPr lang="en-US" sz="1500">
                <a:ea typeface="Cambria" panose="02040503050406030204" pitchFamily="18" charset="0"/>
                <a:cs typeface="Arial" panose="020B0604020202020204" pitchFamily="34" charset="0"/>
              </a:rPr>
              <a:t>plot(data1$PROMOSI, data1$Y, xlab="dummy promosi lewat media sosial", ylab="Ln dari omzet setelah sertifikasi ", pch=20)</a:t>
            </a:r>
            <a:endParaRPr lang="en-US" sz="1500" dirty="0"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61BCF0-C5CA-4C03-B2F1-F71981C8D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90922"/>
            <a:ext cx="10428483" cy="3767078"/>
          </a:xfrm>
          <a:prstGeom prst="rect">
            <a:avLst/>
          </a:prstGeom>
          <a:ln>
            <a:solidFill>
              <a:srgbClr val="0000CC"/>
            </a:solidFill>
          </a:ln>
        </p:spPr>
      </p:pic>
    </p:spTree>
    <p:extLst>
      <p:ext uri="{BB962C8B-B14F-4D97-AF65-F5344CB8AC3E}">
        <p14:creationId xmlns:p14="http://schemas.microsoft.com/office/powerpoint/2010/main" val="16907002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5315FC2-321A-4433-96C4-C0EB0A426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7309"/>
            <a:ext cx="12192000" cy="681492"/>
          </a:xfrm>
        </p:spPr>
        <p:txBody>
          <a:bodyPr>
            <a:normAutofit/>
          </a:bodyPr>
          <a:lstStyle/>
          <a:p>
            <a:pPr algn="ctr"/>
            <a:r>
              <a:rPr lang="en-ID" sz="3600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Estimasi Regresi Linier dengan Satu Variabel Bebas</a:t>
            </a:r>
            <a:endParaRPr lang="en-ID" sz="3600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300DDC-3158-44B8-850B-867EDB044AAB}"/>
              </a:ext>
            </a:extLst>
          </p:cNvPr>
          <p:cNvSpPr/>
          <p:nvPr/>
        </p:nvSpPr>
        <p:spPr>
          <a:xfrm>
            <a:off x="922606" y="1629812"/>
            <a:ext cx="41136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>
                <a:ea typeface="Cambria" panose="02040503050406030204" pitchFamily="18" charset="0"/>
                <a:cs typeface="Arial" panose="020B0604020202020204" pitchFamily="34" charset="0"/>
              </a:rPr>
              <a:t>regresi1 = lm(Y ~ MODAL, data=data1)</a:t>
            </a:r>
          </a:p>
          <a:p>
            <a:r>
              <a:rPr lang="it-IT">
                <a:ea typeface="Cambria" panose="02040503050406030204" pitchFamily="18" charset="0"/>
                <a:cs typeface="Arial" panose="020B0604020202020204" pitchFamily="34" charset="0"/>
              </a:rPr>
              <a:t>print(regresi1)</a:t>
            </a:r>
          </a:p>
          <a:p>
            <a:r>
              <a:rPr lang="it-IT">
                <a:ea typeface="Cambria" panose="02040503050406030204" pitchFamily="18" charset="0"/>
                <a:cs typeface="Arial" panose="020B0604020202020204" pitchFamily="34" charset="0"/>
              </a:rPr>
              <a:t>summary(regresi1)</a:t>
            </a:r>
          </a:p>
          <a:p>
            <a:r>
              <a:rPr lang="it-IT">
                <a:ea typeface="Cambria" panose="02040503050406030204" pitchFamily="18" charset="0"/>
                <a:cs typeface="Arial" panose="020B0604020202020204" pitchFamily="34" charset="0"/>
              </a:rPr>
              <a:t>anova(regresi1)</a:t>
            </a:r>
            <a:endParaRPr lang="en-US" dirty="0"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68A195-EED9-4288-94C2-DB7EA159C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347" y="1907169"/>
            <a:ext cx="3019425" cy="1304925"/>
          </a:xfrm>
          <a:prstGeom prst="rect">
            <a:avLst/>
          </a:prstGeom>
          <a:ln>
            <a:solidFill>
              <a:srgbClr val="0000CC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74823DF-B01D-4028-94F2-961DD92B2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606" y="3302628"/>
            <a:ext cx="4848225" cy="2762250"/>
          </a:xfrm>
          <a:prstGeom prst="rect">
            <a:avLst/>
          </a:prstGeom>
          <a:ln>
            <a:solidFill>
              <a:srgbClr val="0000CC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B03026B-80EE-47BB-8CE2-FA3F7ECE65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4347" y="3645907"/>
            <a:ext cx="4819650" cy="1285875"/>
          </a:xfrm>
          <a:prstGeom prst="rect">
            <a:avLst/>
          </a:prstGeom>
          <a:ln>
            <a:solidFill>
              <a:srgbClr val="0000CC"/>
            </a:solidFill>
          </a:ln>
        </p:spPr>
      </p:pic>
    </p:spTree>
    <p:extLst>
      <p:ext uri="{BB962C8B-B14F-4D97-AF65-F5344CB8AC3E}">
        <p14:creationId xmlns:p14="http://schemas.microsoft.com/office/powerpoint/2010/main" val="35604472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B4D2F7E-788F-405F-BCD4-79EC9F041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7309"/>
            <a:ext cx="12192000" cy="681492"/>
          </a:xfrm>
        </p:spPr>
        <p:txBody>
          <a:bodyPr>
            <a:noAutofit/>
          </a:bodyPr>
          <a:lstStyle/>
          <a:p>
            <a:pPr algn="ctr"/>
            <a:r>
              <a:rPr lang="en-ID" sz="3600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Estimasi Regresi Linier dengan </a:t>
            </a:r>
            <a:br>
              <a:rPr lang="en-ID" sz="3600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D" sz="3600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Lebih dari Satu Variabel Bebas</a:t>
            </a:r>
            <a:endParaRPr lang="en-ID" sz="3600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6C7FCA-DFFF-488B-B108-73E528F7A51E}"/>
              </a:ext>
            </a:extLst>
          </p:cNvPr>
          <p:cNvSpPr/>
          <p:nvPr/>
        </p:nvSpPr>
        <p:spPr>
          <a:xfrm>
            <a:off x="97301" y="1868963"/>
            <a:ext cx="5773616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1500">
                <a:ea typeface="Cambria" panose="02040503050406030204" pitchFamily="18" charset="0"/>
                <a:cs typeface="Arial" panose="020B0604020202020204" pitchFamily="34" charset="0"/>
              </a:rPr>
              <a:t>regresi = lm(Y ~ MODAL + LU + JK + PROMOSI, data=data1)</a:t>
            </a:r>
          </a:p>
          <a:p>
            <a:r>
              <a:rPr lang="it-IT" sz="1500">
                <a:ea typeface="Cambria" panose="02040503050406030204" pitchFamily="18" charset="0"/>
                <a:cs typeface="Arial" panose="020B0604020202020204" pitchFamily="34" charset="0"/>
              </a:rPr>
              <a:t>summary(regresi)</a:t>
            </a:r>
            <a:endParaRPr lang="en-US" sz="1500" dirty="0"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F79466-5BF2-43D1-A415-9255DB3E2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01" y="2446206"/>
            <a:ext cx="4810125" cy="3314700"/>
          </a:xfrm>
          <a:prstGeom prst="rect">
            <a:avLst/>
          </a:prstGeom>
          <a:ln>
            <a:solidFill>
              <a:srgbClr val="0000CC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180BDF7-F3EE-4F9F-A311-B9EB2969DEAF}"/>
              </a:ext>
            </a:extLst>
          </p:cNvPr>
          <p:cNvSpPr/>
          <p:nvPr/>
        </p:nvSpPr>
        <p:spPr>
          <a:xfrm>
            <a:off x="5375463" y="1616691"/>
            <a:ext cx="3077308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1500">
                <a:ea typeface="Cambria" panose="02040503050406030204" pitchFamily="18" charset="0"/>
                <a:cs typeface="Arial" panose="020B0604020202020204" pitchFamily="34" charset="0"/>
              </a:rPr>
              <a:t>anova(regresi)</a:t>
            </a:r>
            <a:endParaRPr lang="en-US" sz="1500" dirty="0"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D25DB1-E8A9-42F4-8744-00AF382EA8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0745" y="1986023"/>
            <a:ext cx="4829175" cy="1724025"/>
          </a:xfrm>
          <a:prstGeom prst="rect">
            <a:avLst/>
          </a:prstGeom>
          <a:ln>
            <a:solidFill>
              <a:srgbClr val="0000CC"/>
            </a:solidFill>
          </a:ln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B67C9E4-B86F-49FE-82D6-95C013F436A6}"/>
              </a:ext>
            </a:extLst>
          </p:cNvPr>
          <p:cNvSpPr txBox="1">
            <a:spLocks/>
          </p:cNvSpPr>
          <p:nvPr/>
        </p:nvSpPr>
        <p:spPr>
          <a:xfrm>
            <a:off x="4905521" y="3975385"/>
            <a:ext cx="1705708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D" sz="2400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Joint Test</a:t>
            </a:r>
            <a:endParaRPr lang="en-ID" sz="2400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1BC7FB-FC85-45F7-B264-F781CA72710D}"/>
              </a:ext>
            </a:extLst>
          </p:cNvPr>
          <p:cNvSpPr/>
          <p:nvPr/>
        </p:nvSpPr>
        <p:spPr>
          <a:xfrm>
            <a:off x="6463227" y="3861059"/>
            <a:ext cx="577097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500">
                <a:ea typeface="Cambria" panose="02040503050406030204" pitchFamily="18" charset="0"/>
                <a:cs typeface="Arial" panose="020B0604020202020204" pitchFamily="34" charset="0"/>
              </a:rPr>
              <a:t>library(car)</a:t>
            </a:r>
          </a:p>
          <a:p>
            <a:r>
              <a:rPr lang="en-US" sz="1500">
                <a:ea typeface="Cambria" panose="02040503050406030204" pitchFamily="18" charset="0"/>
                <a:cs typeface="Arial" panose="020B0604020202020204" pitchFamily="34" charset="0"/>
              </a:rPr>
              <a:t>linearHypothesis(regresi, c("MODAL=0", "LU=0", "JK=0", "PROMOSI=0"))</a:t>
            </a:r>
            <a:endParaRPr lang="en-US" sz="1500" dirty="0"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AD08C2A-3D97-426E-BDE0-1EAE822510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590" y="4415057"/>
            <a:ext cx="5391150" cy="2428875"/>
          </a:xfrm>
          <a:prstGeom prst="rect">
            <a:avLst/>
          </a:prstGeom>
          <a:ln>
            <a:solidFill>
              <a:srgbClr val="0000CC"/>
            </a:solidFill>
          </a:ln>
        </p:spPr>
      </p:pic>
    </p:spTree>
    <p:extLst>
      <p:ext uri="{BB962C8B-B14F-4D97-AF65-F5344CB8AC3E}">
        <p14:creationId xmlns:p14="http://schemas.microsoft.com/office/powerpoint/2010/main" val="4461995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BCAEA69-B557-4A0C-B24A-8BED5F7FA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7309"/>
            <a:ext cx="12192000" cy="681492"/>
          </a:xfrm>
        </p:spPr>
        <p:txBody>
          <a:bodyPr>
            <a:normAutofit/>
          </a:bodyPr>
          <a:lstStyle/>
          <a:p>
            <a:pPr algn="ctr"/>
            <a:r>
              <a:rPr lang="en-ID" sz="3600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Residual dan Nilai Estimasi Variabel Dependen</a:t>
            </a:r>
            <a:endParaRPr lang="en-ID" sz="3600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B8B694-F15A-42BE-8F16-E41CD4E9B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09" y="1942002"/>
            <a:ext cx="11915775" cy="1285875"/>
          </a:xfrm>
          <a:prstGeom prst="rect">
            <a:avLst/>
          </a:prstGeom>
          <a:ln>
            <a:solidFill>
              <a:srgbClr val="0000CC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C2C5DE-D323-41E5-9868-953DEE315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08" y="3597814"/>
            <a:ext cx="11763375" cy="981075"/>
          </a:xfrm>
          <a:prstGeom prst="rect">
            <a:avLst/>
          </a:prstGeom>
          <a:ln>
            <a:solidFill>
              <a:srgbClr val="0000CC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83EFCE-A0E6-4291-BC92-647F37EB7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5232" y="4948826"/>
            <a:ext cx="4581525" cy="438150"/>
          </a:xfrm>
          <a:prstGeom prst="rect">
            <a:avLst/>
          </a:prstGeom>
          <a:ln>
            <a:solidFill>
              <a:srgbClr val="0000CC"/>
            </a:solidFill>
          </a:ln>
        </p:spPr>
      </p:pic>
    </p:spTree>
    <p:extLst>
      <p:ext uri="{BB962C8B-B14F-4D97-AF65-F5344CB8AC3E}">
        <p14:creationId xmlns:p14="http://schemas.microsoft.com/office/powerpoint/2010/main" val="24029260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79853-5E67-4268-A383-8AA079E96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442" y="161251"/>
            <a:ext cx="11189413" cy="1325563"/>
          </a:xfrm>
        </p:spPr>
        <p:txBody>
          <a:bodyPr/>
          <a:lstStyle/>
          <a:p>
            <a:r>
              <a:rPr lang="en-ID" b="1" dirty="0" err="1" smtClean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Kondisi</a:t>
            </a:r>
            <a:r>
              <a:rPr lang="en-ID" b="1" dirty="0" smtClean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ID" b="1" dirty="0" smtClean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Gauss-Markov (</a:t>
            </a:r>
            <a:r>
              <a:rPr lang="en-ID" b="1" dirty="0" err="1" smtClean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Asumsi</a:t>
            </a:r>
            <a:r>
              <a:rPr lang="en-ID" b="1" dirty="0" smtClean="0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ID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44232" y="1410446"/>
            <a:ext cx="11598052" cy="25083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>
              <a:buAutoNum type="arabicPeriod"/>
            </a:pPr>
            <a:r>
              <a:rPr lang="en-US" sz="2800" i="1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E {</a:t>
            </a:r>
            <a:r>
              <a:rPr lang="en-US" sz="2800" i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Symbol"/>
              </a:rPr>
              <a:t></a:t>
            </a:r>
            <a:r>
              <a:rPr lang="en-US" sz="2800" i="1" baseline="-25000" dirty="0" err="1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</a:t>
            </a:r>
            <a:r>
              <a:rPr lang="en-US" sz="2800" i="1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} = 0, </a:t>
            </a:r>
            <a:r>
              <a:rPr lang="en-US" sz="2800" i="1" dirty="0" err="1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</a:t>
            </a:r>
            <a:r>
              <a:rPr lang="en-US" sz="2800" i="1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=  1,.........., N	       </a:t>
            </a:r>
            <a:r>
              <a:rPr lang="en-US" sz="2800" b="1" i="1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zero mean</a:t>
            </a:r>
          </a:p>
          <a:p>
            <a:pPr marL="514350" lvl="0" indent="-514350">
              <a:spcBef>
                <a:spcPts val="1800"/>
              </a:spcBef>
              <a:buFont typeface="+mj-lt"/>
              <a:buAutoNum type="arabicPeriod"/>
            </a:pPr>
            <a:r>
              <a:rPr lang="en-US" sz="2800" i="1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V{</a:t>
            </a:r>
            <a:r>
              <a:rPr lang="en-US" sz="2800" i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Symbol"/>
              </a:rPr>
              <a:t></a:t>
            </a:r>
            <a:r>
              <a:rPr lang="en-US" sz="2800" i="1" baseline="-25000" dirty="0" err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</a:t>
            </a:r>
            <a:r>
              <a:rPr lang="en-US" sz="2800" i="1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} = σ</a:t>
            </a:r>
            <a:r>
              <a:rPr lang="en-US" sz="2800" i="1" baseline="300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2</a:t>
            </a:r>
            <a:r>
              <a:rPr lang="en-US" sz="2800" i="1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</a:t>
            </a:r>
            <a:r>
              <a:rPr lang="en-US" sz="2800" i="1" dirty="0" err="1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</a:t>
            </a:r>
            <a:r>
              <a:rPr lang="en-US" sz="2800" i="1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=  1,.........., N        </a:t>
            </a:r>
            <a:r>
              <a:rPr lang="en-US" sz="2800" b="1" dirty="0" err="1" smtClean="0">
                <a:solidFill>
                  <a:srgbClr val="FF0000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homoskedastisitas</a:t>
            </a:r>
            <a:endParaRPr lang="en-US" sz="2800" b="1" dirty="0" smtClean="0">
              <a:solidFill>
                <a:srgbClr val="FF0000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514350" lvl="0" indent="-514350">
              <a:spcBef>
                <a:spcPts val="1800"/>
              </a:spcBef>
              <a:buFont typeface="+mj-lt"/>
              <a:buAutoNum type="arabicPeriod"/>
            </a:pPr>
            <a:r>
              <a:rPr lang="en-US" sz="2800" i="1" dirty="0" err="1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Cov</a:t>
            </a:r>
            <a:r>
              <a:rPr lang="en-US" sz="2800" i="1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{</a:t>
            </a:r>
            <a:r>
              <a:rPr lang="en-US" sz="2800" i="1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Symbol"/>
              </a:rPr>
              <a:t></a:t>
            </a:r>
            <a:r>
              <a:rPr lang="en-US" sz="2800" i="1" baseline="-25000" dirty="0" err="1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</a:t>
            </a:r>
            <a:r>
              <a:rPr lang="en-US" sz="2800" i="1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</a:t>
            </a:r>
            <a:r>
              <a:rPr lang="en-US" sz="2800" i="1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Symbol"/>
              </a:rPr>
              <a:t></a:t>
            </a:r>
            <a:r>
              <a:rPr lang="en-US" sz="2800" i="1" baseline="-250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j</a:t>
            </a:r>
            <a:r>
              <a:rPr lang="en-US" sz="2800" i="1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} = 0, </a:t>
            </a:r>
            <a:r>
              <a:rPr lang="en-US" sz="2800" i="1" dirty="0" err="1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</a:t>
            </a:r>
            <a:r>
              <a:rPr lang="en-US" sz="2800" i="1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=  1,.........., N </a:t>
            </a:r>
            <a:r>
              <a:rPr lang="en-US" sz="2800" dirty="0" err="1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untuk</a:t>
            </a:r>
            <a:r>
              <a:rPr lang="en-US" sz="28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</a:t>
            </a:r>
            <a:r>
              <a:rPr lang="en-US" sz="28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≠ j:         </a:t>
            </a:r>
            <a:r>
              <a:rPr lang="en-US" sz="2800" b="1" dirty="0" err="1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tidak</a:t>
            </a:r>
            <a:r>
              <a:rPr lang="en-US" sz="2800" b="1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800" b="1" dirty="0" err="1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ada</a:t>
            </a:r>
            <a:r>
              <a:rPr lang="en-US" sz="2800" b="1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800" b="1" dirty="0" err="1" smtClean="0">
                <a:solidFill>
                  <a:srgbClr val="FF0000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autokorelasi</a:t>
            </a:r>
            <a:endParaRPr lang="en-US" sz="2800" b="1" dirty="0" smtClean="0">
              <a:solidFill>
                <a:srgbClr val="FF0000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514350" lvl="0" indent="-514350">
              <a:spcBef>
                <a:spcPts val="1800"/>
              </a:spcBef>
              <a:buFont typeface="+mj-lt"/>
              <a:buAutoNum type="arabicPeriod"/>
            </a:pPr>
            <a:r>
              <a:rPr lang="en-US" sz="2800" i="1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{</a:t>
            </a:r>
            <a:r>
              <a:rPr lang="en-US" sz="2800" i="1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Symbol"/>
              </a:rPr>
              <a:t></a:t>
            </a:r>
            <a:r>
              <a:rPr lang="en-US" sz="2800" i="1" baseline="-250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1</a:t>
            </a:r>
            <a:r>
              <a:rPr lang="en-US" sz="2800" i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.... </a:t>
            </a:r>
            <a:r>
              <a:rPr lang="en-US" sz="2800" i="1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  <a:sym typeface="Symbol"/>
              </a:rPr>
              <a:t></a:t>
            </a:r>
            <a:r>
              <a:rPr lang="en-US" sz="2800" i="1" baseline="-250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N</a:t>
            </a:r>
            <a:r>
              <a:rPr lang="en-US" sz="2800" i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} </a:t>
            </a:r>
            <a:r>
              <a:rPr lang="en-US" sz="2800" dirty="0" err="1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dan</a:t>
            </a:r>
            <a:r>
              <a:rPr lang="en-US" sz="28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800" i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{X</a:t>
            </a:r>
            <a:r>
              <a:rPr lang="en-US" sz="2800" i="1" baseline="-250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1</a:t>
            </a:r>
            <a:r>
              <a:rPr lang="en-US" sz="2800" i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, .... X</a:t>
            </a:r>
            <a:r>
              <a:rPr lang="en-US" sz="2800" i="1" baseline="-25000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N</a:t>
            </a:r>
            <a:r>
              <a:rPr lang="en-US" sz="2800" i="1" dirty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} </a:t>
            </a:r>
            <a:r>
              <a:rPr lang="en-US" sz="2800" dirty="0" err="1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tidak</a:t>
            </a:r>
            <a:r>
              <a:rPr lang="en-US" sz="28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saling</a:t>
            </a:r>
            <a:r>
              <a:rPr lang="en-US" sz="28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berhubungan</a:t>
            </a:r>
            <a:r>
              <a:rPr lang="en-US" sz="28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: </a:t>
            </a:r>
            <a:r>
              <a:rPr lang="en-US" sz="2800" b="1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data panel</a:t>
            </a:r>
            <a:endParaRPr lang="en-US" sz="2800" b="1" dirty="0">
              <a:solidFill>
                <a:srgbClr val="C00000"/>
              </a:solidFill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3" name="Right Arrow 2"/>
          <p:cNvSpPr/>
          <p:nvPr/>
        </p:nvSpPr>
        <p:spPr>
          <a:xfrm>
            <a:off x="5070523" y="1486814"/>
            <a:ext cx="536028" cy="4204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/>
          <p:cNvSpPr/>
          <p:nvPr/>
        </p:nvSpPr>
        <p:spPr>
          <a:xfrm>
            <a:off x="5111697" y="2136010"/>
            <a:ext cx="536028" cy="4204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7457091" y="2802111"/>
            <a:ext cx="536028" cy="4204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44232" y="4147607"/>
            <a:ext cx="1070665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Beberapa</a:t>
            </a:r>
            <a:r>
              <a:rPr lang="en-US" sz="28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referensi</a:t>
            </a:r>
            <a:r>
              <a:rPr lang="en-US" sz="28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menyebutkan</a:t>
            </a:r>
            <a:r>
              <a:rPr lang="en-US" sz="28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Linearitas</a:t>
            </a:r>
            <a:r>
              <a:rPr lang="en-US" sz="28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(</a:t>
            </a:r>
            <a:r>
              <a:rPr lang="en-US" sz="2800" dirty="0" err="1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dalam</a:t>
            </a:r>
            <a:r>
              <a:rPr lang="en-US" sz="28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parameter:  Y = a + </a:t>
            </a:r>
            <a:r>
              <a:rPr lang="en-US" sz="2800" b="1" dirty="0" smtClean="0">
                <a:solidFill>
                  <a:srgbClr val="FF0000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b</a:t>
            </a:r>
            <a:r>
              <a:rPr lang="en-US" sz="2800" b="1" baseline="-25000" dirty="0" smtClean="0">
                <a:solidFill>
                  <a:srgbClr val="FF0000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1</a:t>
            </a:r>
            <a:r>
              <a:rPr lang="en-US" sz="2800" b="1" dirty="0" smtClean="0">
                <a:solidFill>
                  <a:srgbClr val="FF0000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.</a:t>
            </a:r>
            <a:r>
              <a:rPr lang="en-US" sz="28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X</a:t>
            </a:r>
            <a:r>
              <a:rPr lang="en-US" sz="2800" baseline="-250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1</a:t>
            </a:r>
            <a:r>
              <a:rPr lang="en-US" sz="28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+ </a:t>
            </a:r>
            <a:r>
              <a:rPr lang="en-US" sz="2800" b="1" dirty="0" smtClean="0">
                <a:solidFill>
                  <a:srgbClr val="FF0000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b</a:t>
            </a:r>
            <a:r>
              <a:rPr lang="en-US" sz="2800" b="1" baseline="-25000" dirty="0" smtClean="0">
                <a:solidFill>
                  <a:srgbClr val="FF0000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2</a:t>
            </a:r>
            <a:r>
              <a:rPr lang="en-US" sz="2800" b="1" dirty="0" smtClean="0">
                <a:solidFill>
                  <a:srgbClr val="FF0000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.</a:t>
            </a:r>
            <a:r>
              <a:rPr lang="en-US" sz="28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X</a:t>
            </a:r>
            <a:r>
              <a:rPr lang="en-US" sz="2800" baseline="-250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2</a:t>
            </a:r>
            <a:r>
              <a:rPr lang="en-US" sz="28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+ </a:t>
            </a:r>
            <a:r>
              <a:rPr lang="en-US" sz="2800" b="1" dirty="0" smtClean="0">
                <a:solidFill>
                  <a:srgbClr val="FF0000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b</a:t>
            </a:r>
            <a:r>
              <a:rPr lang="en-US" sz="2800" b="1" baseline="-25000" dirty="0" smtClean="0">
                <a:solidFill>
                  <a:srgbClr val="FF0000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3</a:t>
            </a:r>
            <a:r>
              <a:rPr lang="en-US" sz="2800" b="1" dirty="0" smtClean="0">
                <a:solidFill>
                  <a:srgbClr val="FF0000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.</a:t>
            </a:r>
            <a:r>
              <a:rPr lang="en-US" sz="28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X</a:t>
            </a:r>
            <a:r>
              <a:rPr lang="en-US" sz="2800" baseline="-250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1</a:t>
            </a:r>
            <a:r>
              <a:rPr lang="en-US" sz="2800" baseline="300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2</a:t>
            </a:r>
            <a:r>
              <a:rPr lang="en-US" sz="28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Data </a:t>
            </a:r>
            <a:r>
              <a:rPr lang="en-US" sz="2800" dirty="0" err="1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ditarik</a:t>
            </a:r>
            <a:r>
              <a:rPr lang="en-US" sz="28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secara</a:t>
            </a:r>
            <a:r>
              <a:rPr lang="en-US" sz="28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acak</a:t>
            </a:r>
            <a:r>
              <a:rPr lang="en-US" sz="28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dari</a:t>
            </a:r>
            <a:r>
              <a:rPr lang="en-US" sz="28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populasi</a:t>
            </a:r>
            <a:endParaRPr lang="en-US" sz="2800" dirty="0" smtClean="0">
              <a:latin typeface="Arial" panose="020B0604020202020204" pitchFamily="34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Tidak</a:t>
            </a:r>
            <a:r>
              <a:rPr lang="en-US" sz="28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ada</a:t>
            </a:r>
            <a:r>
              <a:rPr lang="en-US" sz="28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korelasi</a:t>
            </a:r>
            <a:r>
              <a:rPr lang="en-US" sz="28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800" b="1" dirty="0" err="1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sempurna</a:t>
            </a:r>
            <a:r>
              <a:rPr lang="en-US" sz="2800" b="1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antar</a:t>
            </a:r>
            <a:r>
              <a:rPr lang="en-US" sz="28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variabel</a:t>
            </a:r>
            <a:r>
              <a:rPr lang="en-US" sz="2800" dirty="0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 </a:t>
            </a:r>
            <a:r>
              <a:rPr lang="en-US" sz="2800" dirty="0" err="1" smtClean="0"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independen</a:t>
            </a:r>
            <a:endParaRPr lang="en-US" sz="28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763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403A87B-62EE-4B83-AC5C-258B0A3EC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7309"/>
            <a:ext cx="12192000" cy="681492"/>
          </a:xfrm>
        </p:spPr>
        <p:txBody>
          <a:bodyPr>
            <a:normAutofit/>
          </a:bodyPr>
          <a:lstStyle/>
          <a:p>
            <a:pPr algn="ctr"/>
            <a:r>
              <a:rPr lang="en-ID" sz="3600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Uji Asumsi (Normalitas, Heteroskedastisitas)</a:t>
            </a:r>
            <a:endParaRPr lang="en-ID" sz="3600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FA13B7-8363-4262-8475-012482C52280}"/>
              </a:ext>
            </a:extLst>
          </p:cNvPr>
          <p:cNvSpPr/>
          <p:nvPr/>
        </p:nvSpPr>
        <p:spPr>
          <a:xfrm>
            <a:off x="922606" y="1629812"/>
            <a:ext cx="41136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>
                <a:ea typeface="Cambria" panose="02040503050406030204" pitchFamily="18" charset="0"/>
                <a:cs typeface="Arial" panose="020B0604020202020204" pitchFamily="34" charset="0"/>
              </a:rPr>
              <a:t>install.packages("gvlma")</a:t>
            </a:r>
          </a:p>
          <a:p>
            <a:r>
              <a:rPr lang="it-IT">
                <a:ea typeface="Cambria" panose="02040503050406030204" pitchFamily="18" charset="0"/>
                <a:cs typeface="Arial" panose="020B0604020202020204" pitchFamily="34" charset="0"/>
              </a:rPr>
              <a:t>library(gvlma)</a:t>
            </a:r>
          </a:p>
          <a:p>
            <a:r>
              <a:rPr lang="it-IT">
                <a:ea typeface="Cambria" panose="02040503050406030204" pitchFamily="18" charset="0"/>
                <a:cs typeface="Arial" panose="020B0604020202020204" pitchFamily="34" charset="0"/>
              </a:rPr>
              <a:t>gvlma::gvlma(regresi)</a:t>
            </a:r>
            <a:endParaRPr lang="en-US" dirty="0"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42D871-589E-4961-B842-0ED7EF090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9216" y="1767107"/>
            <a:ext cx="6007344" cy="4012627"/>
          </a:xfrm>
          <a:prstGeom prst="rect">
            <a:avLst/>
          </a:prstGeom>
          <a:ln>
            <a:solidFill>
              <a:srgbClr val="0000CC"/>
            </a:solidFill>
          </a:ln>
        </p:spPr>
      </p:pic>
    </p:spTree>
    <p:extLst>
      <p:ext uri="{BB962C8B-B14F-4D97-AF65-F5344CB8AC3E}">
        <p14:creationId xmlns:p14="http://schemas.microsoft.com/office/powerpoint/2010/main" val="28536161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1BBEDD3-54E8-49FC-969B-F02DCF60A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37309"/>
            <a:ext cx="12192000" cy="681492"/>
          </a:xfrm>
        </p:spPr>
        <p:txBody>
          <a:bodyPr>
            <a:normAutofit/>
          </a:bodyPr>
          <a:lstStyle/>
          <a:p>
            <a:pPr algn="ctr"/>
            <a:r>
              <a:rPr lang="en-ID" sz="3600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Uji Asumsi (lanjutan)</a:t>
            </a:r>
            <a:endParaRPr lang="en-ID" sz="3600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FA97B5A-8BC4-4045-9BAD-56F9FF478A2C}"/>
              </a:ext>
            </a:extLst>
          </p:cNvPr>
          <p:cNvSpPr txBox="1">
            <a:spLocks/>
          </p:cNvSpPr>
          <p:nvPr/>
        </p:nvSpPr>
        <p:spPr>
          <a:xfrm>
            <a:off x="56272" y="2062179"/>
            <a:ext cx="3000522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2400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Rataan sisaan nol</a:t>
            </a:r>
            <a:endParaRPr lang="en-ID" sz="2400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8FC177E-BA15-49AA-8841-B8F9E10B6033}"/>
              </a:ext>
            </a:extLst>
          </p:cNvPr>
          <p:cNvSpPr txBox="1">
            <a:spLocks/>
          </p:cNvSpPr>
          <p:nvPr/>
        </p:nvSpPr>
        <p:spPr>
          <a:xfrm>
            <a:off x="56271" y="3244334"/>
            <a:ext cx="3812343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2400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Tidak ada autokorelasi</a:t>
            </a:r>
            <a:endParaRPr lang="en-ID" sz="2400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CB5FD6C-C509-49F5-BBDA-100A55A6FBBE}"/>
              </a:ext>
            </a:extLst>
          </p:cNvPr>
          <p:cNvSpPr txBox="1">
            <a:spLocks/>
          </p:cNvSpPr>
          <p:nvPr/>
        </p:nvSpPr>
        <p:spPr>
          <a:xfrm>
            <a:off x="56271" y="4693775"/>
            <a:ext cx="4909624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D" sz="2400" b="1">
                <a:solidFill>
                  <a:srgbClr val="0000C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Tidak ada multikol sempurna</a:t>
            </a:r>
            <a:endParaRPr lang="en-ID" sz="2400" b="1" dirty="0">
              <a:solidFill>
                <a:srgbClr val="0000C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14E39A-DAAA-4C04-92F2-3AB2E8A85853}"/>
              </a:ext>
            </a:extLst>
          </p:cNvPr>
          <p:cNvSpPr/>
          <p:nvPr/>
        </p:nvSpPr>
        <p:spPr>
          <a:xfrm>
            <a:off x="3654668" y="3244334"/>
            <a:ext cx="41136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ea typeface="Cambria" panose="02040503050406030204" pitchFamily="18" charset="0"/>
                <a:cs typeface="Arial" panose="020B0604020202020204" pitchFamily="34" charset="0"/>
              </a:rPr>
              <a:t>library(lmtest)</a:t>
            </a:r>
          </a:p>
          <a:p>
            <a:r>
              <a:rPr lang="en-US">
                <a:ea typeface="Cambria" panose="02040503050406030204" pitchFamily="18" charset="0"/>
                <a:cs typeface="Arial" panose="020B0604020202020204" pitchFamily="34" charset="0"/>
              </a:rPr>
              <a:t>lmtest::dwtest(regresi)</a:t>
            </a:r>
            <a:endParaRPr lang="en-US" dirty="0"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8E106C-C583-4946-AE26-A9B6B9CD4CE8}"/>
              </a:ext>
            </a:extLst>
          </p:cNvPr>
          <p:cNvSpPr/>
          <p:nvPr/>
        </p:nvSpPr>
        <p:spPr>
          <a:xfrm>
            <a:off x="2909081" y="2059680"/>
            <a:ext cx="41136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ea typeface="Cambria" panose="02040503050406030204" pitchFamily="18" charset="0"/>
                <a:cs typeface="Arial" panose="020B0604020202020204" pitchFamily="34" charset="0"/>
              </a:rPr>
              <a:t>mean(regresi$residuals)</a:t>
            </a:r>
            <a:endParaRPr lang="en-US" dirty="0"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984F74-4C3F-4539-A594-86FB89BFD732}"/>
              </a:ext>
            </a:extLst>
          </p:cNvPr>
          <p:cNvSpPr/>
          <p:nvPr/>
        </p:nvSpPr>
        <p:spPr>
          <a:xfrm>
            <a:off x="4726743" y="4693775"/>
            <a:ext cx="41136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ea typeface="Cambria" panose="02040503050406030204" pitchFamily="18" charset="0"/>
                <a:cs typeface="Arial" panose="020B0604020202020204" pitchFamily="34" charset="0"/>
              </a:rPr>
              <a:t>vif(regresi)</a:t>
            </a:r>
            <a:endParaRPr lang="en-US" dirty="0"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2D894DD-832D-40E8-9D8E-75EE8EF1D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3432" y="2144288"/>
            <a:ext cx="2501926" cy="369332"/>
          </a:xfrm>
          <a:prstGeom prst="rect">
            <a:avLst/>
          </a:prstGeom>
          <a:ln>
            <a:solidFill>
              <a:srgbClr val="0000CC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40710C0-6FDD-48B6-9039-3DF538061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660" y="3069891"/>
            <a:ext cx="6076107" cy="1274791"/>
          </a:xfrm>
          <a:prstGeom prst="rect">
            <a:avLst/>
          </a:prstGeom>
          <a:ln>
            <a:solidFill>
              <a:srgbClr val="0000CC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2905B2B-4B72-4B8B-A6BB-7029473137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621" y="4705987"/>
            <a:ext cx="3431214" cy="571869"/>
          </a:xfrm>
          <a:prstGeom prst="rect">
            <a:avLst/>
          </a:prstGeom>
          <a:ln>
            <a:solidFill>
              <a:srgbClr val="0000CC"/>
            </a:solidFill>
          </a:ln>
        </p:spPr>
      </p:pic>
    </p:spTree>
    <p:extLst>
      <p:ext uri="{BB962C8B-B14F-4D97-AF65-F5344CB8AC3E}">
        <p14:creationId xmlns:p14="http://schemas.microsoft.com/office/powerpoint/2010/main" val="41778352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23" b="17675"/>
          <a:stretch/>
        </p:blipFill>
        <p:spPr bwMode="auto">
          <a:xfrm>
            <a:off x="-13252" y="1"/>
            <a:ext cx="12205252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-13252" y="0"/>
            <a:ext cx="12205252" cy="6858000"/>
          </a:xfrm>
          <a:prstGeom prst="rect">
            <a:avLst/>
          </a:prstGeom>
          <a:solidFill>
            <a:schemeClr val="bg1">
              <a:alpha val="7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8748" y="449570"/>
            <a:ext cx="7985760" cy="1019776"/>
          </a:xfrm>
        </p:spPr>
        <p:txBody>
          <a:bodyPr>
            <a:noAutofit/>
          </a:bodyPr>
          <a:lstStyle/>
          <a:p>
            <a:pPr algn="ctr"/>
            <a:r>
              <a:rPr lang="en-US" sz="7200" b="1" i="1" dirty="0" err="1"/>
              <a:t>Hatur</a:t>
            </a:r>
            <a:r>
              <a:rPr lang="en-US" sz="7200" b="1" i="1" dirty="0"/>
              <a:t> </a:t>
            </a:r>
            <a:r>
              <a:rPr lang="en-US" sz="7200" b="1" i="1" dirty="0" err="1"/>
              <a:t>nuhun</a:t>
            </a:r>
            <a:endParaRPr lang="en-US" sz="7200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99" y="4903304"/>
            <a:ext cx="8161021" cy="156428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/>
              <a:t>Department of Economics - IPB University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/>
              <a:t>IPB </a:t>
            </a:r>
            <a:r>
              <a:rPr lang="en-US" sz="1800" dirty="0" err="1"/>
              <a:t>Dramaga</a:t>
            </a:r>
            <a:r>
              <a:rPr lang="en-US" sz="1800" dirty="0"/>
              <a:t> Campus, Bogor 16680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 err="1"/>
              <a:t>Telp</a:t>
            </a:r>
            <a:r>
              <a:rPr lang="en-US" sz="1800" dirty="0"/>
              <a:t>.: 0251-8622602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/>
              <a:t>E-mail: ilmu_ekonomi@ipb.ac.id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/>
              <a:t>Web   : http://ilmuekonomi.fem.pb.ac.id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56" y="4784035"/>
            <a:ext cx="2480384" cy="1683555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3445565" y="4784035"/>
            <a:ext cx="0" cy="16835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3">
            <a:extLst>
              <a:ext uri="{FF2B5EF4-FFF2-40B4-BE49-F238E27FC236}">
                <a16:creationId xmlns:a16="http://schemas.microsoft.com/office/drawing/2014/main" id="{608B0327-7718-4DAA-BFC1-6381E679DF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 flipH="1">
            <a:off x="11666893" y="3180522"/>
            <a:ext cx="538359" cy="367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889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5795</TotalTime>
  <Words>1589</Words>
  <Application>Microsoft Office PowerPoint</Application>
  <PresentationFormat>Widescreen</PresentationFormat>
  <Paragraphs>309</Paragraphs>
  <Slides>43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4" baseType="lpstr">
      <vt:lpstr>Arial</vt:lpstr>
      <vt:lpstr>Calibri</vt:lpstr>
      <vt:lpstr>Calibri Light</vt:lpstr>
      <vt:lpstr>Cambria</vt:lpstr>
      <vt:lpstr>Courier New</vt:lpstr>
      <vt:lpstr>Lucida Console</vt:lpstr>
      <vt:lpstr>ProximaNova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Topik Bahasan</vt:lpstr>
      <vt:lpstr>Pengenalan Software R</vt:lpstr>
      <vt:lpstr>Pengenalan Software R</vt:lpstr>
      <vt:lpstr>Pengenalan Software R</vt:lpstr>
      <vt:lpstr>Pengenalan Software R</vt:lpstr>
      <vt:lpstr>Pengenalan Software R</vt:lpstr>
      <vt:lpstr>Pengenalan Software R</vt:lpstr>
      <vt:lpstr>Pengenalan Software R</vt:lpstr>
      <vt:lpstr>Bagaimana Cara Kerja R?</vt:lpstr>
      <vt:lpstr>Operasi Matematika Sederhana</vt:lpstr>
      <vt:lpstr>Objek Data</vt:lpstr>
      <vt:lpstr>Objek Data</vt:lpstr>
      <vt:lpstr>Objek Data</vt:lpstr>
      <vt:lpstr>Objek Data</vt:lpstr>
      <vt:lpstr>Objek Data</vt:lpstr>
      <vt:lpstr>Objek Data</vt:lpstr>
      <vt:lpstr>Objek Data</vt:lpstr>
      <vt:lpstr>Objek Data</vt:lpstr>
      <vt:lpstr>Objek Data</vt:lpstr>
      <vt:lpstr>Objek Data</vt:lpstr>
      <vt:lpstr>Impor Data dari Excel</vt:lpstr>
      <vt:lpstr>Eksplorasi Data</vt:lpstr>
      <vt:lpstr>Eksplorasi Data</vt:lpstr>
      <vt:lpstr>Eksplorasi Data</vt:lpstr>
      <vt:lpstr>Eksplorasi Data</vt:lpstr>
      <vt:lpstr>Eksplorasi Data</vt:lpstr>
      <vt:lpstr>Eksplorasi Data</vt:lpstr>
      <vt:lpstr>Eksplorasi Data</vt:lpstr>
      <vt:lpstr>PowerPoint Presentation</vt:lpstr>
      <vt:lpstr>PowerPoint Presentation</vt:lpstr>
      <vt:lpstr>Mengimpor Data dari Excel</vt:lpstr>
      <vt:lpstr>Korelasi</vt:lpstr>
      <vt:lpstr>Garis Regresi</vt:lpstr>
      <vt:lpstr>Plot Variabel Dependen dengan Variabel Bebas</vt:lpstr>
      <vt:lpstr>Estimasi Regresi Linier dengan Satu Variabel Bebas</vt:lpstr>
      <vt:lpstr>Estimasi Regresi Linier dengan  Lebih dari Satu Variabel Bebas</vt:lpstr>
      <vt:lpstr>Residual dan Nilai Estimasi Variabel Dependen</vt:lpstr>
      <vt:lpstr>Kondisi Gauss-Markov (Asumsi)</vt:lpstr>
      <vt:lpstr>Uji Asumsi (Normalitas, Heteroskedastisitas)</vt:lpstr>
      <vt:lpstr>Uji Asumsi (lanjutan)</vt:lpstr>
      <vt:lpstr>Hatur nuhun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Fahmi Salam Ahmad</dc:creator>
  <cp:lastModifiedBy>ASUS Tranformer Flip</cp:lastModifiedBy>
  <cp:revision>851</cp:revision>
  <dcterms:created xsi:type="dcterms:W3CDTF">2020-01-03T09:07:54Z</dcterms:created>
  <dcterms:modified xsi:type="dcterms:W3CDTF">2020-12-25T10:41:47Z</dcterms:modified>
</cp:coreProperties>
</file>