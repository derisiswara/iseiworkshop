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90" r:id="rId3"/>
    <p:sldId id="433" r:id="rId4"/>
    <p:sldId id="434" r:id="rId5"/>
    <p:sldId id="435" r:id="rId6"/>
    <p:sldId id="443" r:id="rId7"/>
    <p:sldId id="444" r:id="rId8"/>
    <p:sldId id="445" r:id="rId9"/>
    <p:sldId id="441" r:id="rId10"/>
    <p:sldId id="442" r:id="rId11"/>
    <p:sldId id="437" r:id="rId12"/>
    <p:sldId id="3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2" autoAdjust="0"/>
    <p:restoredTop sz="94291" autoAdjust="0"/>
  </p:normalViewPr>
  <p:slideViewPr>
    <p:cSldViewPr snapToGrid="0">
      <p:cViewPr varScale="1">
        <p:scale>
          <a:sx n="64" d="100"/>
          <a:sy n="64" d="100"/>
        </p:scale>
        <p:origin x="62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A2C72-4039-4AC0-8453-6233B6775934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0B243-5D0D-40B7-940C-120BF66B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76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31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4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MSE = sumE/n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4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71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01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13">
            <a:extLst>
              <a:ext uri="{FF2B5EF4-FFF2-40B4-BE49-F238E27FC236}">
                <a16:creationId xmlns:a16="http://schemas.microsoft.com/office/drawing/2014/main" id="{E3E8C3C2-9512-41D9-8EFB-5AB0E22B8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4744432" y="-4744434"/>
            <a:ext cx="442678" cy="9931545"/>
          </a:xfrm>
          <a:prstGeom prst="rect">
            <a:avLst/>
          </a:prstGeom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4AC291A4-A780-4BC8-8AF3-D2E8544068D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6790" y="136525"/>
            <a:ext cx="2079783" cy="54442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8682FE-8DCF-4B87-A138-AA71F880EC85}"/>
              </a:ext>
            </a:extLst>
          </p:cNvPr>
          <p:cNvCxnSpPr>
            <a:cxnSpLocks/>
          </p:cNvCxnSpPr>
          <p:nvPr userDrawn="1"/>
        </p:nvCxnSpPr>
        <p:spPr>
          <a:xfrm>
            <a:off x="-3" y="6195810"/>
            <a:ext cx="9228224" cy="0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997FF6E-BA6A-49EF-8766-07CED1471F9A}"/>
              </a:ext>
            </a:extLst>
          </p:cNvPr>
          <p:cNvSpPr txBox="1"/>
          <p:nvPr userDrawn="1"/>
        </p:nvSpPr>
        <p:spPr>
          <a:xfrm>
            <a:off x="136483" y="6236752"/>
            <a:ext cx="89392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/>
              <a:t>Department of Economics </a:t>
            </a:r>
            <a:r>
              <a:rPr lang="en-US" sz="1500"/>
              <a:t>| Faculty of Economics and Management</a:t>
            </a:r>
          </a:p>
          <a:p>
            <a:r>
              <a:rPr lang="en-US" sz="1500"/>
              <a:t>☎ +62 251 8626602  ✉ ilmu_ekonomi@ipb.ac.id  </a:t>
            </a:r>
            <a:r>
              <a:rPr lang="en-US" sz="1500" b="1"/>
              <a:t>🌐 </a:t>
            </a:r>
            <a:r>
              <a:rPr lang="en-US" sz="1500"/>
              <a:t>http://ekonomi.fem.ipb.ac.id        @dept.ieipb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C7A538-6D79-4739-B6A1-3D596722B351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480" y="6490037"/>
            <a:ext cx="274320" cy="2743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62363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6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677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17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2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2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3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3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8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004EC-A4E1-4B7C-9164-7FC1983687DA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documentation.org/packages/stats/versions/3.6.2/topics/lm" TargetMode="External"/><Relationship Id="rId5" Type="http://schemas.openxmlformats.org/officeDocument/2006/relationships/hyperlink" Target="https://www.rdocumentation.org/packages/graphics/versions/3.6.2/topics/plot" TargetMode="External"/><Relationship Id="rId4" Type="http://schemas.openxmlformats.org/officeDocument/2006/relationships/hyperlink" Target="http://www.sthda.com/english/wiki/scatter-plots-r-base-graphs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F47527-0B1C-4661-8BBD-3CB960B3D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33" y="732165"/>
            <a:ext cx="380047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6711" y="5111111"/>
            <a:ext cx="7516863" cy="42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6510" algn="ctr">
              <a:lnSpc>
                <a:spcPct val="107000"/>
              </a:lnSpc>
              <a:spcBef>
                <a:spcPts val="5"/>
              </a:spcBef>
              <a:spcAft>
                <a:spcPts val="800"/>
              </a:spcAft>
            </a:pPr>
            <a:endParaRPr lang="en-US" sz="2000" b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3061932A-E98F-46C1-B2E8-FBACE3A55E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008" y="39380"/>
            <a:ext cx="3584091" cy="9381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9E32BE-C698-4E0C-BFE4-AC450538B959}"/>
              </a:ext>
            </a:extLst>
          </p:cNvPr>
          <p:cNvSpPr/>
          <p:nvPr/>
        </p:nvSpPr>
        <p:spPr>
          <a:xfrm>
            <a:off x="0" y="6465194"/>
            <a:ext cx="12192000" cy="392806"/>
          </a:xfrm>
          <a:prstGeom prst="rect">
            <a:avLst/>
          </a:prstGeom>
          <a:solidFill>
            <a:srgbClr val="243B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ubtitle 2"/>
          <p:cNvSpPr txBox="1">
            <a:spLocks/>
          </p:cNvSpPr>
          <p:nvPr/>
        </p:nvSpPr>
        <p:spPr>
          <a:xfrm>
            <a:off x="4205800" y="5979581"/>
            <a:ext cx="4586508" cy="39280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ea typeface="Arial" panose="020B0604020202020204" pitchFamily="34" charset="0"/>
                <a:cs typeface="Arial" panose="020B0604020202020204" pitchFamily="34" charset="0"/>
              </a:rPr>
              <a:t>Bogor</a:t>
            </a:r>
            <a:r>
              <a:rPr lang="id-ID" b="1" dirty="0">
                <a:ea typeface="Arial" panose="020B0604020202020204" pitchFamily="34" charset="0"/>
                <a:cs typeface="Arial" panose="020B0604020202020204" pitchFamily="34" charset="0"/>
              </a:rPr>
              <a:t>, 22-23 Juni </a:t>
            </a:r>
            <a:r>
              <a:rPr lang="en-US" b="1" dirty="0">
                <a:ea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id-ID" b="1" dirty="0">
                <a:ea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b="1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4205800" y="4281270"/>
            <a:ext cx="759510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utoShape 2" descr="Hasil gambar untuk kacang hijau indah"/>
          <p:cNvSpPr>
            <a:spLocks noChangeAspect="1" noChangeArrowheads="1"/>
          </p:cNvSpPr>
          <p:nvPr/>
        </p:nvSpPr>
        <p:spPr bwMode="auto">
          <a:xfrm>
            <a:off x="4739894" y="39530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1" name="AutoShape 2" descr="Hasil gambar untuk produk ekspor sapi indonesia"/>
          <p:cNvSpPr>
            <a:spLocks noChangeAspect="1" noChangeArrowheads="1"/>
          </p:cNvSpPr>
          <p:nvPr/>
        </p:nvSpPr>
        <p:spPr bwMode="auto">
          <a:xfrm>
            <a:off x="4892294" y="82510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2" name="Rectangle 31"/>
          <p:cNvSpPr/>
          <p:nvPr/>
        </p:nvSpPr>
        <p:spPr>
          <a:xfrm>
            <a:off x="4205800" y="3485408"/>
            <a:ext cx="5386411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200" b="1" dirty="0">
                <a:ea typeface="Calibri" panose="020F0502020204030204" pitchFamily="34" charset="0"/>
                <a:cs typeface="Arial" panose="020B0604020202020204" pitchFamily="34" charset="0"/>
              </a:rPr>
              <a:t>M Firdaus </a:t>
            </a:r>
            <a:endParaRPr lang="en-US" sz="32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2800" b="1" dirty="0">
              <a:cs typeface="Arial" panose="020B0604020202020204" pitchFamily="34" charset="0"/>
            </a:endParaRPr>
          </a:p>
          <a:p>
            <a:r>
              <a:rPr lang="en-US" sz="2800" b="1" dirty="0" err="1">
                <a:cs typeface="Arial" panose="020B0604020202020204" pitchFamily="34" charset="0"/>
              </a:rPr>
              <a:t>Departemen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Ilmu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Ekonomi</a:t>
            </a:r>
            <a:endParaRPr lang="en-US" sz="2800" b="1" dirty="0">
              <a:cs typeface="Arial" panose="020B0604020202020204" pitchFamily="34" charset="0"/>
            </a:endParaRPr>
          </a:p>
          <a:p>
            <a:r>
              <a:rPr lang="en-US" sz="2800" b="1" dirty="0" err="1">
                <a:cs typeface="Arial" panose="020B0604020202020204" pitchFamily="34" charset="0"/>
              </a:rPr>
              <a:t>Fakultas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Ekonomi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dan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Manajemen</a:t>
            </a:r>
            <a:endParaRPr lang="en-US" sz="2800" b="1" dirty="0">
              <a:cs typeface="Arial" panose="020B0604020202020204" pitchFamily="34" charset="0"/>
            </a:endParaRPr>
          </a:p>
          <a:p>
            <a:r>
              <a:rPr lang="en-US" sz="2800" b="1" dirty="0" err="1">
                <a:cs typeface="Arial" panose="020B0604020202020204" pitchFamily="34" charset="0"/>
              </a:rPr>
              <a:t>Institut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Pertanian</a:t>
            </a:r>
            <a:r>
              <a:rPr lang="en-US" sz="2800" b="1" dirty="0">
                <a:cs typeface="Arial" panose="020B0604020202020204" pitchFamily="34" charset="0"/>
              </a:rPr>
              <a:t> Bogor</a:t>
            </a:r>
            <a:endParaRPr lang="id-ID" sz="2800" dirty="0">
              <a:cs typeface="Arial" panose="020B0604020202020204" pitchFamily="34" charset="0"/>
            </a:endParaRP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4193612" y="862344"/>
            <a:ext cx="7878312" cy="20216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54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id-ID" sz="5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Model </a:t>
            </a:r>
            <a:r>
              <a:rPr lang="en-US" sz="5400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Regresi</a:t>
            </a:r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id-ID" sz="5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Trend untuk Proyeksi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120076" y="-37873"/>
            <a:ext cx="10917446" cy="9131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id-ID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Pelatihan Proyeksi APBN</a:t>
            </a:r>
            <a:endParaRPr 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47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FF57A13-9A43-4307-A006-EB8AC9796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28" y="1849988"/>
            <a:ext cx="10541284" cy="49387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479853-5E67-4268-A383-8AA079E9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225874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Mengimpor Data dari Excel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1442" y="1347591"/>
            <a:ext cx="114881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Klik File </a:t>
            </a:r>
            <a:r>
              <a:rPr lang="en-US" sz="24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 Import Dataset  From Excel</a:t>
            </a:r>
            <a:endParaRPr lang="en-US" sz="24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A8C1D9-786D-4AFA-B10E-65DCC2ECCD02}"/>
              </a:ext>
            </a:extLst>
          </p:cNvPr>
          <p:cNvSpPr/>
          <p:nvPr/>
        </p:nvSpPr>
        <p:spPr>
          <a:xfrm>
            <a:off x="4873147" y="7003328"/>
            <a:ext cx="11488103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hlinkClick r:id="rId4"/>
              </a:rPr>
              <a:t>http://www.sthda.com/english/wiki/scatter-plots-r-base-graphs</a:t>
            </a:r>
            <a:endParaRPr lang="en-US" sz="22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hlinkClick r:id="rId5"/>
              </a:rPr>
              <a:t>https://www.rdocumentation.org/packages/graphics/versions/3.6.2/topics/plot</a:t>
            </a:r>
            <a:endParaRPr lang="en-US" sz="22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hlinkClick r:id="rId6"/>
              </a:rPr>
              <a:t>https://www.rdocumentation.org/packages/stats/versions/3.6.2/topics/lm</a:t>
            </a:r>
            <a:endParaRPr lang="en-US" sz="22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https://www.rdocumentation.org/packages/openintro/versions/2.0.0/topics/boxPlot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9F60DB-AC62-4C1B-9C0C-F7FAC67410A2}"/>
              </a:ext>
            </a:extLst>
          </p:cNvPr>
          <p:cNvSpPr/>
          <p:nvPr/>
        </p:nvSpPr>
        <p:spPr>
          <a:xfrm>
            <a:off x="10261599" y="2235200"/>
            <a:ext cx="711200" cy="3338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0439E0-2100-4074-9458-79BEE3803B95}"/>
              </a:ext>
            </a:extLst>
          </p:cNvPr>
          <p:cNvSpPr/>
          <p:nvPr/>
        </p:nvSpPr>
        <p:spPr>
          <a:xfrm>
            <a:off x="9737420" y="2673154"/>
            <a:ext cx="2454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Klik ini untuk mencari file excel yang dimaksud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C764E0-40AF-4C81-9BE3-04A78F5B393E}"/>
              </a:ext>
            </a:extLst>
          </p:cNvPr>
          <p:cNvSpPr/>
          <p:nvPr/>
        </p:nvSpPr>
        <p:spPr>
          <a:xfrm>
            <a:off x="1393940" y="5349505"/>
            <a:ext cx="1458687" cy="3218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538993-DA5A-4DF2-94A6-56A6387CDA65}"/>
              </a:ext>
            </a:extLst>
          </p:cNvPr>
          <p:cNvSpPr/>
          <p:nvPr/>
        </p:nvSpPr>
        <p:spPr>
          <a:xfrm>
            <a:off x="398047" y="6151395"/>
            <a:ext cx="245458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Ganti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nama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objeknya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23E0AF-A68F-4E88-A93F-01A12E4B3F22}"/>
              </a:ext>
            </a:extLst>
          </p:cNvPr>
          <p:cNvSpPr/>
          <p:nvPr/>
        </p:nvSpPr>
        <p:spPr>
          <a:xfrm>
            <a:off x="9590312" y="6516379"/>
            <a:ext cx="700316" cy="2723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D68A71-C657-47FD-9D4F-BF4FAF61344F}"/>
              </a:ext>
            </a:extLst>
          </p:cNvPr>
          <p:cNvSpPr/>
          <p:nvPr/>
        </p:nvSpPr>
        <p:spPr>
          <a:xfrm>
            <a:off x="10128991" y="6151395"/>
            <a:ext cx="20630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Terakhir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klik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 Import</a:t>
            </a:r>
          </a:p>
        </p:txBody>
      </p:sp>
    </p:spTree>
    <p:extLst>
      <p:ext uri="{BB962C8B-B14F-4D97-AF65-F5344CB8AC3E}">
        <p14:creationId xmlns:p14="http://schemas.microsoft.com/office/powerpoint/2010/main" val="252399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598F8A-AAD2-4D0A-A90E-9060A164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42" y="568493"/>
            <a:ext cx="10622280" cy="681492"/>
          </a:xfrm>
        </p:spPr>
        <p:txBody>
          <a:bodyPr>
            <a:normAutofit/>
          </a:bodyPr>
          <a:lstStyle/>
          <a:p>
            <a:pPr algn="ctr"/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Plot </a:t>
            </a:r>
            <a:r>
              <a:rPr lang="en-ID" sz="36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Variabel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36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Dependen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36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dengan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36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Variabel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36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Bebas</a:t>
            </a:r>
            <a:endParaRPr lang="en-ID" sz="36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4338D5-1BBD-4FB5-97AD-A9FD6F86AE2C}"/>
              </a:ext>
            </a:extLst>
          </p:cNvPr>
          <p:cNvSpPr/>
          <p:nvPr/>
        </p:nvSpPr>
        <p:spPr>
          <a:xfrm>
            <a:off x="838200" y="1249985"/>
            <a:ext cx="1074383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par(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mfrow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 = c(1,3))</a:t>
            </a:r>
          </a:p>
          <a:p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plot(data1$Trend,data1$Kurs, 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xlab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="Trend Linier", 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ylab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="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Kurs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")</a:t>
            </a:r>
          </a:p>
          <a:p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abline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lm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( 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Kurs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 ~ Trend, data = data1), col = "blue")</a:t>
            </a:r>
          </a:p>
          <a:p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plot(data1$Trend2, data1$Kurs, 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xlab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="Trend 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Kuadratik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", 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ylab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="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Kurs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")</a:t>
            </a:r>
          </a:p>
          <a:p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abline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lm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Kurs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 ~ Trend2, data = data1), col = "red")</a:t>
            </a:r>
          </a:p>
          <a:p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plot(data1$Dummy, data1$Kurs, 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xlab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="Dummy 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Mingguan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", 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ylab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="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Kurs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", </a:t>
            </a:r>
            <a:r>
              <a:rPr lang="en-US" sz="1600" dirty="0" err="1">
                <a:ea typeface="Cambria" panose="02040503050406030204" pitchFamily="18" charset="0"/>
                <a:cs typeface="Arial" panose="020B0604020202020204" pitchFamily="34" charset="0"/>
              </a:rPr>
              <a:t>pch</a:t>
            </a:r>
            <a:r>
              <a:rPr lang="en-US" sz="1600" dirty="0">
                <a:ea typeface="Cambria" panose="02040503050406030204" pitchFamily="18" charset="0"/>
                <a:cs typeface="Arial" panose="020B0604020202020204" pitchFamily="34" charset="0"/>
              </a:rPr>
              <a:t>=20)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59679C-9252-45E4-9FD9-C599AF13C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19645"/>
            <a:ext cx="6983896" cy="396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12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D0B721-3A29-4B4E-9DFD-8A79506F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7309"/>
            <a:ext cx="10622280" cy="681492"/>
          </a:xfrm>
        </p:spPr>
        <p:txBody>
          <a:bodyPr>
            <a:normAutofit fontScale="90000"/>
          </a:bodyPr>
          <a:lstStyle/>
          <a:p>
            <a:pPr algn="ctr"/>
            <a:r>
              <a:rPr lang="en-ID" sz="36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Boxplot Variabel Dependen dengan Variabel Bebas </a:t>
            </a:r>
            <a:r>
              <a:rPr lang="en-ID" sz="3600" b="1" i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Dummy</a:t>
            </a:r>
            <a:r>
              <a:rPr lang="en-ID" sz="36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Promosi</a:t>
            </a:r>
            <a:endParaRPr lang="en-ID" sz="36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C6E1B8-5D82-444E-B3DC-834D60906CF2}"/>
              </a:ext>
            </a:extLst>
          </p:cNvPr>
          <p:cNvSpPr/>
          <p:nvPr/>
        </p:nvSpPr>
        <p:spPr>
          <a:xfrm>
            <a:off x="872911" y="1997839"/>
            <a:ext cx="461349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Dummy1 = subset(data1,subset=Dummy==1)</a:t>
            </a:r>
          </a:p>
          <a:p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View(Dummy1)</a:t>
            </a:r>
          </a:p>
          <a:p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Dummy0 = subset(data1,subset=Dummy==0)</a:t>
            </a:r>
          </a:p>
          <a:p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View(Dummy0)</a:t>
            </a:r>
          </a:p>
          <a:p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  <a:p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par(</a:t>
            </a: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mfrow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 = c(1,2))</a:t>
            </a:r>
          </a:p>
          <a:p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boxplot(Dummy0$Kurs, main="</a:t>
            </a: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Kurs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Tanpa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 Dummy </a:t>
            </a: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Mingguan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")</a:t>
            </a:r>
          </a:p>
          <a:p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boxplot(Dummy1$Kurs, main="</a:t>
            </a: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Kurs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dengan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 Dummy </a:t>
            </a: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Mingguan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")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FBA294-A242-47FF-BB9B-2871E09F7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358" y="1804066"/>
            <a:ext cx="6507329" cy="380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63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5315FC2-321A-4433-96C4-C0EB0A42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309"/>
            <a:ext cx="12192000" cy="681492"/>
          </a:xfrm>
        </p:spPr>
        <p:txBody>
          <a:bodyPr>
            <a:normAutofit/>
          </a:bodyPr>
          <a:lstStyle/>
          <a:p>
            <a:pPr algn="ctr"/>
            <a:r>
              <a:rPr lang="id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Proyeksi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36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Regresi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d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Trend 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Linier</a:t>
            </a:r>
            <a:r>
              <a:rPr lang="id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Tanpa Dummy</a:t>
            </a:r>
            <a:endParaRPr lang="en-ID" sz="36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00DDC-3158-44B8-850B-867EDB044AAB}"/>
              </a:ext>
            </a:extLst>
          </p:cNvPr>
          <p:cNvSpPr/>
          <p:nvPr/>
        </p:nvSpPr>
        <p:spPr>
          <a:xfrm>
            <a:off x="922606" y="1629812"/>
            <a:ext cx="41136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regresi1 = lm(Kurs ~ Trend, data=data1)</a:t>
            </a: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print(regresi1)</a:t>
            </a: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summary(regresi1)</a:t>
            </a: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anova(regresi1)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3115CE-C827-4FCA-8C9F-25B8C43A6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347" y="1861147"/>
            <a:ext cx="3604662" cy="1567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8161E8-2647-4F69-B2CA-80EB37D28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347" y="3871347"/>
            <a:ext cx="3604662" cy="11361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41514B-5233-4ACB-9B9F-11801E412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06" y="2918970"/>
            <a:ext cx="5068220" cy="304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67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5315FC2-321A-4433-96C4-C0EB0A42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309"/>
            <a:ext cx="12192000" cy="681492"/>
          </a:xfrm>
        </p:spPr>
        <p:txBody>
          <a:bodyPr>
            <a:normAutofit/>
          </a:bodyPr>
          <a:lstStyle/>
          <a:p>
            <a:pPr algn="ctr"/>
            <a:r>
              <a:rPr lang="id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Proyeksi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36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Regresi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d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Trend 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Linier</a:t>
            </a:r>
            <a:r>
              <a:rPr lang="id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Dengan Dummy</a:t>
            </a:r>
            <a:endParaRPr lang="en-ID" sz="36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00DDC-3158-44B8-850B-867EDB044AAB}"/>
              </a:ext>
            </a:extLst>
          </p:cNvPr>
          <p:cNvSpPr/>
          <p:nvPr/>
        </p:nvSpPr>
        <p:spPr>
          <a:xfrm>
            <a:off x="922605" y="1629812"/>
            <a:ext cx="48321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regresi2 = lm(Kurs ~ Trend + Dummy, data=data1)</a:t>
            </a: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print(regresi2)</a:t>
            </a: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summary(regresi2)</a:t>
            </a: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anova(regresi2)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A7D701-6CCC-4C47-81A6-36458CFDF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496" y="2220456"/>
            <a:ext cx="4420240" cy="16413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CDC379-9286-4CF4-B72F-896333167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727" y="4110098"/>
            <a:ext cx="4585744" cy="16413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52C0E9-6849-4DD3-80A1-1848461B6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80" y="3220056"/>
            <a:ext cx="4409110" cy="271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04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5315FC2-321A-4433-96C4-C0EB0A42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309"/>
            <a:ext cx="12192000" cy="681492"/>
          </a:xfrm>
        </p:spPr>
        <p:txBody>
          <a:bodyPr>
            <a:normAutofit/>
          </a:bodyPr>
          <a:lstStyle/>
          <a:p>
            <a:pPr algn="ctr"/>
            <a:r>
              <a:rPr lang="id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Proyeksi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36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Regresi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d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Trend Kuadratik: Tanpa Dummy</a:t>
            </a:r>
            <a:endParaRPr lang="en-ID" sz="36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00DDC-3158-44B8-850B-867EDB044AAB}"/>
              </a:ext>
            </a:extLst>
          </p:cNvPr>
          <p:cNvSpPr/>
          <p:nvPr/>
        </p:nvSpPr>
        <p:spPr>
          <a:xfrm>
            <a:off x="902727" y="1567793"/>
            <a:ext cx="49349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regresi3 = lm(Kurs ~ Trend + Trend2, data=data1)</a:t>
            </a: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print(regresi3)</a:t>
            </a: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summary(regresi3)</a:t>
            </a: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anova(regresi3)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19B6B8-EF7F-4E0B-BA5B-C2EA3BDCE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347" y="1962989"/>
            <a:ext cx="4583689" cy="14660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57E924-482E-434A-A804-F53CFD9B4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529" y="3778941"/>
            <a:ext cx="4848225" cy="15672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01030E-6D81-42DB-B1B8-061E35C8B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246" y="2922104"/>
            <a:ext cx="4684871" cy="300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18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5315FC2-321A-4433-96C4-C0EB0A42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309"/>
            <a:ext cx="12192000" cy="681492"/>
          </a:xfrm>
        </p:spPr>
        <p:txBody>
          <a:bodyPr>
            <a:normAutofit/>
          </a:bodyPr>
          <a:lstStyle/>
          <a:p>
            <a:pPr algn="ctr"/>
            <a:r>
              <a:rPr lang="id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Proyeksi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36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Regresi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d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Trend Kuadratik: Dengan Dummy</a:t>
            </a:r>
            <a:endParaRPr lang="en-ID" sz="36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00DDC-3158-44B8-850B-867EDB044AAB}"/>
              </a:ext>
            </a:extLst>
          </p:cNvPr>
          <p:cNvSpPr/>
          <p:nvPr/>
        </p:nvSpPr>
        <p:spPr>
          <a:xfrm>
            <a:off x="654250" y="1418801"/>
            <a:ext cx="510027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regresi4 = lm(Kurs ~ Trend + Trend2 + Dummy, data=data1)</a:t>
            </a: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print(regresi4)</a:t>
            </a: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summary(regresi4)</a:t>
            </a: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anova(regresi4)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1F6D98-F70D-4546-BF1F-5EB1EACE0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199" y="1987759"/>
            <a:ext cx="3942522" cy="1207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B820E1-4E18-4A68-8520-829365C11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199" y="3550085"/>
            <a:ext cx="5586034" cy="19031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058151-24D6-4EFB-90A5-82E25F36B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08" y="2973988"/>
            <a:ext cx="5244552" cy="305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72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CAEA69-B557-4A0C-B24A-8BED5F7F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309"/>
            <a:ext cx="12192000" cy="681492"/>
          </a:xfrm>
        </p:spPr>
        <p:txBody>
          <a:bodyPr>
            <a:normAutofit/>
          </a:bodyPr>
          <a:lstStyle/>
          <a:p>
            <a:pPr algn="ctr"/>
            <a:r>
              <a:rPr lang="id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Perbandingan Akurasi Model Menggunakan MSE</a:t>
            </a:r>
            <a:endParaRPr lang="en-ID" sz="36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6AB3BE-0A70-4252-B325-599FE8644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79236"/>
            <a:ext cx="4465392" cy="26089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4447B5-01EC-4666-8D4F-DB24DF128529}"/>
              </a:ext>
            </a:extLst>
          </p:cNvPr>
          <p:cNvSpPr txBox="1"/>
          <p:nvPr/>
        </p:nvSpPr>
        <p:spPr>
          <a:xfrm>
            <a:off x="1130576" y="2828835"/>
            <a:ext cx="31233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mean(regresi1$residuals^2)</a:t>
            </a:r>
          </a:p>
          <a:p>
            <a:r>
              <a:rPr lang="en-US" dirty="0"/>
              <a:t>mean(regresi2$residuals^2)</a:t>
            </a:r>
          </a:p>
          <a:p>
            <a:r>
              <a:rPr lang="en-US" dirty="0"/>
              <a:t>mean(regresi3$residuals^2)</a:t>
            </a:r>
          </a:p>
          <a:p>
            <a:r>
              <a:rPr lang="en-US" dirty="0"/>
              <a:t>mean(regresi4$residuals^2)</a:t>
            </a:r>
          </a:p>
        </p:txBody>
      </p:sp>
    </p:spTree>
    <p:extLst>
      <p:ext uri="{BB962C8B-B14F-4D97-AF65-F5344CB8AC3E}">
        <p14:creationId xmlns:p14="http://schemas.microsoft.com/office/powerpoint/2010/main" val="2666677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03A87B-62EE-4B83-AC5C-258B0A3EC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309"/>
            <a:ext cx="12192000" cy="681492"/>
          </a:xfrm>
        </p:spPr>
        <p:txBody>
          <a:bodyPr>
            <a:normAutofit/>
          </a:bodyPr>
          <a:lstStyle/>
          <a:p>
            <a:pPr algn="ctr"/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Uji </a:t>
            </a:r>
            <a:r>
              <a:rPr lang="en-ID" sz="36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Asumsi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ID" sz="36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Heteroskedastisitas</a:t>
            </a:r>
            <a:r>
              <a:rPr lang="id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dan Autokorelasi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FA13B7-8363-4262-8475-012482C52280}"/>
              </a:ext>
            </a:extLst>
          </p:cNvPr>
          <p:cNvSpPr/>
          <p:nvPr/>
        </p:nvSpPr>
        <p:spPr>
          <a:xfrm>
            <a:off x="823215" y="2514395"/>
            <a:ext cx="411362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#Uji heteroskedasitistas</a:t>
            </a: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bptest(regresi4)</a:t>
            </a:r>
          </a:p>
          <a:p>
            <a:endParaRPr lang="it-IT" dirty="0">
              <a:ea typeface="Cambria" panose="02040503050406030204" pitchFamily="18" charset="0"/>
              <a:cs typeface="Arial" panose="020B0604020202020204" pitchFamily="34" charset="0"/>
            </a:endParaRP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#Uji Autokorelasi</a:t>
            </a:r>
          </a:p>
          <a:p>
            <a:r>
              <a:rPr lang="it-IT" dirty="0">
                <a:ea typeface="Cambria" panose="02040503050406030204" pitchFamily="18" charset="0"/>
                <a:cs typeface="Arial" panose="020B0604020202020204" pitchFamily="34" charset="0"/>
              </a:rPr>
              <a:t>bgtest(regresi4)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E10A95-D101-41FC-99C2-638F67D0E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231" y="1939508"/>
            <a:ext cx="7172499" cy="308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952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BBEDD3-54E8-49FC-969B-F02DCF60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309"/>
            <a:ext cx="12192000" cy="681492"/>
          </a:xfrm>
        </p:spPr>
        <p:txBody>
          <a:bodyPr>
            <a:normAutofit/>
          </a:bodyPr>
          <a:lstStyle/>
          <a:p>
            <a:pPr algn="ctr"/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Uji </a:t>
            </a:r>
            <a:r>
              <a:rPr lang="en-ID" sz="36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Asumsi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id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Autokorelasi</a:t>
            </a:r>
            <a:r>
              <a:rPr lang="en-ID" sz="36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FC177E-BA15-49AA-8841-B8F9E10B6033}"/>
              </a:ext>
            </a:extLst>
          </p:cNvPr>
          <p:cNvSpPr txBox="1">
            <a:spLocks/>
          </p:cNvSpPr>
          <p:nvPr/>
        </p:nvSpPr>
        <p:spPr>
          <a:xfrm>
            <a:off x="56271" y="3244334"/>
            <a:ext cx="3812343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Tidak</a:t>
            </a:r>
            <a:r>
              <a:rPr lang="en-ID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ada</a:t>
            </a:r>
            <a:r>
              <a:rPr lang="en-ID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autokorelasi</a:t>
            </a:r>
            <a:endParaRPr lang="en-ID" sz="24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14E39A-DAAA-4C04-92F2-3AB2E8A85853}"/>
              </a:ext>
            </a:extLst>
          </p:cNvPr>
          <p:cNvSpPr/>
          <p:nvPr/>
        </p:nvSpPr>
        <p:spPr>
          <a:xfrm>
            <a:off x="3654668" y="3244334"/>
            <a:ext cx="41136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library(</a:t>
            </a: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lmtest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</a:p>
          <a:p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lmtest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::</a:t>
            </a: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dwtest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US" dirty="0" err="1">
                <a:ea typeface="Cambria" panose="02040503050406030204" pitchFamily="18" charset="0"/>
                <a:cs typeface="Arial" panose="020B0604020202020204" pitchFamily="34" charset="0"/>
              </a:rPr>
              <a:t>regresi</a:t>
            </a: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  <a:endParaRPr lang="id-ID" dirty="0">
              <a:ea typeface="Cambria" panose="02040503050406030204" pitchFamily="18" charset="0"/>
              <a:cs typeface="Arial" panose="020B0604020202020204" pitchFamily="34" charset="0"/>
            </a:endParaRPr>
          </a:p>
          <a:p>
            <a:r>
              <a:rPr lang="id-ID" dirty="0">
                <a:ea typeface="Cambria" panose="02040503050406030204" pitchFamily="18" charset="0"/>
                <a:cs typeface="Arial" panose="020B0604020202020204" pitchFamily="34" charset="0"/>
              </a:rPr>
              <a:t>Yang BP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40710C0-6FDD-48B6-9039-3DF538061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660" y="3069891"/>
            <a:ext cx="6076107" cy="1274791"/>
          </a:xfrm>
          <a:prstGeom prst="rect">
            <a:avLst/>
          </a:prstGeom>
          <a:ln>
            <a:solidFill>
              <a:srgbClr val="0000CC"/>
            </a:solidFill>
          </a:ln>
        </p:spPr>
      </p:pic>
    </p:spTree>
    <p:extLst>
      <p:ext uri="{BB962C8B-B14F-4D97-AF65-F5344CB8AC3E}">
        <p14:creationId xmlns:p14="http://schemas.microsoft.com/office/powerpoint/2010/main" val="3985580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23" b="17675"/>
          <a:stretch/>
        </p:blipFill>
        <p:spPr bwMode="auto">
          <a:xfrm>
            <a:off x="-13252" y="1"/>
            <a:ext cx="1220525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-13252" y="0"/>
            <a:ext cx="12205252" cy="6858000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8748" y="449570"/>
            <a:ext cx="7985760" cy="1019776"/>
          </a:xfrm>
        </p:spPr>
        <p:txBody>
          <a:bodyPr>
            <a:noAutofit/>
          </a:bodyPr>
          <a:lstStyle/>
          <a:p>
            <a:pPr algn="ctr"/>
            <a:r>
              <a:rPr lang="en-US" sz="7200" b="1" i="1" dirty="0" err="1"/>
              <a:t>Hatur</a:t>
            </a:r>
            <a:r>
              <a:rPr lang="en-US" sz="7200" b="1" i="1" dirty="0"/>
              <a:t> </a:t>
            </a:r>
            <a:r>
              <a:rPr lang="en-US" sz="7200" b="1" i="1" dirty="0" err="1"/>
              <a:t>nuhun</a:t>
            </a:r>
            <a:endParaRPr lang="en-US" sz="7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99" y="4903304"/>
            <a:ext cx="8161021" cy="156428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Department of Economics - IPB University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IPB </a:t>
            </a:r>
            <a:r>
              <a:rPr lang="en-US" sz="1800" dirty="0" err="1"/>
              <a:t>Dramaga</a:t>
            </a:r>
            <a:r>
              <a:rPr lang="en-US" sz="1800" dirty="0"/>
              <a:t> Campus, Bogor 16680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err="1"/>
              <a:t>Telp</a:t>
            </a:r>
            <a:r>
              <a:rPr lang="en-US" sz="1800" dirty="0"/>
              <a:t>.: 0251-8622602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E-mail: ilmu_ekonomi@ipb.ac.id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Web   : http://ilmuekonomi.fem.pb.ac.id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56" y="4784035"/>
            <a:ext cx="2480384" cy="168355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3445565" y="4784035"/>
            <a:ext cx="0" cy="16835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3">
            <a:extLst>
              <a:ext uri="{FF2B5EF4-FFF2-40B4-BE49-F238E27FC236}">
                <a16:creationId xmlns:a16="http://schemas.microsoft.com/office/drawing/2014/main" id="{608B0327-7718-4DAA-BFC1-6381E679DF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666893" y="3180522"/>
            <a:ext cx="538359" cy="367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889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6565</TotalTime>
  <Words>566</Words>
  <Application>Microsoft Office PowerPoint</Application>
  <PresentationFormat>Widescreen</PresentationFormat>
  <Paragraphs>81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Office Theme</vt:lpstr>
      <vt:lpstr>PowerPoint Presentation</vt:lpstr>
      <vt:lpstr>Mengimpor Data dari Excel</vt:lpstr>
      <vt:lpstr>Plot Variabel Dependen dengan Variabel Bebas</vt:lpstr>
      <vt:lpstr>Boxplot Variabel Dependen dengan Variabel Bebas Dummy Promosi</vt:lpstr>
      <vt:lpstr>Proyeksi Regresi Trend Linier: Tanpa Dummy</vt:lpstr>
      <vt:lpstr>Proyeksi Regresi Trend Linier: Dengan Dummy</vt:lpstr>
      <vt:lpstr>Proyeksi Regresi Trend Kuadratik: Tanpa Dummy</vt:lpstr>
      <vt:lpstr>Proyeksi Regresi Trend Kuadratik: Dengan Dummy</vt:lpstr>
      <vt:lpstr>Perbandingan Akurasi Model Menggunakan MSE</vt:lpstr>
      <vt:lpstr>Uji Asumsi (Heteroskedastisitas dan Autokorelasi)</vt:lpstr>
      <vt:lpstr>Uji Asumsi (Autokorelasi)</vt:lpstr>
      <vt:lpstr>Hatur nuhun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Fahmi Salam Ahmad</dc:creator>
  <cp:lastModifiedBy>Deri Siswara</cp:lastModifiedBy>
  <cp:revision>895</cp:revision>
  <dcterms:created xsi:type="dcterms:W3CDTF">2020-01-03T09:07:54Z</dcterms:created>
  <dcterms:modified xsi:type="dcterms:W3CDTF">2021-06-21T01:11:07Z</dcterms:modified>
</cp:coreProperties>
</file>